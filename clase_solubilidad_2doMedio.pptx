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</p:sldIdLst>
  <p:sldSz cx="9144000" cy="5145088"/>
  <p:notesSz cx="6858000" cy="9144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iw0p73h7ldKOtk4YFiDGGUra73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D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D94565-BB2C-456D-A28C-F0BD89234FAE}">
  <a:tblStyle styleId="{57D94565-BB2C-456D-A28C-F0BD89234F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51" Type="http://customschemas.google.com/relationships/presentationmetadata" Target="metadata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eec28cf8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g28eec28cf8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8eec28cf86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466b3f15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8" name="Google Shape;188;g26466b3f15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466b3f15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g26466b3f15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466b3f15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g26466b3f15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466b3f15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0" name="Google Shape;220;g26466b3f153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466b3f15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1" name="Google Shape;231;g26466b3f15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466b3f15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1" name="Google Shape;241;g26466b3f15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6466b3f153_0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a80fbcc6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gea80fbcc6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ea80fbcc6e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8eec28cf86_0_11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28eec28cf86_0_11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28eec28cf86_0_11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8eec28cf86_0_96"/>
          <p:cNvSpPr txBox="1">
            <a:spLocks noGrp="1"/>
          </p:cNvSpPr>
          <p:nvPr>
            <p:ph type="ctrTitle"/>
          </p:nvPr>
        </p:nvSpPr>
        <p:spPr>
          <a:xfrm>
            <a:off x="1116013" y="2932113"/>
            <a:ext cx="6912000" cy="1135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8eec28cf86_0_96"/>
          <p:cNvSpPr txBox="1">
            <a:spLocks noGrp="1"/>
          </p:cNvSpPr>
          <p:nvPr>
            <p:ph type="subTitle" idx="1"/>
          </p:nvPr>
        </p:nvSpPr>
        <p:spPr>
          <a:xfrm>
            <a:off x="1116013" y="4156075"/>
            <a:ext cx="6912000" cy="37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A48"/>
              </a:buClr>
              <a:buSzPts val="2000"/>
              <a:buFont typeface="Georgia"/>
              <a:buNone/>
              <a:defRPr>
                <a:solidFill>
                  <a:srgbClr val="003A48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8eec28cf86_0_99"/>
          <p:cNvSpPr txBox="1">
            <a:spLocks noGrp="1"/>
          </p:cNvSpPr>
          <p:nvPr>
            <p:ph type="title"/>
          </p:nvPr>
        </p:nvSpPr>
        <p:spPr>
          <a:xfrm>
            <a:off x="1311007" y="333257"/>
            <a:ext cx="7521293" cy="801300"/>
          </a:xfrm>
          <a:prstGeom prst="rect">
            <a:avLst/>
          </a:prstGeom>
          <a:solidFill>
            <a:srgbClr val="BA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g28eec28cf86_0_99"/>
          <p:cNvSpPr txBox="1">
            <a:spLocks noGrp="1"/>
          </p:cNvSpPr>
          <p:nvPr>
            <p:ph type="body" idx="1"/>
          </p:nvPr>
        </p:nvSpPr>
        <p:spPr>
          <a:xfrm>
            <a:off x="1311006" y="1229051"/>
            <a:ext cx="7521294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g28eec28cf86_0_9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userDrawn="1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eec28cf86_0_103"/>
          <p:cNvSpPr txBox="1">
            <a:spLocks noGrp="1"/>
          </p:cNvSpPr>
          <p:nvPr>
            <p:ph type="title"/>
          </p:nvPr>
        </p:nvSpPr>
        <p:spPr>
          <a:xfrm>
            <a:off x="991518" y="142201"/>
            <a:ext cx="5028282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g28eec28cf86_0_103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8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29" name="Google Shape;29;g28eec28cf86_0_103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8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30;g28eec28cf86_0_103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g28eec28cf86_0_103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9" name="Google Shape;279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013" y="110170"/>
            <a:ext cx="630238" cy="7713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CDF2D-609C-0B96-9390-20EDF4C94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1518" y="409411"/>
            <a:ext cx="5028282" cy="378396"/>
          </a:xfrm>
        </p:spPr>
        <p:txBody>
          <a:bodyPr/>
          <a:lstStyle>
            <a:lvl1pPr algn="r">
              <a:buNone/>
              <a:defRPr sz="1400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8eec28cf86_0_116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28eec28cf86_0_116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28eec28cf86_0_116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8eec28cf86_0_116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28eec28cf86_0_116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8eec28cf86_0_122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28eec28cf86_0_122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g28eec28cf86_0_12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28eec28cf86_0_12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28eec28cf86_0_12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8eec28cf86_0_128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28eec28cf86_0_128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28eec28cf86_0_128"/>
          <p:cNvSpPr txBox="1">
            <a:spLocks noGrp="1"/>
          </p:cNvSpPr>
          <p:nvPr>
            <p:ph type="body" idx="2"/>
          </p:nvPr>
        </p:nvSpPr>
        <p:spPr>
          <a:xfrm>
            <a:off x="4648200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28eec28cf86_0_128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8eec28cf86_0_128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28eec28cf86_0_128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8eec28cf86_0_135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8eec28cf86_0_135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28eec28cf86_0_135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28eec28cf86_0_135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eec28cf86_0_14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8eec28cf86_0_14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g28eec28cf86_0_14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g28eec28cf86_0_14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8eec28cf86_0_14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8eec28cf86_0_14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eec28cf86_0_147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8eec28cf86_0_147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g28eec28cf86_0_147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g28eec28cf86_0_147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28eec28cf86_0_147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28eec28cf86_0_147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eec28cf86_0_154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28eec28cf86_0_154"/>
          <p:cNvSpPr txBox="1">
            <a:spLocks noGrp="1"/>
          </p:cNvSpPr>
          <p:nvPr>
            <p:ph type="body" idx="1"/>
          </p:nvPr>
        </p:nvSpPr>
        <p:spPr>
          <a:xfrm rot="5400000">
            <a:off x="3113088" y="-1260500"/>
            <a:ext cx="2917800" cy="8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g28eec28cf86_0_154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28eec28cf86_0_154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28eec28cf86_0_154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eec28cf86_0_160"/>
          <p:cNvSpPr txBox="1">
            <a:spLocks noGrp="1"/>
          </p:cNvSpPr>
          <p:nvPr>
            <p:ph type="title"/>
          </p:nvPr>
        </p:nvSpPr>
        <p:spPr>
          <a:xfrm rot="5400000">
            <a:off x="5633238" y="1259639"/>
            <a:ext cx="4033800" cy="2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28eec28cf86_0_160"/>
          <p:cNvSpPr txBox="1">
            <a:spLocks noGrp="1"/>
          </p:cNvSpPr>
          <p:nvPr>
            <p:ph type="body" idx="1"/>
          </p:nvPr>
        </p:nvSpPr>
        <p:spPr>
          <a:xfrm rot="5400000">
            <a:off x="1453388" y="-716762"/>
            <a:ext cx="4033800" cy="6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g28eec28cf86_0_16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28eec28cf86_0_16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28eec28cf86_0_16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4a231b89e_0_132"/>
          <p:cNvSpPr txBox="1">
            <a:spLocks noGrp="1"/>
          </p:cNvSpPr>
          <p:nvPr>
            <p:ph type="title"/>
          </p:nvPr>
        </p:nvSpPr>
        <p:spPr>
          <a:xfrm>
            <a:off x="1241854" y="86843"/>
            <a:ext cx="7590446" cy="8013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0" name="Google Shape;110;g214a231b89e_0_132"/>
          <p:cNvSpPr txBox="1">
            <a:spLocks noGrp="1"/>
          </p:cNvSpPr>
          <p:nvPr>
            <p:ph type="body" idx="1"/>
          </p:nvPr>
        </p:nvSpPr>
        <p:spPr>
          <a:xfrm>
            <a:off x="1241852" y="1229051"/>
            <a:ext cx="7590447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1" name="Google Shape;111;g214a231b89e_0_132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5"/>
          <p:cNvSpPr txBox="1">
            <a:spLocks noGrp="1"/>
          </p:cNvSpPr>
          <p:nvPr>
            <p:ph type="ctrTitle"/>
          </p:nvPr>
        </p:nvSpPr>
        <p:spPr>
          <a:xfrm>
            <a:off x="1143000" y="841375"/>
            <a:ext cx="6858000" cy="17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5"/>
          <p:cNvSpPr txBox="1"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45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5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5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6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6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46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48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737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88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8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8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9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0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0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1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1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51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51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1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1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2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2"/>
          <p:cNvSpPr txBox="1">
            <a:spLocks noGrp="1"/>
          </p:cNvSpPr>
          <p:nvPr>
            <p:ph type="body" idx="1"/>
          </p:nvPr>
        </p:nvSpPr>
        <p:spPr>
          <a:xfrm rot="5400000">
            <a:off x="3311526" y="-774699"/>
            <a:ext cx="3395662" cy="735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2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2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2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 txBox="1">
            <a:spLocks noGrp="1"/>
          </p:cNvSpPr>
          <p:nvPr>
            <p:ph type="title"/>
          </p:nvPr>
        </p:nvSpPr>
        <p:spPr>
          <a:xfrm rot="5400000">
            <a:off x="5568157" y="1481931"/>
            <a:ext cx="4398962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3"/>
          <p:cNvSpPr txBox="1">
            <a:spLocks noGrp="1"/>
          </p:cNvSpPr>
          <p:nvPr>
            <p:ph type="body" idx="1"/>
          </p:nvPr>
        </p:nvSpPr>
        <p:spPr>
          <a:xfrm rot="5400000">
            <a:off x="1814513" y="-280987"/>
            <a:ext cx="4398962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12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8eec28cf86_0_90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" name="Google Shape;11;g28eec28cf86_0_90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" name="Google Shape;12;g28eec28cf86_0_9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28eec28cf86_0_9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28eec28cf86_0_9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body" idx="1"/>
          </p:nvPr>
        </p:nvSpPr>
        <p:spPr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eec28cf86_0_83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  <p:pic>
        <p:nvPicPr>
          <p:cNvPr id="170" name="Google Shape;170;g28eec28cf86_0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25" y="0"/>
            <a:ext cx="9144000" cy="30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8eec28cf86_0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075" y="3148475"/>
            <a:ext cx="5304292" cy="17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 txBox="1">
            <a:spLocks noGrp="1"/>
          </p:cNvSpPr>
          <p:nvPr>
            <p:ph type="ctrTitle"/>
          </p:nvPr>
        </p:nvSpPr>
        <p:spPr>
          <a:xfrm>
            <a:off x="178575" y="2823675"/>
            <a:ext cx="8779500" cy="11889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        CURSO: 2do Medio                   ASIGNATURA: Química</a:t>
            </a:r>
          </a:p>
        </p:txBody>
      </p:sp>
      <p:sp>
        <p:nvSpPr>
          <p:cNvPr id="177" name="Google Shape;177;p1"/>
          <p:cNvSpPr/>
          <p:nvPr/>
        </p:nvSpPr>
        <p:spPr>
          <a:xfrm>
            <a:off x="402900" y="4104575"/>
            <a:ext cx="83382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ROFESORA: Rolando E. Montero A.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DEPARTAMENTO DE CIENCIAS, TECNOLOGÍA Y AMBIENTE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COLEGIO FEDERICO  OZANAM- PUERTO MONTT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617474" y="206150"/>
            <a:ext cx="2625281" cy="492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t>CLASE N°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466b3f153_0_17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sp>
        <p:nvSpPr>
          <p:cNvPr id="191" name="Google Shape;191;g26466b3f153_0_171"/>
          <p:cNvSpPr txBox="1"/>
          <p:nvPr/>
        </p:nvSpPr>
        <p:spPr>
          <a:xfrm>
            <a:off x="514413" y="1229041"/>
            <a:ext cx="2535900" cy="15222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permiten celulares. Si ingresas con ellos deberás dejarlos SIEMPRE en la caja dispuesta para aquello.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26466b3f153_0_171"/>
          <p:cNvSpPr txBox="1"/>
          <p:nvPr/>
        </p:nvSpPr>
        <p:spPr>
          <a:xfrm>
            <a:off x="3304046" y="1229041"/>
            <a:ext cx="2535900" cy="15222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audífonos y cualquier elemento tecnológico no serán admitidos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g26466b3f153_0_171"/>
          <p:cNvSpPr txBox="1"/>
          <p:nvPr/>
        </p:nvSpPr>
        <p:spPr>
          <a:xfrm>
            <a:off x="6093680" y="1229041"/>
            <a:ext cx="2535900" cy="1522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maquillajes, alisadores, espejos, etc. no están autorizados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26466b3f153_0_171"/>
          <p:cNvSpPr txBox="1"/>
          <p:nvPr/>
        </p:nvSpPr>
        <p:spPr>
          <a:xfrm>
            <a:off x="514413" y="2950615"/>
            <a:ext cx="2535900" cy="152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puede entrar con mochilas, bolsos de deporte o implementos deportivos a la sala temática.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g26466b3f153_0_171"/>
          <p:cNvSpPr txBox="1"/>
          <p:nvPr/>
        </p:nvSpPr>
        <p:spPr>
          <a:xfrm>
            <a:off x="3304046" y="2950615"/>
            <a:ext cx="2535900" cy="1522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permiten botellas con agua, pero deben ser transparentes.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26466b3f153_0_171"/>
          <p:cNvSpPr txBox="1"/>
          <p:nvPr/>
        </p:nvSpPr>
        <p:spPr>
          <a:xfrm>
            <a:off x="6093680" y="2950615"/>
            <a:ext cx="2535900" cy="1522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Nuestra sala no se puede convertir en una bodega para trabajos de otras asignaturas.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g26466b3f153_0_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466b3f153_0_182"/>
          <p:cNvSpPr txBox="1"/>
          <p:nvPr/>
        </p:nvSpPr>
        <p:spPr>
          <a:xfrm>
            <a:off x="1461925" y="1345712"/>
            <a:ext cx="2961900" cy="14619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Tienes 3 minutos para ingresar a ésta sala temática desde el timbre, después de eso quedará consignado el atraso en tu hoja de vida en el libro de clases en LIRMI.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26466b3f153_0_182"/>
          <p:cNvSpPr txBox="1"/>
          <p:nvPr/>
        </p:nvSpPr>
        <p:spPr>
          <a:xfrm>
            <a:off x="4720175" y="1345712"/>
            <a:ext cx="2961900" cy="14619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mobiliario del aula se debe cuidar, si algún estudiante lo raya, rompe o destruye deberá reponerlo y además quedará registrado en su hoja de vida. 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26466b3f153_0_182"/>
          <p:cNvSpPr txBox="1"/>
          <p:nvPr/>
        </p:nvSpPr>
        <p:spPr>
          <a:xfrm>
            <a:off x="1461925" y="3123331"/>
            <a:ext cx="2961900" cy="1461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llegará a olvidar algún material de clase, no podrá salir de ésta a buscarlo.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26466b3f153_0_182"/>
          <p:cNvSpPr txBox="1"/>
          <p:nvPr/>
        </p:nvSpPr>
        <p:spPr>
          <a:xfrm>
            <a:off x="4720175" y="3123331"/>
            <a:ext cx="2961900" cy="14619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Está prohibido ir al baño, se autorizará solo casos de emergencia y situaciones excepcionales, previo aviso en convivencia escolar en wsp del ciclo.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26466b3f153_0_182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07" name="Google Shape;207;g26466b3f153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466b3f153_0_19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13" name="Google Shape;213;g26466b3f153_0_1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6466b3f153_0_191"/>
          <p:cNvSpPr txBox="1"/>
          <p:nvPr/>
        </p:nvSpPr>
        <p:spPr>
          <a:xfrm>
            <a:off x="535076" y="1366665"/>
            <a:ext cx="2428800" cy="17778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el cuaderno se registra: nº de clase, fecha, unidad y objetivo,  las actividades y retroalimentaciones de estas y evaluaciones. (se revisan en clases).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26466b3f153_0_191"/>
          <p:cNvSpPr txBox="1"/>
          <p:nvPr/>
        </p:nvSpPr>
        <p:spPr>
          <a:xfrm>
            <a:off x="6070375" y="1366665"/>
            <a:ext cx="2428800" cy="17778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 buen uso de los contenedores de reciclaje, apoyando a los agentes de cambio.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26466b3f153_0_191"/>
          <p:cNvSpPr txBox="1"/>
          <p:nvPr/>
        </p:nvSpPr>
        <p:spPr>
          <a:xfrm>
            <a:off x="3278701" y="1366665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Siempre tomar apuntes en clases (la memoria es frágil, no todo está en el PPT y no usaremos Classroom)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26466b3f153_0_191"/>
          <p:cNvSpPr txBox="1"/>
          <p:nvPr/>
        </p:nvSpPr>
        <p:spPr>
          <a:xfrm>
            <a:off x="3278701" y="3262540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contar con sus materiales básicos de clases, quedará registrado en su hoja de vida (cuaderno, libro, lápiz, carpeta, guías, etc)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466b3f153_0_200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sz="4800"/>
              <a:t>¡IMPORTANTE!</a:t>
            </a:r>
            <a:endParaRPr sz="4800"/>
          </a:p>
        </p:txBody>
      </p:sp>
      <p:grpSp>
        <p:nvGrpSpPr>
          <p:cNvPr id="223" name="Google Shape;223;g26466b3f153_0_200"/>
          <p:cNvGrpSpPr/>
          <p:nvPr/>
        </p:nvGrpSpPr>
        <p:grpSpPr>
          <a:xfrm>
            <a:off x="1471620" y="1405000"/>
            <a:ext cx="7300755" cy="2258177"/>
            <a:chOff x="1732707" y="3851905"/>
            <a:chExt cx="7300755" cy="2257500"/>
          </a:xfrm>
        </p:grpSpPr>
        <p:sp>
          <p:nvSpPr>
            <p:cNvPr id="224" name="Google Shape;224;g26466b3f153_0_200"/>
            <p:cNvSpPr txBox="1"/>
            <p:nvPr/>
          </p:nvSpPr>
          <p:spPr>
            <a:xfrm>
              <a:off x="1732707" y="3851908"/>
              <a:ext cx="3515100" cy="2182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Cualquier llamada personal no podrá ser contestada, ya que el apoderado debe informar a secretaria o convivencia escolar si acontece algo infrecuente; y éstos informarán al educando.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g26466b3f153_0_200"/>
            <p:cNvSpPr txBox="1"/>
            <p:nvPr/>
          </p:nvSpPr>
          <p:spPr>
            <a:xfrm>
              <a:off x="5518362" y="3851905"/>
              <a:ext cx="3515100" cy="2257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 caso de pérdida de la llave del candado, el estudiante debe informar a Convivencia Escolar e Inspectoría, quién solicitará la apertura del lockers. Por ningún motivo el estudiante debe intentar abrirlo por su cuenta y menos tratar de forzarlo.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26" name="Google Shape;226;g26466b3f153_0_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6466b3f153_0_200"/>
          <p:cNvSpPr txBox="1"/>
          <p:nvPr/>
        </p:nvSpPr>
        <p:spPr>
          <a:xfrm>
            <a:off x="147162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usted tiene un inconveniente en clases, SIEMPRE AVISAR AL PROFESOR EN EL MOMENTO.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g26466b3f153_0_200"/>
          <p:cNvSpPr txBox="1"/>
          <p:nvPr/>
        </p:nvSpPr>
        <p:spPr>
          <a:xfrm>
            <a:off x="525727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de su responsabilidad CUIDAR SUS MATERIALES. En esta sala no puede dejar sus materiales y trabajos.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26466b3f153_0_210"/>
          <p:cNvGrpSpPr/>
          <p:nvPr/>
        </p:nvGrpSpPr>
        <p:grpSpPr>
          <a:xfrm>
            <a:off x="653800" y="1314278"/>
            <a:ext cx="7836396" cy="3368473"/>
            <a:chOff x="0" y="-132"/>
            <a:chExt cx="8520600" cy="3867363"/>
          </a:xfrm>
        </p:grpSpPr>
        <p:sp>
          <p:nvSpPr>
            <p:cNvPr id="234" name="Google Shape;234;g26466b3f153_0_210"/>
            <p:cNvSpPr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26466b3f153_0_210"/>
            <p:cNvSpPr txBox="1"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B98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profesor que haga uso de la sala temática podrá instaurar sus propios acuerdos, considerando las necesidades de su asignatura.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6" name="Google Shape;236;g26466b3f153_0_210"/>
            <p:cNvSpPr/>
            <p:nvPr/>
          </p:nvSpPr>
          <p:spPr>
            <a:xfrm rot="10800000">
              <a:off x="0" y="-132"/>
              <a:ext cx="8520600" cy="235650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95E2D1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26466b3f153_0_210"/>
            <p:cNvSpPr txBox="1"/>
            <p:nvPr/>
          </p:nvSpPr>
          <p:spPr>
            <a:xfrm>
              <a:off x="0" y="0"/>
              <a:ext cx="8520600" cy="153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dejará registro (observación neutra) si acontece alguna situación atípica en el quehacer cotidiano. (Por ejemplo, ir a enfermería, protocolo “tomar aire”, etc.)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38" name="Google Shape;238;g26466b3f153_0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466b3f153_0_219"/>
          <p:cNvSpPr txBox="1">
            <a:spLocks noGrp="1"/>
          </p:cNvSpPr>
          <p:nvPr>
            <p:ph type="body" idx="1"/>
          </p:nvPr>
        </p:nvSpPr>
        <p:spPr>
          <a:xfrm>
            <a:off x="311700" y="1229051"/>
            <a:ext cx="8520600" cy="3341100"/>
          </a:xfrm>
          <a:prstGeom prst="rect">
            <a:avLst/>
          </a:prstGeom>
          <a:solidFill>
            <a:srgbClr val="95E2D1">
              <a:alpha val="4901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Queda estrictamente prohibido ingerir alimentos en esta aula temática, ya que es laboratorio.</a:t>
            </a: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No se puede manipular el material que no corresponde a la clase impartida.</a:t>
            </a:r>
            <a:endParaRPr sz="2600" b="1"/>
          </a:p>
        </p:txBody>
      </p:sp>
      <p:sp>
        <p:nvSpPr>
          <p:cNvPr id="245" name="Google Shape;245;g26466b3f153_0_21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 w="9525" cap="flat" cmpd="sng">
            <a:solidFill>
              <a:srgbClr val="1C1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CLASE N°: 10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BE08EA-8FE3-9968-869A-4A22B21D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914807"/>
            <a:ext cx="3868800" cy="2851098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t>UNIDAD: </a:t>
            </a:r>
          </a:p>
          <a:p>
            <a:r>
              <a:t>Soluciones</a:t>
            </a:r>
          </a:p>
          <a:p/>
          <a:p>
            <a:r>
              <a:t>CONTENIDOS:</a:t>
            </a:r>
          </a:p>
          <a:p>
            <a:r>
              <a:t>Solubilidad</a:t>
            </a:r>
          </a:p>
          <a:p/>
        </p:txBody>
      </p:sp>
      <p:sp>
        <p:nvSpPr>
          <p:cNvPr id="276" name="Google Shape;276;p2"/>
          <p:cNvSpPr txBox="1">
            <a:spLocks noGrp="1"/>
          </p:cNvSpPr>
          <p:nvPr>
            <p:ph type="body" idx="2"/>
          </p:nvPr>
        </p:nvSpPr>
        <p:spPr>
          <a:xfrm>
            <a:off x="630238" y="3892905"/>
            <a:ext cx="7886612" cy="102199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OA:  Comprender y aplicar conceptos clave sobre solubilidad..</a:t>
            </a:r>
          </a:p>
          <a:p/>
          <a:p/>
          <a:p/>
          <a:p/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8D92AB-CD0A-9AD2-3F98-0A25564F0E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914808"/>
            <a:ext cx="3887700" cy="2223606"/>
          </a:xfrm>
          <a:ln>
            <a:solidFill>
              <a:schemeClr val="bg2"/>
            </a:solidFill>
          </a:ln>
        </p:spPr>
        <p:txBody>
          <a:bodyPr/>
          <a:lstStyle/>
          <a:p>
            <a:r>
              <a:t>HABILIDADES:</a:t>
            </a:r>
          </a:p>
          <a:p>
            <a:r>
              <a:t>Análisis, reflexión, comunicación científica</a:t>
            </a:r>
          </a:p>
          <a:p/>
        </p:txBody>
      </p:sp>
      <p:sp>
        <p:nvSpPr>
          <p:cNvPr id="277" name="Google Shape;277;p2"/>
          <p:cNvSpPr txBox="1">
            <a:spLocks noGrp="1"/>
          </p:cNvSpPr>
          <p:nvPr>
            <p:ph type="body" idx="4"/>
          </p:nvPr>
        </p:nvSpPr>
        <p:spPr>
          <a:xfrm>
            <a:off x="4629150" y="3265414"/>
            <a:ext cx="3887700" cy="5004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VIRTUD: RESPONSABILIDAD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43C29C-BF0B-CCA1-7044-B6DA35148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FECHA: 09-06-2026</a:t>
            </a:r>
          </a:p>
        </p:txBody>
      </p:sp>
      <p:sp>
        <p:nvSpPr>
          <p:cNvPr id="278" name="Google Shape;278;p2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92B0A-F08E-70F2-1140-46E863D5B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000" y="236127"/>
            <a:ext cx="6912000" cy="750371"/>
          </a:xfrm>
        </p:spPr>
        <p:txBody>
          <a:bodyPr/>
          <a:lstStyle/>
          <a:p>
            <a:r>
              <a:rPr lang="es-419" b="1" dirty="0">
                <a:solidFill>
                  <a:srgbClr val="000000"/>
                </a:solidFill>
              </a:rPr>
              <a:t>OBJETIVO  DE LA CLASE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4974D-B368-6207-DCC3-6359F360F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756" y="3025106"/>
            <a:ext cx="6912000" cy="1762794"/>
          </a:xfrm>
        </p:spPr>
        <p:txBody>
          <a:bodyPr/>
          <a:lstStyle/>
          <a:p>
            <a:r>
              <a:t> Al finalizar la clase, el estudiante será capaz de explicar y ejemplificar solubilidad.</a:t>
            </a:r>
          </a:p>
          <a:p/>
        </p:txBody>
      </p:sp>
      <p:sp>
        <p:nvSpPr>
          <p:cNvPr id="286" name="Google Shape;286;gea80fbcc6e_1_1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Portada: Solubilidad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Unidad: Soluciones\nCurso: 2do Medio\nAsignatura: Química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 la Clase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Analizar el concepto de solubilidad y los factores que influyen en ella, interpretando curvas de solubilidad para predecir el comportamiento de una solución.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Activación de Conocimientos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¿Qué sucede cuando agregamos demasiada azúcar a un vaso de agua? ¿Por qué algunos sólidos no se disuelven por completo?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Definición de Solubilidad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solubilidad es la cantidad máxima de soluto que puede disolverse en una cantidad dada de solvente a una temperatura y presión específicas.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Soluciones Saturadas e Insaturadas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Insaturada: Contiene menos soluto del que el solvente puede admitir.\n- Saturada: Contiene la cantidad máxima de soluto posible.\n- Sobresaturada: Contiene más soluto del normal (estado inestable).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 1: La Temperatura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la mayoría de los sólidos, la solubilidad aumenta al aumentar la temperatura. En los gases, generalmente ocurre lo contrario.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 2: La Naturaleza del Soluto y Solventes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Regla: 'Lo semejante disuelve a lo semejante'. Sustancias polares se disuelven en solventes polares (ej. sal en agua) y no polares en no polares.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 3: La Presión (Gases)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Según la ley de Henry, la solubilidad de un gas en un líquido es directamente proporcional a la presión parcial del gas sobre el líquido.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Curvas de Solubilidad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Representaciones gráficas que muestran la relación entre la solubilidad de una sustancia y la temperatura. Permiten identificar si una solución será saturada o precipitará soluto.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Interpretación de Gráficos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Análisis de puntos en la curva: Sobre la línea (Saturada), bajo la línea (Insaturada), sobre la línea con exceso (Precipitado).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Práctico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Cálculo de gramos de KNO3 solubles a 50°C basándose en una gráfica de solubilidad estándar.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Síntesis de la Clase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Resumen de conceptos: Solubilidad -&gt; Factores (T°, P, Naturaleza) -&gt; Gráficas de Solubilidad.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de Salida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¿Qué sucede con la solubilidad de la mayoría de los sólidos si calentamos el solvente?\n2. ¿En qué se diferencia una solución saturada de una sobresaturada?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593</Words>
  <Application>Microsoft Office PowerPoint</Application>
  <PresentationFormat>Personalizado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Book Antiqua</vt:lpstr>
      <vt:lpstr>Georgia</vt:lpstr>
      <vt:lpstr>Arial</vt:lpstr>
      <vt:lpstr>Century Gothic</vt:lpstr>
      <vt:lpstr>template</vt:lpstr>
      <vt:lpstr>Custom Design</vt:lpstr>
      <vt:lpstr>Presentación de PowerPoint</vt:lpstr>
      <vt:lpstr>        CURSO: {{CURSO}}                   ASIGNATURA: {{ASIGNATURA}}</vt:lpstr>
      <vt:lpstr>En esta sala…</vt:lpstr>
      <vt:lpstr>En esta sala…</vt:lpstr>
      <vt:lpstr>En esta sala…</vt:lpstr>
      <vt:lpstr>¡IMPORTANTE!</vt:lpstr>
      <vt:lpstr>Presentación de PowerPoint</vt:lpstr>
      <vt:lpstr>Presentación de PowerPoint</vt:lpstr>
      <vt:lpstr>CLASE N°: {{NC}}</vt:lpstr>
      <vt:lpstr>OBJETIVO  DE LA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Cleria</dc:creator>
  <cp:lastModifiedBy>Rolando E. Montero A.</cp:lastModifiedBy>
  <cp:revision>12</cp:revision>
  <dcterms:created xsi:type="dcterms:W3CDTF">2020-03-02T15:31:54Z</dcterms:created>
  <dcterms:modified xsi:type="dcterms:W3CDTF">2026-05-27T16:03:44Z</dcterms:modified>
</cp:coreProperties>
</file>