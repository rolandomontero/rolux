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31"/>
  </p:notes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1" r:id="rId13"/>
    <p:sldId id="272" r:id="rId14"/>
    <p:sldId id="274" r:id="rId15"/>
    <p:sldId id="511" r:id="rId16"/>
    <p:sldId id="512" r:id="rId17"/>
    <p:sldId id="275" r:id="rId18"/>
    <p:sldId id="513" r:id="rId19"/>
    <p:sldId id="505" r:id="rId20"/>
    <p:sldId id="482" r:id="rId21"/>
    <p:sldId id="484" r:id="rId22"/>
    <p:sldId id="485" r:id="rId23"/>
    <p:sldId id="483" r:id="rId24"/>
    <p:sldId id="486" r:id="rId25"/>
    <p:sldId id="489" r:id="rId26"/>
    <p:sldId id="501" r:id="rId27"/>
    <p:sldId id="490" r:id="rId28"/>
    <p:sldId id="281" r:id="rId29"/>
    <p:sldId id="282" r:id="rId30"/>
  </p:sldIdLst>
  <p:sldSz cx="9144000" cy="5145088"/>
  <p:notesSz cx="6858000" cy="9144000"/>
  <p:embeddedFontLst>
    <p:embeddedFont>
      <p:font typeface="Cambria Math" panose="02040503050406030204" pitchFamily="18" charset="0"/>
      <p:regular r:id="rId32"/>
    </p:embeddedFont>
    <p:embeddedFont>
      <p:font typeface="Century Gothic" panose="020B0502020202020204" pitchFamily="34" charset="0"/>
      <p:regular r:id="rId33"/>
      <p:bold r:id="rId34"/>
      <p:italic r:id="rId35"/>
      <p:boldItalic r:id="rId36"/>
    </p:embeddedFont>
    <p:embeddedFont>
      <p:font typeface="Georgia" panose="02040502050405020303" pitchFamily="18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1" roundtripDataSignature="AMtx7miw0p73h7ldKOtk4YFiDGGUra73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DD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D94565-BB2C-456D-A28C-F0BD89234FAE}">
  <a:tblStyle styleId="{57D94565-BB2C-456D-A28C-F0BD89234FA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76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8.fntdata"/><Relationship Id="rId21" Type="http://schemas.openxmlformats.org/officeDocument/2006/relationships/slide" Target="slides/slide19.xml"/><Relationship Id="rId34" Type="http://schemas.openxmlformats.org/officeDocument/2006/relationships/font" Target="fonts/font3.fntdata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4.fntdata"/><Relationship Id="rId8" Type="http://schemas.openxmlformats.org/officeDocument/2006/relationships/slide" Target="slides/slide6.xml"/><Relationship Id="rId51" Type="http://customschemas.google.com/relationships/presentationmetadata" Target="meta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0" Type="http://schemas.openxmlformats.org/officeDocument/2006/relationships/slide" Target="slides/slide18.xml"/><Relationship Id="rId5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8eec28cf86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6" name="Google Shape;166;g28eec28cf86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g28eec28cf86_0_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6466b3f153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8" name="Google Shape;188;g26466b3f153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6466b3f153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0" name="Google Shape;200;g26466b3f153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6466b3f153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0" name="Google Shape;210;g26466b3f153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6466b3f153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0" name="Google Shape;220;g26466b3f153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6466b3f153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1" name="Google Shape;231;g26466b3f153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6466b3f153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1" name="Google Shape;241;g26466b3f153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g26466b3f153_0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ea80fbcc6e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3" name="Google Shape;283;gea80fbcc6e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gea80fbcc6e_1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4A50A9-5E3E-4D4D-9A64-46D1EEAF5356}" type="slidenum">
              <a:rPr lang="es-CL" smtClean="0"/>
              <a:pPr>
                <a:defRPr/>
              </a:pPr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70778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28eec28cf86_0_112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28eec28cf86_0_112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g28eec28cf86_0_112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28eec28cf86_0_96"/>
          <p:cNvSpPr txBox="1">
            <a:spLocks noGrp="1"/>
          </p:cNvSpPr>
          <p:nvPr>
            <p:ph type="ctrTitle"/>
          </p:nvPr>
        </p:nvSpPr>
        <p:spPr>
          <a:xfrm>
            <a:off x="1116013" y="2932113"/>
            <a:ext cx="6912000" cy="11352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g28eec28cf86_0_96"/>
          <p:cNvSpPr txBox="1">
            <a:spLocks noGrp="1"/>
          </p:cNvSpPr>
          <p:nvPr>
            <p:ph type="subTitle" idx="1"/>
          </p:nvPr>
        </p:nvSpPr>
        <p:spPr>
          <a:xfrm>
            <a:off x="1116013" y="4156075"/>
            <a:ext cx="6912000" cy="3777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A48"/>
              </a:buClr>
              <a:buSzPts val="2000"/>
              <a:buFont typeface="Georgia"/>
              <a:buNone/>
              <a:defRPr>
                <a:solidFill>
                  <a:srgbClr val="003A48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28eec28cf86_0_99"/>
          <p:cNvSpPr txBox="1">
            <a:spLocks noGrp="1"/>
          </p:cNvSpPr>
          <p:nvPr>
            <p:ph type="title"/>
          </p:nvPr>
        </p:nvSpPr>
        <p:spPr>
          <a:xfrm>
            <a:off x="1311007" y="333257"/>
            <a:ext cx="7521293" cy="801300"/>
          </a:xfrm>
          <a:prstGeom prst="rect">
            <a:avLst/>
          </a:prstGeom>
          <a:solidFill>
            <a:srgbClr val="BADD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g28eec28cf86_0_99"/>
          <p:cNvSpPr txBox="1">
            <a:spLocks noGrp="1"/>
          </p:cNvSpPr>
          <p:nvPr>
            <p:ph type="body" idx="1"/>
          </p:nvPr>
        </p:nvSpPr>
        <p:spPr>
          <a:xfrm>
            <a:off x="1311006" y="1229051"/>
            <a:ext cx="7521294" cy="3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5" name="Google Shape;25;g28eec28cf86_0_99"/>
          <p:cNvSpPr txBox="1">
            <a:spLocks noGrp="1"/>
          </p:cNvSpPr>
          <p:nvPr>
            <p:ph type="sldNum" idx="12"/>
          </p:nvPr>
        </p:nvSpPr>
        <p:spPr>
          <a:xfrm>
            <a:off x="8472458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userDrawn="1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28eec28cf86_0_103"/>
          <p:cNvSpPr txBox="1">
            <a:spLocks noGrp="1"/>
          </p:cNvSpPr>
          <p:nvPr>
            <p:ph type="title"/>
          </p:nvPr>
        </p:nvSpPr>
        <p:spPr>
          <a:xfrm>
            <a:off x="991518" y="142201"/>
            <a:ext cx="5028282" cy="6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8" name="Google Shape;28;g28eec28cf86_0_103"/>
          <p:cNvSpPr txBox="1">
            <a:spLocks noGrp="1"/>
          </p:cNvSpPr>
          <p:nvPr>
            <p:ph type="body" idx="1"/>
          </p:nvPr>
        </p:nvSpPr>
        <p:spPr>
          <a:xfrm>
            <a:off x="630238" y="1260475"/>
            <a:ext cx="3868800" cy="6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Arial" panose="020B0604020202020204" pitchFamily="34" charset="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29" name="Google Shape;29;g28eec28cf86_0_103"/>
          <p:cNvSpPr txBox="1">
            <a:spLocks noGrp="1"/>
          </p:cNvSpPr>
          <p:nvPr>
            <p:ph type="body" idx="2"/>
          </p:nvPr>
        </p:nvSpPr>
        <p:spPr>
          <a:xfrm>
            <a:off x="630238" y="1879600"/>
            <a:ext cx="3868800" cy="2763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800"/>
              <a:buNone/>
              <a:defRPr sz="2000" b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0" name="Google Shape;30;g28eec28cf86_0_103"/>
          <p:cNvSpPr txBox="1">
            <a:spLocks noGrp="1"/>
          </p:cNvSpPr>
          <p:nvPr>
            <p:ph type="body" idx="3"/>
          </p:nvPr>
        </p:nvSpPr>
        <p:spPr>
          <a:xfrm>
            <a:off x="4629150" y="1260475"/>
            <a:ext cx="3887700" cy="6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Arial" panose="020B0604020202020204" pitchFamily="34" charset="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Google Shape;31;g28eec28cf86_0_103"/>
          <p:cNvSpPr txBox="1">
            <a:spLocks noGrp="1"/>
          </p:cNvSpPr>
          <p:nvPr>
            <p:ph type="body" idx="4"/>
          </p:nvPr>
        </p:nvSpPr>
        <p:spPr>
          <a:xfrm>
            <a:off x="4629150" y="1879600"/>
            <a:ext cx="3887700" cy="2763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800"/>
              <a:buNone/>
              <a:defRPr sz="2000" b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79" name="Google Shape;279;p2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013" y="110170"/>
            <a:ext cx="630238" cy="7713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9CDF2D-609C-0B96-9390-20EDF4C94F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1518" y="409411"/>
            <a:ext cx="5028282" cy="378396"/>
          </a:xfrm>
        </p:spPr>
        <p:txBody>
          <a:bodyPr/>
          <a:lstStyle>
            <a:lvl1pPr algn="r">
              <a:buNone/>
              <a:defRPr sz="1400"/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8eec28cf86_0_116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g28eec28cf86_0_116"/>
          <p:cNvSpPr txBox="1">
            <a:spLocks noGrp="1"/>
          </p:cNvSpPr>
          <p:nvPr>
            <p:ph type="body" idx="1"/>
          </p:nvPr>
        </p:nvSpPr>
        <p:spPr>
          <a:xfrm>
            <a:off x="468313" y="1384300"/>
            <a:ext cx="8207400" cy="29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g28eec28cf86_0_116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28eec28cf86_0_116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g28eec28cf86_0_116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8eec28cf86_0_122"/>
          <p:cNvSpPr txBox="1">
            <a:spLocks noGrp="1"/>
          </p:cNvSpPr>
          <p:nvPr>
            <p:ph type="title"/>
          </p:nvPr>
        </p:nvSpPr>
        <p:spPr>
          <a:xfrm>
            <a:off x="623888" y="1282700"/>
            <a:ext cx="7886700" cy="21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g28eec28cf86_0_122"/>
          <p:cNvSpPr txBox="1">
            <a:spLocks noGrp="1"/>
          </p:cNvSpPr>
          <p:nvPr>
            <p:ph type="body" idx="1"/>
          </p:nvPr>
        </p:nvSpPr>
        <p:spPr>
          <a:xfrm>
            <a:off x="623888" y="3443288"/>
            <a:ext cx="7886700" cy="11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g28eec28cf86_0_122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g28eec28cf86_0_122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g28eec28cf86_0_122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8eec28cf86_0_128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g28eec28cf86_0_128"/>
          <p:cNvSpPr txBox="1">
            <a:spLocks noGrp="1"/>
          </p:cNvSpPr>
          <p:nvPr>
            <p:ph type="body" idx="1"/>
          </p:nvPr>
        </p:nvSpPr>
        <p:spPr>
          <a:xfrm>
            <a:off x="468313" y="1384300"/>
            <a:ext cx="4027500" cy="29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28eec28cf86_0_128"/>
          <p:cNvSpPr txBox="1">
            <a:spLocks noGrp="1"/>
          </p:cNvSpPr>
          <p:nvPr>
            <p:ph type="body" idx="2"/>
          </p:nvPr>
        </p:nvSpPr>
        <p:spPr>
          <a:xfrm>
            <a:off x="4648200" y="1384300"/>
            <a:ext cx="4027500" cy="29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28eec28cf86_0_128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28eec28cf86_0_128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g28eec28cf86_0_128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8eec28cf86_0_135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28eec28cf86_0_135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28eec28cf86_0_135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28eec28cf86_0_135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8eec28cf86_0_140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6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g28eec28cf86_0_140"/>
          <p:cNvSpPr txBox="1">
            <a:spLocks noGrp="1"/>
          </p:cNvSpPr>
          <p:nvPr>
            <p:ph type="body" idx="1"/>
          </p:nvPr>
        </p:nvSpPr>
        <p:spPr>
          <a:xfrm>
            <a:off x="3887788" y="741363"/>
            <a:ext cx="4629300" cy="3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1C1C1C"/>
              </a:buClr>
              <a:buSzPts val="3200"/>
              <a:buFont typeface="Georgia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C1C1C"/>
              </a:buClr>
              <a:buSzPts val="2800"/>
              <a:buFont typeface="Georgia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g28eec28cf86_0_140"/>
          <p:cNvSpPr txBox="1">
            <a:spLocks noGrp="1"/>
          </p:cNvSpPr>
          <p:nvPr>
            <p:ph type="body" idx="2"/>
          </p:nvPr>
        </p:nvSpPr>
        <p:spPr>
          <a:xfrm>
            <a:off x="630238" y="1543050"/>
            <a:ext cx="2949600" cy="28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Georgia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Georgia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g28eec28cf86_0_140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g28eec28cf86_0_140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28eec28cf86_0_140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8eec28cf86_0_147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6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g28eec28cf86_0_147"/>
          <p:cNvSpPr>
            <a:spLocks noGrp="1"/>
          </p:cNvSpPr>
          <p:nvPr>
            <p:ph type="pic" idx="2"/>
          </p:nvPr>
        </p:nvSpPr>
        <p:spPr>
          <a:xfrm>
            <a:off x="3887788" y="741363"/>
            <a:ext cx="4629300" cy="36561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g28eec28cf86_0_147"/>
          <p:cNvSpPr txBox="1">
            <a:spLocks noGrp="1"/>
          </p:cNvSpPr>
          <p:nvPr>
            <p:ph type="body" idx="1"/>
          </p:nvPr>
        </p:nvSpPr>
        <p:spPr>
          <a:xfrm>
            <a:off x="630238" y="1543050"/>
            <a:ext cx="2949600" cy="28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Georgia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Georgia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g28eec28cf86_0_147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g28eec28cf86_0_147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g28eec28cf86_0_147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8eec28cf86_0_154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g28eec28cf86_0_154"/>
          <p:cNvSpPr txBox="1">
            <a:spLocks noGrp="1"/>
          </p:cNvSpPr>
          <p:nvPr>
            <p:ph type="body" idx="1"/>
          </p:nvPr>
        </p:nvSpPr>
        <p:spPr>
          <a:xfrm rot="5400000">
            <a:off x="3113088" y="-1260500"/>
            <a:ext cx="2917800" cy="82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g28eec28cf86_0_154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g28eec28cf86_0_154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28eec28cf86_0_154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8eec28cf86_0_160"/>
          <p:cNvSpPr txBox="1">
            <a:spLocks noGrp="1"/>
          </p:cNvSpPr>
          <p:nvPr>
            <p:ph type="title"/>
          </p:nvPr>
        </p:nvSpPr>
        <p:spPr>
          <a:xfrm rot="5400000">
            <a:off x="5633238" y="1259639"/>
            <a:ext cx="4033800" cy="20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g28eec28cf86_0_160"/>
          <p:cNvSpPr txBox="1">
            <a:spLocks noGrp="1"/>
          </p:cNvSpPr>
          <p:nvPr>
            <p:ph type="body" idx="1"/>
          </p:nvPr>
        </p:nvSpPr>
        <p:spPr>
          <a:xfrm rot="5400000">
            <a:off x="1453388" y="-716762"/>
            <a:ext cx="4033800" cy="60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g28eec28cf86_0_160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g28eec28cf86_0_160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28eec28cf86_0_160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4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4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4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14a231b89e_0_132"/>
          <p:cNvSpPr txBox="1">
            <a:spLocks noGrp="1"/>
          </p:cNvSpPr>
          <p:nvPr>
            <p:ph type="title"/>
          </p:nvPr>
        </p:nvSpPr>
        <p:spPr>
          <a:xfrm>
            <a:off x="1241854" y="86843"/>
            <a:ext cx="7590446" cy="801300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0" name="Google Shape;110;g214a231b89e_0_132"/>
          <p:cNvSpPr txBox="1">
            <a:spLocks noGrp="1"/>
          </p:cNvSpPr>
          <p:nvPr>
            <p:ph type="body" idx="1"/>
          </p:nvPr>
        </p:nvSpPr>
        <p:spPr>
          <a:xfrm>
            <a:off x="1241852" y="1229051"/>
            <a:ext cx="7590447" cy="3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11" name="Google Shape;111;g214a231b89e_0_132"/>
          <p:cNvSpPr txBox="1">
            <a:spLocks noGrp="1"/>
          </p:cNvSpPr>
          <p:nvPr>
            <p:ph type="sldNum" idx="12"/>
          </p:nvPr>
        </p:nvSpPr>
        <p:spPr>
          <a:xfrm>
            <a:off x="8472458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5"/>
          <p:cNvSpPr txBox="1">
            <a:spLocks noGrp="1"/>
          </p:cNvSpPr>
          <p:nvPr>
            <p:ph type="ctrTitle"/>
          </p:nvPr>
        </p:nvSpPr>
        <p:spPr>
          <a:xfrm>
            <a:off x="1143000" y="841375"/>
            <a:ext cx="6858000" cy="179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45"/>
          <p:cNvSpPr txBox="1"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3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5" name="Google Shape;115;p45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45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5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6"/>
          <p:cNvSpPr txBox="1"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6"/>
          <p:cNvSpPr txBox="1">
            <a:spLocks noGrp="1"/>
          </p:cNvSpPr>
          <p:nvPr>
            <p:ph type="body" idx="1"/>
          </p:nvPr>
        </p:nvSpPr>
        <p:spPr>
          <a:xfrm>
            <a:off x="623888" y="3443288"/>
            <a:ext cx="7886700" cy="1125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1" name="Google Shape;121;p46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6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46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8"/>
          <p:cNvSpPr txBox="1"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48"/>
          <p:cNvSpPr txBox="1"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7" name="Google Shape;127;p48"/>
          <p:cNvSpPr txBox="1">
            <a:spLocks noGrp="1"/>
          </p:cNvSpPr>
          <p:nvPr>
            <p:ph type="body" idx="2"/>
          </p:nvPr>
        </p:nvSpPr>
        <p:spPr>
          <a:xfrm>
            <a:off x="630238" y="1879600"/>
            <a:ext cx="3868737" cy="276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48"/>
          <p:cNvSpPr txBox="1">
            <a:spLocks noGrp="1"/>
          </p:cNvSpPr>
          <p:nvPr>
            <p:ph type="body" idx="3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9" name="Google Shape;129;p48"/>
          <p:cNvSpPr txBox="1">
            <a:spLocks noGrp="1"/>
          </p:cNvSpPr>
          <p:nvPr>
            <p:ph type="body" idx="4"/>
          </p:nvPr>
        </p:nvSpPr>
        <p:spPr>
          <a:xfrm>
            <a:off x="4629150" y="1879600"/>
            <a:ext cx="3887788" cy="276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48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8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48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9"/>
          <p:cNvSpPr txBox="1">
            <a:spLocks noGrp="1"/>
          </p:cNvSpPr>
          <p:nvPr>
            <p:ph type="title"/>
          </p:nvPr>
        </p:nvSpPr>
        <p:spPr>
          <a:xfrm>
            <a:off x="1333500" y="201613"/>
            <a:ext cx="734218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9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49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49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0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50"/>
          <p:cNvSpPr txBox="1">
            <a:spLocks noGrp="1"/>
          </p:cNvSpPr>
          <p:nvPr>
            <p:ph type="body" idx="1"/>
          </p:nvPr>
        </p:nvSpPr>
        <p:spPr>
          <a:xfrm>
            <a:off x="3887788" y="741363"/>
            <a:ext cx="4629150" cy="3656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1C1C1C"/>
              </a:buClr>
              <a:buSzPts val="3200"/>
              <a:buFont typeface="Georgia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C1C1C"/>
              </a:buClr>
              <a:buSzPts val="2800"/>
              <a:buFont typeface="Georgia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1" name="Google Shape;141;p50"/>
          <p:cNvSpPr txBox="1">
            <a:spLocks noGrp="1"/>
          </p:cNvSpPr>
          <p:nvPr>
            <p:ph type="body" idx="2"/>
          </p:nvPr>
        </p:nvSpPr>
        <p:spPr>
          <a:xfrm>
            <a:off x="630238" y="1543050"/>
            <a:ext cx="2949575" cy="286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Georgia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Georgia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2" name="Google Shape;142;p50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50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50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1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51"/>
          <p:cNvSpPr>
            <a:spLocks noGrp="1"/>
          </p:cNvSpPr>
          <p:nvPr>
            <p:ph type="pic" idx="2"/>
          </p:nvPr>
        </p:nvSpPr>
        <p:spPr>
          <a:xfrm>
            <a:off x="3887788" y="741363"/>
            <a:ext cx="4629150" cy="3656012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51"/>
          <p:cNvSpPr txBox="1">
            <a:spLocks noGrp="1"/>
          </p:cNvSpPr>
          <p:nvPr>
            <p:ph type="body" idx="1"/>
          </p:nvPr>
        </p:nvSpPr>
        <p:spPr>
          <a:xfrm>
            <a:off x="630238" y="1543050"/>
            <a:ext cx="2949575" cy="286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Georgia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Georgia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9" name="Google Shape;149;p51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51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51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2"/>
          <p:cNvSpPr txBox="1">
            <a:spLocks noGrp="1"/>
          </p:cNvSpPr>
          <p:nvPr>
            <p:ph type="title"/>
          </p:nvPr>
        </p:nvSpPr>
        <p:spPr>
          <a:xfrm>
            <a:off x="1333500" y="201613"/>
            <a:ext cx="734218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52"/>
          <p:cNvSpPr txBox="1">
            <a:spLocks noGrp="1"/>
          </p:cNvSpPr>
          <p:nvPr>
            <p:ph type="body" idx="1"/>
          </p:nvPr>
        </p:nvSpPr>
        <p:spPr>
          <a:xfrm rot="5400000">
            <a:off x="3311526" y="-774699"/>
            <a:ext cx="3395662" cy="735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52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52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52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3"/>
          <p:cNvSpPr txBox="1">
            <a:spLocks noGrp="1"/>
          </p:cNvSpPr>
          <p:nvPr>
            <p:ph type="title"/>
          </p:nvPr>
        </p:nvSpPr>
        <p:spPr>
          <a:xfrm rot="5400000">
            <a:off x="5568157" y="1481931"/>
            <a:ext cx="4398962" cy="183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3"/>
          <p:cNvSpPr txBox="1">
            <a:spLocks noGrp="1"/>
          </p:cNvSpPr>
          <p:nvPr>
            <p:ph type="body" idx="1"/>
          </p:nvPr>
        </p:nvSpPr>
        <p:spPr>
          <a:xfrm rot="5400000">
            <a:off x="1814513" y="-280987"/>
            <a:ext cx="4398962" cy="536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53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53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53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image" Target="../media/image5.jp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8eec28cf86_0_90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1" name="Google Shape;11;g28eec28cf86_0_90"/>
          <p:cNvSpPr txBox="1">
            <a:spLocks noGrp="1"/>
          </p:cNvSpPr>
          <p:nvPr>
            <p:ph type="body" idx="1"/>
          </p:nvPr>
        </p:nvSpPr>
        <p:spPr>
          <a:xfrm>
            <a:off x="468313" y="1384300"/>
            <a:ext cx="8207400" cy="29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»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2" name="Google Shape;12;g28eec28cf86_0_90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g28eec28cf86_0_90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g28eec28cf86_0_90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3"/>
          <p:cNvSpPr txBox="1">
            <a:spLocks noGrp="1"/>
          </p:cNvSpPr>
          <p:nvPr>
            <p:ph type="title"/>
          </p:nvPr>
        </p:nvSpPr>
        <p:spPr>
          <a:xfrm>
            <a:off x="1333500" y="201613"/>
            <a:ext cx="734218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7" name="Google Shape;87;p33"/>
          <p:cNvSpPr txBox="1">
            <a:spLocks noGrp="1"/>
          </p:cNvSpPr>
          <p:nvPr>
            <p:ph type="body" idx="1"/>
          </p:nvPr>
        </p:nvSpPr>
        <p:spPr>
          <a:xfrm>
            <a:off x="1331913" y="1204913"/>
            <a:ext cx="7354887" cy="339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»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8" name="Google Shape;88;p33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33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33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jpeg"/><Relationship Id="rId7" Type="http://schemas.microsoft.com/office/2007/relationships/hdphoto" Target="../media/hdphoto2.wd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9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8eec28cf86_0_83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419"/>
              <a:t>1</a:t>
            </a:fld>
            <a:endParaRPr/>
          </a:p>
        </p:txBody>
      </p:sp>
      <p:pic>
        <p:nvPicPr>
          <p:cNvPr id="170" name="Google Shape;170;g28eec28cf86_0_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425" y="0"/>
            <a:ext cx="9144000" cy="306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28eec28cf86_0_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13075" y="3148475"/>
            <a:ext cx="5304292" cy="177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"/>
          <p:cNvSpPr txBox="1">
            <a:spLocks noGrp="1"/>
          </p:cNvSpPr>
          <p:nvPr>
            <p:ph type="ctrTitle"/>
          </p:nvPr>
        </p:nvSpPr>
        <p:spPr>
          <a:xfrm>
            <a:off x="178575" y="2823675"/>
            <a:ext cx="8779500" cy="11889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        CURSO: 4° Medio                   ASIGNATURA: Química</a:t>
            </a:r>
          </a:p>
        </p:txBody>
      </p:sp>
      <p:sp>
        <p:nvSpPr>
          <p:cNvPr id="177" name="Google Shape;177;p1"/>
          <p:cNvSpPr/>
          <p:nvPr/>
        </p:nvSpPr>
        <p:spPr>
          <a:xfrm>
            <a:off x="402900" y="4104575"/>
            <a:ext cx="8338200" cy="9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419" sz="1600" b="0" i="0" u="none" strike="noStrike" cap="none" dirty="0">
                <a:solidFill>
                  <a:srgbClr val="003A48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s-419" sz="1200" b="0" i="0" u="none" strike="noStrike" cap="none" dirty="0">
                <a:solidFill>
                  <a:srgbClr val="003A48"/>
                </a:solidFill>
                <a:latin typeface="Arial"/>
                <a:ea typeface="Arial"/>
                <a:cs typeface="Arial"/>
                <a:sym typeface="Arial"/>
              </a:rPr>
              <a:t>ROFESORA: Rolando E. Montero A.</a:t>
            </a:r>
            <a:endParaRPr sz="1200" b="0" i="0" u="none" strike="noStrike" cap="none" dirty="0">
              <a:solidFill>
                <a:srgbClr val="003A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200" b="0" i="0" u="none" strike="noStrike" cap="none" dirty="0">
              <a:solidFill>
                <a:srgbClr val="003A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419" sz="1200" b="0" i="0" u="none" strike="noStrike" cap="none" dirty="0">
                <a:solidFill>
                  <a:srgbClr val="003A48"/>
                </a:solidFill>
                <a:latin typeface="Arial"/>
                <a:ea typeface="Arial"/>
                <a:cs typeface="Arial"/>
                <a:sym typeface="Arial"/>
              </a:rPr>
              <a:t>DEPARTAMENTO DE CIENCIAS, TECNOLOGÍA Y AMBIENTE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419" sz="1200" b="0" i="0" u="none" strike="noStrike" cap="none" dirty="0">
                <a:solidFill>
                  <a:srgbClr val="003A48"/>
                </a:solidFill>
                <a:latin typeface="Arial"/>
                <a:ea typeface="Arial"/>
                <a:cs typeface="Arial"/>
                <a:sym typeface="Arial"/>
              </a:rPr>
              <a:t>COLEGIO FEDERICO  OZANAM- PUERTO MONTT</a:t>
            </a:r>
            <a:endParaRPr sz="1200" b="0" i="0" u="none" strike="noStrike" cap="none" dirty="0">
              <a:solidFill>
                <a:srgbClr val="003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"/>
          <p:cNvSpPr txBox="1"/>
          <p:nvPr/>
        </p:nvSpPr>
        <p:spPr>
          <a:xfrm>
            <a:off x="3617474" y="206150"/>
            <a:ext cx="2625281" cy="492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spAutoFit/>
          </a:bodyPr>
          <a:lstStyle/>
          <a:p>
            <a:r>
              <a:t>CLASE N°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6466b3f153_0_171"/>
          <p:cNvSpPr txBox="1">
            <a:spLocks noGrp="1"/>
          </p:cNvSpPr>
          <p:nvPr>
            <p:ph type="title"/>
          </p:nvPr>
        </p:nvSpPr>
        <p:spPr>
          <a:xfrm>
            <a:off x="311700" y="292940"/>
            <a:ext cx="8520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 dirty="0"/>
              <a:t>En esta sala…</a:t>
            </a:r>
            <a:endParaRPr dirty="0"/>
          </a:p>
        </p:txBody>
      </p:sp>
      <p:sp>
        <p:nvSpPr>
          <p:cNvPr id="191" name="Google Shape;191;g26466b3f153_0_171"/>
          <p:cNvSpPr txBox="1"/>
          <p:nvPr/>
        </p:nvSpPr>
        <p:spPr>
          <a:xfrm>
            <a:off x="514413" y="1229041"/>
            <a:ext cx="2535900" cy="1522200"/>
          </a:xfrm>
          <a:prstGeom prst="rect">
            <a:avLst/>
          </a:prstGeom>
          <a:solidFill>
            <a:srgbClr val="E8F5D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se permiten celulares. Si ingresas con ellos deberás dejarlos SIEMPRE en la caja dispuesta para aquello.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g26466b3f153_0_171"/>
          <p:cNvSpPr txBox="1"/>
          <p:nvPr/>
        </p:nvSpPr>
        <p:spPr>
          <a:xfrm>
            <a:off x="3304046" y="1229041"/>
            <a:ext cx="2535900" cy="1522200"/>
          </a:xfrm>
          <a:prstGeom prst="rect">
            <a:avLst/>
          </a:prstGeom>
          <a:solidFill>
            <a:srgbClr val="C4EBF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uso de audífonos y cualquier elemento tecnológico no serán admitidos en clases.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3" name="Google Shape;193;g26466b3f153_0_171"/>
          <p:cNvSpPr txBox="1"/>
          <p:nvPr/>
        </p:nvSpPr>
        <p:spPr>
          <a:xfrm>
            <a:off x="6093680" y="1229041"/>
            <a:ext cx="2535900" cy="1522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uso de maquillajes, alisadores, espejos, etc. no están autorizados en clases.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4" name="Google Shape;194;g26466b3f153_0_171"/>
          <p:cNvSpPr txBox="1"/>
          <p:nvPr/>
        </p:nvSpPr>
        <p:spPr>
          <a:xfrm>
            <a:off x="514413" y="2950615"/>
            <a:ext cx="2535900" cy="152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se puede entrar con mochilas, bolsos de deporte o implementos deportivos a la sala temática.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5" name="Google Shape;195;g26466b3f153_0_171"/>
          <p:cNvSpPr txBox="1"/>
          <p:nvPr/>
        </p:nvSpPr>
        <p:spPr>
          <a:xfrm>
            <a:off x="3304046" y="2950615"/>
            <a:ext cx="2535900" cy="15222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 permiten botellas con agua, pero deben ser transparentes.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g26466b3f153_0_171"/>
          <p:cNvSpPr txBox="1"/>
          <p:nvPr/>
        </p:nvSpPr>
        <p:spPr>
          <a:xfrm>
            <a:off x="6093680" y="2950615"/>
            <a:ext cx="2535900" cy="15222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Nuestra sala no se puede convertir en una bodega para trabajos de otras asignaturas.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g26466b3f153_0_1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6466b3f153_0_182"/>
          <p:cNvSpPr txBox="1"/>
          <p:nvPr/>
        </p:nvSpPr>
        <p:spPr>
          <a:xfrm>
            <a:off x="1461925" y="1345712"/>
            <a:ext cx="2961900" cy="1461900"/>
          </a:xfrm>
          <a:prstGeom prst="rect">
            <a:avLst/>
          </a:prstGeom>
          <a:solidFill>
            <a:srgbClr val="E8F5D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Tienes 3 minutos para ingresar a ésta sala temática desde el timbre, después de eso quedará consignado el atraso en tu hoja de vida en el libro de clases en LIRMI.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3" name="Google Shape;203;g26466b3f153_0_182"/>
          <p:cNvSpPr txBox="1"/>
          <p:nvPr/>
        </p:nvSpPr>
        <p:spPr>
          <a:xfrm>
            <a:off x="4720175" y="1345712"/>
            <a:ext cx="2961900" cy="14619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mobiliario del aula se debe cuidar, si algún estudiante lo raya, rompe o destruye deberá reponerlo y además quedará registrado en su hoja de vida. 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4" name="Google Shape;204;g26466b3f153_0_182"/>
          <p:cNvSpPr txBox="1"/>
          <p:nvPr/>
        </p:nvSpPr>
        <p:spPr>
          <a:xfrm>
            <a:off x="1461925" y="3123331"/>
            <a:ext cx="2961900" cy="14619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 llegará a olvidar algún material de clase, no podrá salir de ésta a buscarlo.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26466b3f153_0_182"/>
          <p:cNvSpPr txBox="1"/>
          <p:nvPr/>
        </p:nvSpPr>
        <p:spPr>
          <a:xfrm>
            <a:off x="4720175" y="3123331"/>
            <a:ext cx="2961900" cy="1461900"/>
          </a:xfrm>
          <a:prstGeom prst="rect">
            <a:avLst/>
          </a:prstGeom>
          <a:solidFill>
            <a:srgbClr val="C4EBF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Está prohibido ir al baño, se autorizará solo casos de emergencia y situaciones excepcionales, previo aviso en convivencia escolar en wsp del ciclo.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6" name="Google Shape;206;g26466b3f153_0_182"/>
          <p:cNvSpPr txBox="1">
            <a:spLocks noGrp="1"/>
          </p:cNvSpPr>
          <p:nvPr>
            <p:ph type="title"/>
          </p:nvPr>
        </p:nvSpPr>
        <p:spPr>
          <a:xfrm>
            <a:off x="311700" y="292940"/>
            <a:ext cx="8520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 dirty="0"/>
              <a:t>En esta sala…</a:t>
            </a:r>
            <a:endParaRPr dirty="0"/>
          </a:p>
        </p:txBody>
      </p:sp>
      <p:pic>
        <p:nvPicPr>
          <p:cNvPr id="207" name="Google Shape;207;g26466b3f153_0_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6466b3f153_0_191"/>
          <p:cNvSpPr txBox="1">
            <a:spLocks noGrp="1"/>
          </p:cNvSpPr>
          <p:nvPr>
            <p:ph type="title"/>
          </p:nvPr>
        </p:nvSpPr>
        <p:spPr>
          <a:xfrm>
            <a:off x="311700" y="292940"/>
            <a:ext cx="8520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 dirty="0"/>
              <a:t>En esta sala…</a:t>
            </a:r>
            <a:endParaRPr dirty="0"/>
          </a:p>
        </p:txBody>
      </p:sp>
      <p:pic>
        <p:nvPicPr>
          <p:cNvPr id="213" name="Google Shape;213;g26466b3f153_0_1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26466b3f153_0_191"/>
          <p:cNvSpPr txBox="1"/>
          <p:nvPr/>
        </p:nvSpPr>
        <p:spPr>
          <a:xfrm>
            <a:off x="535076" y="1366665"/>
            <a:ext cx="2428800" cy="17778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 el cuaderno se registra: nº de clase, fecha, unidad y objetivo,  las actividades y retroalimentaciones de estas y evaluaciones. (se revisan en clases).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5" name="Google Shape;215;g26466b3f153_0_191"/>
          <p:cNvSpPr txBox="1"/>
          <p:nvPr/>
        </p:nvSpPr>
        <p:spPr>
          <a:xfrm>
            <a:off x="6070375" y="1366665"/>
            <a:ext cx="2428800" cy="17778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Hacer buen uso de los contenedores de reciclaje, apoyando a los agentes de cambio.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g26466b3f153_0_191"/>
          <p:cNvSpPr txBox="1"/>
          <p:nvPr/>
        </p:nvSpPr>
        <p:spPr>
          <a:xfrm>
            <a:off x="3278701" y="1366665"/>
            <a:ext cx="2586600" cy="17778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Siempre tomar apuntes en clases (la memoria es frágil, no todo está en el PPT y no usaremos Classroom)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7" name="Google Shape;217;g26466b3f153_0_191"/>
          <p:cNvSpPr txBox="1"/>
          <p:nvPr/>
        </p:nvSpPr>
        <p:spPr>
          <a:xfrm>
            <a:off x="3278701" y="3262540"/>
            <a:ext cx="2586600" cy="17778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contar con sus materiales básicos de clases, quedará registrado en su hoja de vida (cuaderno, libro, lápiz, carpeta, guías, etc)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6466b3f153_0_200"/>
          <p:cNvSpPr txBox="1">
            <a:spLocks noGrp="1"/>
          </p:cNvSpPr>
          <p:nvPr>
            <p:ph type="title"/>
          </p:nvPr>
        </p:nvSpPr>
        <p:spPr>
          <a:xfrm>
            <a:off x="311700" y="292940"/>
            <a:ext cx="8520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 sz="4800"/>
              <a:t>¡IMPORTANTE!</a:t>
            </a:r>
            <a:endParaRPr sz="4800"/>
          </a:p>
        </p:txBody>
      </p:sp>
      <p:grpSp>
        <p:nvGrpSpPr>
          <p:cNvPr id="223" name="Google Shape;223;g26466b3f153_0_200"/>
          <p:cNvGrpSpPr/>
          <p:nvPr/>
        </p:nvGrpSpPr>
        <p:grpSpPr>
          <a:xfrm>
            <a:off x="1471620" y="1405000"/>
            <a:ext cx="7300755" cy="2258177"/>
            <a:chOff x="1732707" y="3851905"/>
            <a:chExt cx="7300755" cy="2257500"/>
          </a:xfrm>
        </p:grpSpPr>
        <p:sp>
          <p:nvSpPr>
            <p:cNvPr id="224" name="Google Shape;224;g26466b3f153_0_200"/>
            <p:cNvSpPr txBox="1"/>
            <p:nvPr/>
          </p:nvSpPr>
          <p:spPr>
            <a:xfrm>
              <a:off x="1732707" y="3851908"/>
              <a:ext cx="3515100" cy="2182500"/>
            </a:xfrm>
            <a:prstGeom prst="rect">
              <a:avLst/>
            </a:prstGeom>
            <a:solidFill>
              <a:srgbClr val="A7FFE0">
                <a:alpha val="27058"/>
              </a:srgbClr>
            </a:solidFill>
            <a:ln w="9525" cap="flat" cmpd="sng">
              <a:solidFill>
                <a:srgbClr val="003A4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Century Gothic"/>
                <a:buNone/>
              </a:pPr>
              <a:r>
                <a:rPr lang="es-419" sz="1500" b="1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Cualquier llamada personal no podrá ser contestada, ya que el apoderado debe informar a secretaria o convivencia escolar si acontece algo infrecuente; y éstos informarán al educando.</a:t>
              </a:r>
              <a:endParaRPr sz="15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5" name="Google Shape;225;g26466b3f153_0_200"/>
            <p:cNvSpPr txBox="1"/>
            <p:nvPr/>
          </p:nvSpPr>
          <p:spPr>
            <a:xfrm>
              <a:off x="5518362" y="3851905"/>
              <a:ext cx="3515100" cy="2257500"/>
            </a:xfrm>
            <a:prstGeom prst="rect">
              <a:avLst/>
            </a:prstGeom>
            <a:solidFill>
              <a:srgbClr val="A7FFE0">
                <a:alpha val="27058"/>
              </a:srgbClr>
            </a:solidFill>
            <a:ln w="9525" cap="flat" cmpd="sng">
              <a:solidFill>
                <a:srgbClr val="003A4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Century Gothic"/>
                <a:buNone/>
              </a:pPr>
              <a:r>
                <a:rPr lang="es-419" sz="1500" b="1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En caso de pérdida de la llave del candado, el estudiante debe informar a Convivencia Escolar e Inspectoría, quién solicitará la apertura del lockers. Por ningún motivo el estudiante debe intentar abrirlo por su cuenta y menos tratar de forzarlo.</a:t>
              </a:r>
              <a:endParaRPr sz="15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226" name="Google Shape;226;g26466b3f153_0_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26466b3f153_0_200"/>
          <p:cNvSpPr txBox="1"/>
          <p:nvPr/>
        </p:nvSpPr>
        <p:spPr>
          <a:xfrm>
            <a:off x="1471625" y="3813076"/>
            <a:ext cx="3515100" cy="1332000"/>
          </a:xfrm>
          <a:prstGeom prst="rect">
            <a:avLst/>
          </a:prstGeom>
          <a:solidFill>
            <a:srgbClr val="A7FFE0">
              <a:alpha val="27058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entury Gothic"/>
              <a:buNone/>
            </a:pPr>
            <a:r>
              <a:rPr lang="es-419" sz="15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 usted tiene un inconveniente en clases, SIEMPRE AVISAR AL PROFESOR EN EL MOMENTO.</a:t>
            </a:r>
            <a:endParaRPr sz="15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8" name="Google Shape;228;g26466b3f153_0_200"/>
          <p:cNvSpPr txBox="1"/>
          <p:nvPr/>
        </p:nvSpPr>
        <p:spPr>
          <a:xfrm>
            <a:off x="5257275" y="3813076"/>
            <a:ext cx="3515100" cy="1332000"/>
          </a:xfrm>
          <a:prstGeom prst="rect">
            <a:avLst/>
          </a:prstGeom>
          <a:solidFill>
            <a:srgbClr val="A7FFE0">
              <a:alpha val="27058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entury Gothic"/>
              <a:buNone/>
            </a:pPr>
            <a:r>
              <a:rPr lang="es-419" sz="15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 de su responsabilidad CUIDAR SUS MATERIALES. En esta sala no puede dejar sus materiales y trabajos.</a:t>
            </a:r>
            <a:endParaRPr sz="15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g26466b3f153_0_210"/>
          <p:cNvGrpSpPr/>
          <p:nvPr/>
        </p:nvGrpSpPr>
        <p:grpSpPr>
          <a:xfrm>
            <a:off x="653800" y="1314278"/>
            <a:ext cx="7836396" cy="3368473"/>
            <a:chOff x="0" y="-132"/>
            <a:chExt cx="8520600" cy="3867363"/>
          </a:xfrm>
        </p:grpSpPr>
        <p:sp>
          <p:nvSpPr>
            <p:cNvPr id="234" name="Google Shape;234;g26466b3f153_0_210"/>
            <p:cNvSpPr/>
            <p:nvPr/>
          </p:nvSpPr>
          <p:spPr>
            <a:xfrm>
              <a:off x="0" y="2335131"/>
              <a:ext cx="8520600" cy="1532100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g26466b3f153_0_210"/>
            <p:cNvSpPr txBox="1"/>
            <p:nvPr/>
          </p:nvSpPr>
          <p:spPr>
            <a:xfrm>
              <a:off x="0" y="2335131"/>
              <a:ext cx="8520600" cy="1532100"/>
            </a:xfrm>
            <a:prstGeom prst="rect">
              <a:avLst/>
            </a:prstGeom>
            <a:solidFill>
              <a:srgbClr val="FFFB98"/>
            </a:solidFill>
            <a:ln>
              <a:noFill/>
            </a:ln>
          </p:spPr>
          <p:txBody>
            <a:bodyPr spcFirstLastPara="1" wrap="square" lIns="163575" tIns="163575" rIns="163575" bIns="163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Century Gothic"/>
                <a:buNone/>
              </a:pPr>
              <a:r>
                <a:rPr lang="es-419" sz="23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Cada profesor que haga uso de la sala temática podrá instaurar sus propios acuerdos, considerando las necesidades de su asignatura.</a:t>
              </a:r>
              <a:endParaRPr sz="23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6" name="Google Shape;236;g26466b3f153_0_210"/>
            <p:cNvSpPr/>
            <p:nvPr/>
          </p:nvSpPr>
          <p:spPr>
            <a:xfrm rot="10800000">
              <a:off x="0" y="-132"/>
              <a:ext cx="8520600" cy="2356500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rgbClr val="95E2D1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26466b3f153_0_210"/>
            <p:cNvSpPr txBox="1"/>
            <p:nvPr/>
          </p:nvSpPr>
          <p:spPr>
            <a:xfrm>
              <a:off x="0" y="0"/>
              <a:ext cx="8520600" cy="153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63575" tIns="163575" rIns="163575" bIns="163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Century Gothic"/>
                <a:buNone/>
              </a:pPr>
              <a:r>
                <a:rPr lang="es-419" sz="23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 dejará registro (observación neutra) si acontece alguna situación atípica en el quehacer cotidiano. (Por ejemplo, ir a enfermería, protocolo “tomar aire”, etc.)</a:t>
              </a:r>
              <a:endParaRPr sz="23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238" name="Google Shape;238;g26466b3f153_0_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6466b3f153_0_219"/>
          <p:cNvSpPr txBox="1">
            <a:spLocks noGrp="1"/>
          </p:cNvSpPr>
          <p:nvPr>
            <p:ph type="body" idx="1"/>
          </p:nvPr>
        </p:nvSpPr>
        <p:spPr>
          <a:xfrm>
            <a:off x="311700" y="1229051"/>
            <a:ext cx="8520600" cy="3341100"/>
          </a:xfrm>
          <a:prstGeom prst="rect">
            <a:avLst/>
          </a:prstGeom>
          <a:solidFill>
            <a:srgbClr val="95E2D1">
              <a:alpha val="49019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s-419" sz="2600" b="1"/>
              <a:t>Queda estrictamente prohibido ingerir alimentos en esta aula temática, ya que es laboratorio.</a:t>
            </a:r>
            <a:endParaRPr sz="2600" b="1"/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600" b="1"/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s-419" sz="2600" b="1"/>
              <a:t>No se puede manipular el material que no corresponde a la clase impartida.</a:t>
            </a:r>
            <a:endParaRPr sz="2600" b="1"/>
          </a:p>
        </p:txBody>
      </p:sp>
      <p:sp>
        <p:nvSpPr>
          <p:cNvPr id="245" name="Google Shape;245;g26466b3f153_0_219"/>
          <p:cNvSpPr txBox="1">
            <a:spLocks noGrp="1"/>
          </p:cNvSpPr>
          <p:nvPr>
            <p:ph type="sldNum" idx="12"/>
          </p:nvPr>
        </p:nvSpPr>
        <p:spPr>
          <a:xfrm>
            <a:off x="8472458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419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lt1"/>
          </a:solidFill>
          <a:ln w="9525" cap="flat" cmpd="sng">
            <a:solidFill>
              <a:srgbClr val="1C1C1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dirty="0"/>
              <a:t>CLASE N°: </a:t>
            </a:r>
            <a:r>
              <a:rPr lang="es-CL" dirty="0"/>
              <a:t>32</a:t>
            </a:r>
            <a:endParaRPr dirty="0"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8BE08EA-8FE3-9968-869A-4A22B21D4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914807"/>
            <a:ext cx="3868800" cy="2851098"/>
          </a:xfrm>
          <a:ln>
            <a:solidFill>
              <a:schemeClr val="bg2"/>
            </a:solidFill>
          </a:ln>
        </p:spPr>
        <p:txBody>
          <a:bodyPr/>
          <a:lstStyle/>
          <a:p>
            <a:r>
              <a:t>UNIDAD: </a:t>
            </a:r>
          </a:p>
          <a:p>
            <a:r>
              <a:t>Disoluciones y Propiedades Coligativas</a:t>
            </a:r>
          </a:p>
          <a:p>
            <a:endParaRPr/>
          </a:p>
          <a:p>
            <a:r>
              <a:t>CONTENIDOS:</a:t>
            </a:r>
          </a:p>
          <a:p>
            <a:r>
              <a:t>Dilución, Solubilidad y Propiedades Coligativas</a:t>
            </a:r>
          </a:p>
          <a:p>
            <a:endParaRPr/>
          </a:p>
        </p:txBody>
      </p:sp>
      <p:sp>
        <p:nvSpPr>
          <p:cNvPr id="276" name="Google Shape;276;p2"/>
          <p:cNvSpPr txBox="1">
            <a:spLocks noGrp="1"/>
          </p:cNvSpPr>
          <p:nvPr>
            <p:ph type="body" idx="2"/>
          </p:nvPr>
        </p:nvSpPr>
        <p:spPr>
          <a:xfrm>
            <a:off x="630238" y="3892905"/>
            <a:ext cx="7886612" cy="102199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dirty="0"/>
              <a:t>OA:  </a:t>
            </a:r>
            <a:r>
              <a:rPr dirty="0" err="1"/>
              <a:t>Comprender</a:t>
            </a:r>
            <a:r>
              <a:rPr dirty="0"/>
              <a:t> y </a:t>
            </a:r>
            <a:r>
              <a:rPr dirty="0" err="1"/>
              <a:t>aplicar</a:t>
            </a:r>
            <a:r>
              <a:rPr dirty="0"/>
              <a:t> </a:t>
            </a:r>
            <a:r>
              <a:rPr dirty="0" err="1"/>
              <a:t>conceptos</a:t>
            </a:r>
            <a:r>
              <a:rPr dirty="0"/>
              <a:t> clave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dilución</a:t>
            </a:r>
            <a:r>
              <a:rPr dirty="0"/>
              <a:t>, </a:t>
            </a:r>
            <a:r>
              <a:rPr dirty="0" err="1"/>
              <a:t>solubilidad</a:t>
            </a:r>
            <a:r>
              <a:rPr dirty="0"/>
              <a:t> y </a:t>
            </a:r>
            <a:r>
              <a:rPr dirty="0" err="1"/>
              <a:t>propiedades</a:t>
            </a:r>
            <a:r>
              <a:rPr dirty="0"/>
              <a:t> coligativas.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8D92AB-CD0A-9AD2-3F98-0A25564F0E8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914808"/>
            <a:ext cx="3887700" cy="2223606"/>
          </a:xfrm>
          <a:ln>
            <a:solidFill>
              <a:schemeClr val="bg2"/>
            </a:solidFill>
          </a:ln>
        </p:spPr>
        <p:txBody>
          <a:bodyPr/>
          <a:lstStyle/>
          <a:p>
            <a:r>
              <a:rPr dirty="0"/>
              <a:t>HABILIDADES:</a:t>
            </a:r>
          </a:p>
          <a:p>
            <a:r>
              <a:rPr dirty="0" err="1"/>
              <a:t>Análisis</a:t>
            </a:r>
            <a:r>
              <a:rPr dirty="0"/>
              <a:t>, </a:t>
            </a:r>
            <a:r>
              <a:rPr dirty="0" err="1"/>
              <a:t>reflexión</a:t>
            </a:r>
            <a:r>
              <a:rPr dirty="0"/>
              <a:t>, </a:t>
            </a:r>
            <a:r>
              <a:rPr dirty="0" err="1"/>
              <a:t>comunicación</a:t>
            </a:r>
            <a:r>
              <a:rPr dirty="0"/>
              <a:t> </a:t>
            </a:r>
            <a:r>
              <a:rPr dirty="0" err="1"/>
              <a:t>científica</a:t>
            </a:r>
            <a:endParaRPr dirty="0"/>
          </a:p>
          <a:p>
            <a:endParaRPr dirty="0"/>
          </a:p>
        </p:txBody>
      </p:sp>
      <p:sp>
        <p:nvSpPr>
          <p:cNvPr id="277" name="Google Shape;277;p2"/>
          <p:cNvSpPr txBox="1">
            <a:spLocks noGrp="1"/>
          </p:cNvSpPr>
          <p:nvPr>
            <p:ph type="body" idx="4"/>
          </p:nvPr>
        </p:nvSpPr>
        <p:spPr>
          <a:xfrm>
            <a:off x="4629150" y="3265414"/>
            <a:ext cx="3887700" cy="50049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dirty="0"/>
              <a:t>VIRTUD: </a:t>
            </a:r>
            <a:r>
              <a:rPr lang="es-CL" dirty="0"/>
              <a:t>EMPATÍA</a:t>
            </a:r>
            <a:endParaRPr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43C29C-BF0B-CCA1-7044-B6DA351487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FECHA: 22-06-2026</a:t>
            </a:r>
          </a:p>
        </p:txBody>
      </p:sp>
      <p:sp>
        <p:nvSpPr>
          <p:cNvPr id="278" name="Google Shape;278;p2"/>
          <p:cNvSpPr txBox="1">
            <a:spLocks noGrp="1"/>
          </p:cNvSpPr>
          <p:nvPr>
            <p:ph type="sldNum" idx="4294967295"/>
          </p:nvPr>
        </p:nvSpPr>
        <p:spPr>
          <a:xfrm>
            <a:off x="7021513" y="4787900"/>
            <a:ext cx="2122487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s-419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792B0A-F08E-70F2-1140-46E863D5B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000" y="236127"/>
            <a:ext cx="6912000" cy="750371"/>
          </a:xfrm>
        </p:spPr>
        <p:txBody>
          <a:bodyPr/>
          <a:lstStyle/>
          <a:p>
            <a:r>
              <a:rPr lang="es-419" b="1" dirty="0">
                <a:solidFill>
                  <a:srgbClr val="000000"/>
                </a:solidFill>
              </a:rPr>
              <a:t>OBJETIVO  DE LA CLASE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04974D-B368-6207-DCC3-6359F360F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0756" y="3025106"/>
            <a:ext cx="6912000" cy="1762794"/>
          </a:xfrm>
        </p:spPr>
        <p:txBody>
          <a:bodyPr/>
          <a:lstStyle/>
          <a:p>
            <a:r>
              <a:t> Al finalizar la clase, el estudiante será capaz de explicar y ejemplificar dilución, solubilidad y propiedades coligativas.</a:t>
            </a:r>
          </a:p>
          <a:p>
            <a:endParaRPr/>
          </a:p>
        </p:txBody>
      </p:sp>
      <p:sp>
        <p:nvSpPr>
          <p:cNvPr id="286" name="Google Shape;286;gea80fbcc6e_1_1"/>
          <p:cNvSpPr txBox="1">
            <a:spLocks noGrp="1"/>
          </p:cNvSpPr>
          <p:nvPr>
            <p:ph type="sldNum" idx="4294967295"/>
          </p:nvPr>
        </p:nvSpPr>
        <p:spPr>
          <a:xfrm>
            <a:off x="7021513" y="4787900"/>
            <a:ext cx="2122487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419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Inicio: Activación de Conocimientos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¿Qué sucede cuando agregamos agua a un jugo concentrado? ¿Por qué la sal funde la nieve en las carreteras? Repasemos los conceptos de soluto, solvente y disolución.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 la Clase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 de la Clase: Comprender y aplicar los conceptos de dilución, solubilidad y propiedades coligativas, resolviendo ejercicios prácticos y analizando fenómenos físicos.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Concepto</a:t>
            </a:r>
            <a:r>
              <a:rPr dirty="0"/>
              <a:t> </a:t>
            </a:r>
            <a:r>
              <a:rPr lang="es-CL" dirty="0"/>
              <a:t>1</a:t>
            </a:r>
            <a:r>
              <a:rPr dirty="0"/>
              <a:t>: </a:t>
            </a:r>
            <a:r>
              <a:rPr dirty="0" err="1"/>
              <a:t>Dilución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La </a:t>
            </a:r>
            <a:r>
              <a:rPr dirty="0" err="1"/>
              <a:t>dilución</a:t>
            </a:r>
            <a:r>
              <a:rPr dirty="0"/>
              <a:t> es el </a:t>
            </a:r>
            <a:r>
              <a:rPr dirty="0" err="1"/>
              <a:t>proceso</a:t>
            </a:r>
            <a:r>
              <a:rPr dirty="0"/>
              <a:t> de </a:t>
            </a:r>
            <a:r>
              <a:rPr dirty="0" err="1"/>
              <a:t>reducir</a:t>
            </a:r>
            <a:r>
              <a:rPr dirty="0"/>
              <a:t> la </a:t>
            </a:r>
            <a:r>
              <a:rPr dirty="0" err="1"/>
              <a:t>concentración</a:t>
            </a:r>
            <a:r>
              <a:rPr dirty="0"/>
              <a:t> de un </a:t>
            </a:r>
            <a:r>
              <a:rPr dirty="0" err="1"/>
              <a:t>soluto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disolución</a:t>
            </a:r>
            <a:r>
              <a:rPr dirty="0"/>
              <a:t> </a:t>
            </a:r>
            <a:r>
              <a:rPr dirty="0" err="1"/>
              <a:t>añadiendo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solvente</a:t>
            </a:r>
            <a:r>
              <a:rPr dirty="0"/>
              <a:t>. Es fundamental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laboratorios</a:t>
            </a:r>
            <a:r>
              <a:rPr dirty="0"/>
              <a:t> para </a:t>
            </a:r>
            <a:r>
              <a:rPr dirty="0" err="1"/>
              <a:t>preparar</a:t>
            </a:r>
            <a:r>
              <a:rPr dirty="0"/>
              <a:t> </a:t>
            </a:r>
            <a:r>
              <a:rPr dirty="0" err="1"/>
              <a:t>soluciones</a:t>
            </a:r>
            <a:r>
              <a:rPr dirty="0"/>
              <a:t> de </a:t>
            </a:r>
            <a:r>
              <a:rPr dirty="0" err="1"/>
              <a:t>trabajo</a:t>
            </a:r>
            <a:r>
              <a:rPr dirty="0"/>
              <a:t> a </a:t>
            </a:r>
            <a:r>
              <a:rPr dirty="0" err="1"/>
              <a:t>partir</a:t>
            </a:r>
            <a:r>
              <a:rPr dirty="0"/>
              <a:t> de </a:t>
            </a:r>
            <a:r>
              <a:rPr dirty="0" err="1"/>
              <a:t>soluciones</a:t>
            </a:r>
            <a:r>
              <a:rPr dirty="0"/>
              <a:t> madre.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357213" y="1306669"/>
            <a:ext cx="6402367" cy="3106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L" sz="1050" dirty="0"/>
              <a:t>Se toman 10 </a:t>
            </a:r>
            <a:r>
              <a:rPr lang="es-CL" sz="1050" dirty="0" err="1"/>
              <a:t>mL</a:t>
            </a:r>
            <a:r>
              <a:rPr lang="es-CL" sz="1050" dirty="0"/>
              <a:t> de una disolución 1 de concentración 5,0 mol/L y se traspasan a un matraz aforado de 100 </a:t>
            </a:r>
            <a:r>
              <a:rPr lang="es-CL" sz="1050" dirty="0" err="1"/>
              <a:t>mL</a:t>
            </a:r>
            <a:r>
              <a:rPr lang="es-CL" sz="1050" dirty="0"/>
              <a:t>, completando el volumen con disolvente. A continuación, se toman 10 </a:t>
            </a:r>
            <a:r>
              <a:rPr lang="es-CL" sz="1050" dirty="0" err="1"/>
              <a:t>mL</a:t>
            </a:r>
            <a:r>
              <a:rPr lang="es-CL" sz="1050" dirty="0"/>
              <a:t> de la disolución 2 y se aforan en un matraz de      50 </a:t>
            </a:r>
            <a:r>
              <a:rPr lang="es-CL" sz="1050" dirty="0" err="1"/>
              <a:t>mL</a:t>
            </a:r>
            <a:r>
              <a:rPr lang="es-CL" sz="1050" dirty="0"/>
              <a:t>. </a:t>
            </a:r>
          </a:p>
          <a:p>
            <a:pPr algn="just"/>
            <a:endParaRPr lang="es-CL" sz="1050" dirty="0"/>
          </a:p>
          <a:p>
            <a:pPr algn="just"/>
            <a:endParaRPr lang="es-CL" sz="1050" dirty="0"/>
          </a:p>
          <a:p>
            <a:pPr algn="just"/>
            <a:endParaRPr lang="es-CL" sz="1050" dirty="0"/>
          </a:p>
          <a:p>
            <a:pPr algn="just"/>
            <a:endParaRPr lang="es-CL" sz="1050" dirty="0"/>
          </a:p>
          <a:p>
            <a:pPr algn="just"/>
            <a:endParaRPr lang="es-CL" sz="1050" dirty="0"/>
          </a:p>
          <a:p>
            <a:pPr algn="just"/>
            <a:endParaRPr lang="es-CL" sz="1050" dirty="0"/>
          </a:p>
          <a:p>
            <a:pPr algn="just"/>
            <a:endParaRPr lang="es-CL" sz="1050" dirty="0"/>
          </a:p>
          <a:p>
            <a:pPr algn="just"/>
            <a:endParaRPr lang="es-CL" sz="1050" dirty="0"/>
          </a:p>
          <a:p>
            <a:pPr algn="just"/>
            <a:r>
              <a:rPr lang="es-CL" sz="1050" dirty="0"/>
              <a:t>De acuerdo a esta información, ¿cuál es la concentración de la disolución 3? </a:t>
            </a:r>
          </a:p>
          <a:p>
            <a:pPr algn="just"/>
            <a:endParaRPr lang="es-CL" sz="1050" dirty="0"/>
          </a:p>
          <a:p>
            <a:pPr marL="257244" indent="-257244" algn="just">
              <a:lnSpc>
                <a:spcPct val="115000"/>
              </a:lnSpc>
              <a:buFont typeface="+mj-lt"/>
              <a:buAutoNum type="alphaUcParenR"/>
            </a:pPr>
            <a:r>
              <a:rPr lang="es-CL" sz="1050" dirty="0">
                <a:latin typeface="+mj-lt"/>
                <a:ea typeface="Calibri"/>
                <a:cs typeface="Times New Roman"/>
              </a:rPr>
              <a:t>0,01 mol/L </a:t>
            </a:r>
          </a:p>
          <a:p>
            <a:pPr marL="257244" indent="-257244" algn="just">
              <a:lnSpc>
                <a:spcPct val="115000"/>
              </a:lnSpc>
              <a:buFont typeface="+mj-lt"/>
              <a:buAutoNum type="alphaUcParenR"/>
            </a:pPr>
            <a:r>
              <a:rPr lang="es-CL" sz="1050" dirty="0">
                <a:latin typeface="+mj-lt"/>
                <a:ea typeface="Calibri"/>
                <a:cs typeface="Times New Roman"/>
              </a:rPr>
              <a:t>0,10 mol/L </a:t>
            </a:r>
          </a:p>
          <a:p>
            <a:pPr marL="257244" indent="-257244" algn="just">
              <a:lnSpc>
                <a:spcPct val="115000"/>
              </a:lnSpc>
              <a:buFont typeface="+mj-lt"/>
              <a:buAutoNum type="alphaUcParenR"/>
            </a:pPr>
            <a:r>
              <a:rPr lang="es-CL" sz="1050" dirty="0">
                <a:latin typeface="+mj-lt"/>
                <a:ea typeface="Calibri"/>
                <a:cs typeface="Times New Roman"/>
              </a:rPr>
              <a:t>0,25 mol/L </a:t>
            </a:r>
          </a:p>
          <a:p>
            <a:pPr marL="257244" indent="-257244" algn="just">
              <a:lnSpc>
                <a:spcPct val="115000"/>
              </a:lnSpc>
              <a:buFont typeface="+mj-lt"/>
              <a:buAutoNum type="alphaUcParenR"/>
            </a:pPr>
            <a:r>
              <a:rPr lang="es-CL" sz="1050" dirty="0">
                <a:latin typeface="+mj-lt"/>
                <a:ea typeface="Calibri"/>
                <a:cs typeface="Times New Roman"/>
              </a:rPr>
              <a:t>0,50 mol/L </a:t>
            </a:r>
          </a:p>
          <a:p>
            <a:pPr marL="257244" indent="-257244" algn="just">
              <a:lnSpc>
                <a:spcPct val="115000"/>
              </a:lnSpc>
              <a:spcAft>
                <a:spcPts val="750"/>
              </a:spcAft>
              <a:buFont typeface="+mj-lt"/>
              <a:buAutoNum type="alphaUcParenR"/>
            </a:pPr>
            <a:r>
              <a:rPr lang="es-CL" sz="1050" dirty="0">
                <a:latin typeface="+mj-lt"/>
                <a:ea typeface="Calibri"/>
                <a:cs typeface="Times New Roman"/>
              </a:rPr>
              <a:t>1,00 mol/L</a:t>
            </a:r>
            <a:endParaRPr lang="es-CL" sz="105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2722" y="1956356"/>
            <a:ext cx="2763754" cy="1830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9 Llamada rectangular redondeada"/>
          <p:cNvSpPr/>
          <p:nvPr/>
        </p:nvSpPr>
        <p:spPr>
          <a:xfrm>
            <a:off x="5703871" y="2171032"/>
            <a:ext cx="1942649" cy="592468"/>
          </a:xfrm>
          <a:prstGeom prst="wedgeRoundRectCallout">
            <a:avLst>
              <a:gd name="adj1" fmla="val -24914"/>
              <a:gd name="adj2" fmla="val -89970"/>
              <a:gd name="adj3" fmla="val 16667"/>
            </a:avLst>
          </a:prstGeom>
          <a:solidFill>
            <a:srgbClr val="00B050">
              <a:alpha val="25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8" rIns="27008" rtlCol="0" anchor="ctr"/>
          <a:lstStyle/>
          <a:p>
            <a:pPr algn="ctr"/>
            <a:r>
              <a:rPr lang="es-CL" sz="1050" dirty="0">
                <a:solidFill>
                  <a:schemeClr val="tx1"/>
                </a:solidFill>
              </a:rPr>
              <a:t>¿Qué ocurrirá al agregar más solvente a un volumen dado de solución?</a:t>
            </a:r>
          </a:p>
        </p:txBody>
      </p:sp>
      <p:sp>
        <p:nvSpPr>
          <p:cNvPr id="11" name="10 Llamada rectangular redondeada"/>
          <p:cNvSpPr/>
          <p:nvPr/>
        </p:nvSpPr>
        <p:spPr>
          <a:xfrm>
            <a:off x="5706477" y="2981373"/>
            <a:ext cx="1940043" cy="529858"/>
          </a:xfrm>
          <a:prstGeom prst="wedgeRoundRectCallout">
            <a:avLst>
              <a:gd name="adj1" fmla="val -24914"/>
              <a:gd name="adj2" fmla="val -89970"/>
              <a:gd name="adj3" fmla="val 16667"/>
            </a:avLst>
          </a:prstGeom>
          <a:solidFill>
            <a:srgbClr val="00B050">
              <a:alpha val="25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8" rIns="27008" rtlCol="0" anchor="ctr"/>
          <a:lstStyle/>
          <a:p>
            <a:pPr algn="ctr"/>
            <a:r>
              <a:rPr lang="es-CL" sz="1050" dirty="0">
                <a:solidFill>
                  <a:schemeClr val="tx1"/>
                </a:solidFill>
              </a:rPr>
              <a:t>¿Cambian la cantidad de soluto y la concentración?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4139819" y="1529959"/>
            <a:ext cx="3349405" cy="216332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L" sz="105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31EB4BA-E274-15CE-558C-F0878C762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213" y="279852"/>
            <a:ext cx="7521293" cy="801300"/>
          </a:xfrm>
        </p:spPr>
        <p:txBody>
          <a:bodyPr/>
          <a:lstStyle/>
          <a:p>
            <a:r>
              <a:rPr lang="es-CL" dirty="0"/>
              <a:t>1. Dilución</a:t>
            </a:r>
          </a:p>
        </p:txBody>
      </p:sp>
    </p:spTree>
    <p:extLst>
      <p:ext uri="{BB962C8B-B14F-4D97-AF65-F5344CB8AC3E}">
        <p14:creationId xmlns:p14="http://schemas.microsoft.com/office/powerpoint/2010/main" val="1504957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6" descr="Resultado de imagen para mug draw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615" y="2100488"/>
            <a:ext cx="2052861" cy="19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3 Grupo"/>
          <p:cNvGrpSpPr/>
          <p:nvPr/>
        </p:nvGrpSpPr>
        <p:grpSpPr>
          <a:xfrm>
            <a:off x="3242925" y="2117925"/>
            <a:ext cx="2052861" cy="1957917"/>
            <a:chOff x="5508104" y="2799786"/>
            <a:chExt cx="2736304" cy="2609751"/>
          </a:xfrm>
        </p:grpSpPr>
        <p:grpSp>
          <p:nvGrpSpPr>
            <p:cNvPr id="44" name="43 Grupo"/>
            <p:cNvGrpSpPr/>
            <p:nvPr/>
          </p:nvGrpSpPr>
          <p:grpSpPr>
            <a:xfrm>
              <a:off x="5508104" y="2799786"/>
              <a:ext cx="2736304" cy="2609751"/>
              <a:chOff x="3419873" y="1036042"/>
              <a:chExt cx="2736304" cy="2609751"/>
            </a:xfrm>
          </p:grpSpPr>
          <p:pic>
            <p:nvPicPr>
              <p:cNvPr id="45" name="Picture 6" descr="Resultado de imagen para mug drawi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19873" y="1036042"/>
                <a:ext cx="2736304" cy="26097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6" name="45 Datos almacenados"/>
              <p:cNvSpPr/>
              <p:nvPr/>
            </p:nvSpPr>
            <p:spPr>
              <a:xfrm rot="16200000">
                <a:off x="3706673" y="1901385"/>
                <a:ext cx="1528846" cy="1670400"/>
              </a:xfrm>
              <a:prstGeom prst="flowChartOnlineStorage">
                <a:avLst/>
              </a:prstGeom>
              <a:solidFill>
                <a:srgbClr val="996633">
                  <a:alpha val="66000"/>
                </a:srgbClr>
              </a:solidFill>
              <a:ln>
                <a:solidFill>
                  <a:srgbClr val="9966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sz="1050"/>
              </a:p>
            </p:txBody>
          </p:sp>
          <p:sp>
            <p:nvSpPr>
              <p:cNvPr id="47" name="46 Elipse"/>
              <p:cNvSpPr/>
              <p:nvPr/>
            </p:nvSpPr>
            <p:spPr>
              <a:xfrm>
                <a:off x="3636000" y="1756123"/>
                <a:ext cx="1670400" cy="504056"/>
              </a:xfrm>
              <a:prstGeom prst="ellipse">
                <a:avLst/>
              </a:prstGeom>
              <a:solidFill>
                <a:srgbClr val="663300">
                  <a:alpha val="75000"/>
                </a:srgbClr>
              </a:solidFill>
              <a:ln>
                <a:solidFill>
                  <a:srgbClr val="9966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sz="1050"/>
              </a:p>
            </p:txBody>
          </p:sp>
        </p:grpSp>
        <p:sp>
          <p:nvSpPr>
            <p:cNvPr id="48" name="47 CuadroTexto"/>
            <p:cNvSpPr txBox="1"/>
            <p:nvPr/>
          </p:nvSpPr>
          <p:spPr>
            <a:xfrm>
              <a:off x="5692699" y="4545124"/>
              <a:ext cx="1831628" cy="43075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257244" indent="-257244" algn="ctr"/>
              <a:r>
                <a:rPr lang="es-CL" sz="1500" b="1" dirty="0">
                  <a:solidFill>
                    <a:schemeClr val="tx1"/>
                  </a:solidFill>
                  <a:latin typeface="Arial" charset="0"/>
                  <a:cs typeface="Arial" charset="0"/>
                </a:rPr>
                <a:t>1 taza</a:t>
              </a:r>
            </a:p>
          </p:txBody>
        </p:sp>
      </p:grpSp>
      <p:grpSp>
        <p:nvGrpSpPr>
          <p:cNvPr id="3" name="2 Grupo"/>
          <p:cNvGrpSpPr/>
          <p:nvPr/>
        </p:nvGrpSpPr>
        <p:grpSpPr>
          <a:xfrm>
            <a:off x="3231615" y="2085631"/>
            <a:ext cx="2052861" cy="1957917"/>
            <a:chOff x="3024000" y="2095906"/>
            <a:chExt cx="2736304" cy="2609751"/>
          </a:xfrm>
        </p:grpSpPr>
        <p:grpSp>
          <p:nvGrpSpPr>
            <p:cNvPr id="20" name="19 Grupo"/>
            <p:cNvGrpSpPr/>
            <p:nvPr/>
          </p:nvGrpSpPr>
          <p:grpSpPr>
            <a:xfrm>
              <a:off x="3024000" y="2095906"/>
              <a:ext cx="2736304" cy="2609751"/>
              <a:chOff x="3433444" y="1036042"/>
              <a:chExt cx="2736304" cy="2609751"/>
            </a:xfrm>
          </p:grpSpPr>
          <p:pic>
            <p:nvPicPr>
              <p:cNvPr id="21" name="Picture 6" descr="Resultado de imagen para mug drawi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33444" y="1036042"/>
                <a:ext cx="2736304" cy="26097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21 Elipse"/>
              <p:cNvSpPr/>
              <p:nvPr/>
            </p:nvSpPr>
            <p:spPr>
              <a:xfrm>
                <a:off x="3636000" y="2448000"/>
                <a:ext cx="1684800" cy="288000"/>
              </a:xfrm>
              <a:prstGeom prst="ellipse">
                <a:avLst/>
              </a:prstGeom>
              <a:solidFill>
                <a:srgbClr val="663300"/>
              </a:solidFill>
              <a:ln>
                <a:solidFill>
                  <a:srgbClr val="66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sz="1050"/>
              </a:p>
            </p:txBody>
          </p:sp>
          <p:sp>
            <p:nvSpPr>
              <p:cNvPr id="23" name="22 Datos almacenados"/>
              <p:cNvSpPr/>
              <p:nvPr/>
            </p:nvSpPr>
            <p:spPr>
              <a:xfrm rot="16200000">
                <a:off x="4028296" y="2208608"/>
                <a:ext cx="900000" cy="1684800"/>
              </a:xfrm>
              <a:prstGeom prst="flowChartOnlineStorage">
                <a:avLst/>
              </a:prstGeom>
              <a:solidFill>
                <a:srgbClr val="996633"/>
              </a:solidFill>
              <a:ln>
                <a:solidFill>
                  <a:srgbClr val="66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sz="1050"/>
              </a:p>
            </p:txBody>
          </p:sp>
        </p:grpSp>
        <p:sp>
          <p:nvSpPr>
            <p:cNvPr id="24" name="23 CuadroTexto"/>
            <p:cNvSpPr txBox="1"/>
            <p:nvPr/>
          </p:nvSpPr>
          <p:spPr>
            <a:xfrm>
              <a:off x="3214355" y="3920640"/>
              <a:ext cx="1605875" cy="43075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257244" indent="-257244" algn="ctr"/>
              <a:r>
                <a:rPr lang="es-CL" sz="1500" b="1" dirty="0">
                  <a:solidFill>
                    <a:schemeClr val="tx1"/>
                  </a:solidFill>
                  <a:latin typeface="Arial" charset="0"/>
                  <a:cs typeface="Arial" charset="0"/>
                </a:rPr>
                <a:t>1/2 taza</a:t>
              </a:r>
            </a:p>
          </p:txBody>
        </p:sp>
      </p:grpSp>
      <p:grpSp>
        <p:nvGrpSpPr>
          <p:cNvPr id="14" name="13 Grupo"/>
          <p:cNvGrpSpPr/>
          <p:nvPr/>
        </p:nvGrpSpPr>
        <p:grpSpPr>
          <a:xfrm>
            <a:off x="1168572" y="2085631"/>
            <a:ext cx="2052861" cy="1957917"/>
            <a:chOff x="3419873" y="1036042"/>
            <a:chExt cx="2736304" cy="2609751"/>
          </a:xfrm>
        </p:grpSpPr>
        <p:pic>
          <p:nvPicPr>
            <p:cNvPr id="15" name="Picture 6" descr="Resultado de imagen para mug drawi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9873" y="1036042"/>
              <a:ext cx="2736304" cy="2609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15 Datos almacenados"/>
            <p:cNvSpPr/>
            <p:nvPr/>
          </p:nvSpPr>
          <p:spPr>
            <a:xfrm rot="16200000">
              <a:off x="3706673" y="1901385"/>
              <a:ext cx="1528846" cy="1670400"/>
            </a:xfrm>
            <a:prstGeom prst="flowChartOnlineStorage">
              <a:avLst/>
            </a:prstGeom>
            <a:solidFill>
              <a:srgbClr val="996633"/>
            </a:solidFill>
            <a:ln>
              <a:solidFill>
                <a:srgbClr val="66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1050"/>
            </a:p>
          </p:txBody>
        </p:sp>
        <p:sp>
          <p:nvSpPr>
            <p:cNvPr id="18" name="17 Elipse"/>
            <p:cNvSpPr/>
            <p:nvPr/>
          </p:nvSpPr>
          <p:spPr>
            <a:xfrm>
              <a:off x="3636000" y="1756123"/>
              <a:ext cx="1670400" cy="504056"/>
            </a:xfrm>
            <a:prstGeom prst="ellipse">
              <a:avLst/>
            </a:prstGeom>
            <a:solidFill>
              <a:srgbClr val="663300"/>
            </a:solidFill>
            <a:ln>
              <a:solidFill>
                <a:srgbClr val="66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1050"/>
            </a:p>
          </p:txBody>
        </p:sp>
      </p:grpSp>
      <p:grpSp>
        <p:nvGrpSpPr>
          <p:cNvPr id="83" name="82 Grupo"/>
          <p:cNvGrpSpPr/>
          <p:nvPr/>
        </p:nvGrpSpPr>
        <p:grpSpPr>
          <a:xfrm>
            <a:off x="1168572" y="2083082"/>
            <a:ext cx="2052861" cy="1957917"/>
            <a:chOff x="3024000" y="2095906"/>
            <a:chExt cx="2736304" cy="2609751"/>
          </a:xfrm>
        </p:grpSpPr>
        <p:grpSp>
          <p:nvGrpSpPr>
            <p:cNvPr id="84" name="83 Grupo"/>
            <p:cNvGrpSpPr/>
            <p:nvPr/>
          </p:nvGrpSpPr>
          <p:grpSpPr>
            <a:xfrm>
              <a:off x="3024000" y="2095906"/>
              <a:ext cx="2736304" cy="2609751"/>
              <a:chOff x="3433444" y="1036042"/>
              <a:chExt cx="2736304" cy="2609751"/>
            </a:xfrm>
          </p:grpSpPr>
          <p:pic>
            <p:nvPicPr>
              <p:cNvPr id="86" name="Picture 6" descr="Resultado de imagen para mug drawi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33444" y="1036042"/>
                <a:ext cx="2736304" cy="26097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7" name="86 Elipse"/>
              <p:cNvSpPr/>
              <p:nvPr/>
            </p:nvSpPr>
            <p:spPr>
              <a:xfrm>
                <a:off x="3636000" y="2448000"/>
                <a:ext cx="1684800" cy="288000"/>
              </a:xfrm>
              <a:prstGeom prst="ellipse">
                <a:avLst/>
              </a:prstGeom>
              <a:solidFill>
                <a:srgbClr val="663300"/>
              </a:solidFill>
              <a:ln>
                <a:solidFill>
                  <a:srgbClr val="66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sz="1050"/>
              </a:p>
            </p:txBody>
          </p:sp>
          <p:sp>
            <p:nvSpPr>
              <p:cNvPr id="88" name="87 Datos almacenados"/>
              <p:cNvSpPr/>
              <p:nvPr/>
            </p:nvSpPr>
            <p:spPr>
              <a:xfrm rot="16200000">
                <a:off x="4028296" y="2208608"/>
                <a:ext cx="900000" cy="1684800"/>
              </a:xfrm>
              <a:prstGeom prst="flowChartOnlineStorage">
                <a:avLst/>
              </a:prstGeom>
              <a:solidFill>
                <a:srgbClr val="996633"/>
              </a:solidFill>
              <a:ln>
                <a:solidFill>
                  <a:srgbClr val="66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sz="1050"/>
              </a:p>
            </p:txBody>
          </p:sp>
        </p:grpSp>
        <p:sp>
          <p:nvSpPr>
            <p:cNvPr id="85" name="84 CuadroTexto"/>
            <p:cNvSpPr txBox="1"/>
            <p:nvPr/>
          </p:nvSpPr>
          <p:spPr>
            <a:xfrm>
              <a:off x="3214355" y="3920640"/>
              <a:ext cx="1605875" cy="43075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257244" indent="-257244" algn="ctr"/>
              <a:r>
                <a:rPr lang="es-CL" sz="1500" b="1" dirty="0">
                  <a:solidFill>
                    <a:schemeClr val="tx1"/>
                  </a:solidFill>
                  <a:latin typeface="Arial" charset="0"/>
                  <a:cs typeface="Arial" charset="0"/>
                </a:rPr>
                <a:t>1/2 taza</a:t>
              </a:r>
            </a:p>
          </p:txBody>
        </p:sp>
      </p:grpSp>
      <p:pic>
        <p:nvPicPr>
          <p:cNvPr id="2050" name="Picture 2" descr="Resultado de imagen para teter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3059" b="83529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442927">
            <a:off x="5742474" y="148373"/>
            <a:ext cx="2588794" cy="2588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Resultado de imagen para sugar cub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43" b="87763" l="0" r="95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550" y="1086921"/>
            <a:ext cx="1685499" cy="881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1 CuadroTexto"/>
          <p:cNvSpPr txBox="1"/>
          <p:nvPr/>
        </p:nvSpPr>
        <p:spPr>
          <a:xfrm>
            <a:off x="1270455" y="3416477"/>
            <a:ext cx="1374146" cy="3231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57244" indent="-257244" algn="ctr"/>
            <a:r>
              <a:rPr lang="es-CL" sz="1500" b="1" dirty="0">
                <a:solidFill>
                  <a:schemeClr val="tx1"/>
                </a:solidFill>
                <a:latin typeface="Arial" charset="0"/>
                <a:cs typeface="Arial" charset="0"/>
              </a:rPr>
              <a:t>1 taza</a:t>
            </a:r>
          </a:p>
        </p:txBody>
      </p:sp>
      <p:sp>
        <p:nvSpPr>
          <p:cNvPr id="19" name="18 Llamada rectangular redondeada"/>
          <p:cNvSpPr/>
          <p:nvPr/>
        </p:nvSpPr>
        <p:spPr>
          <a:xfrm>
            <a:off x="2958755" y="1191707"/>
            <a:ext cx="1618514" cy="891374"/>
          </a:xfrm>
          <a:prstGeom prst="wedgeRoundRectCallout">
            <a:avLst>
              <a:gd name="adj1" fmla="val -75246"/>
              <a:gd name="adj2" fmla="val 51125"/>
              <a:gd name="adj3" fmla="val 16667"/>
            </a:avLst>
          </a:prstGeom>
          <a:solidFill>
            <a:srgbClr val="7030A0">
              <a:alpha val="25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8" rIns="27008" rtlCol="0" anchor="ctr"/>
          <a:lstStyle/>
          <a:p>
            <a:pPr algn="ctr"/>
            <a:r>
              <a:rPr lang="es-CL" sz="1050" dirty="0">
                <a:solidFill>
                  <a:schemeClr val="tx1"/>
                </a:solidFill>
              </a:rPr>
              <a:t>¿Cómo podríamos arreglar este té si quedó demasiado dulce?</a:t>
            </a:r>
          </a:p>
        </p:txBody>
      </p:sp>
      <p:sp>
        <p:nvSpPr>
          <p:cNvPr id="49" name="48 Llamada rectangular redondeada"/>
          <p:cNvSpPr/>
          <p:nvPr/>
        </p:nvSpPr>
        <p:spPr>
          <a:xfrm>
            <a:off x="5356949" y="2982824"/>
            <a:ext cx="1820726" cy="471779"/>
          </a:xfrm>
          <a:prstGeom prst="wedgeRoundRectCallout">
            <a:avLst>
              <a:gd name="adj1" fmla="val -57145"/>
              <a:gd name="adj2" fmla="val -71532"/>
              <a:gd name="adj3" fmla="val 16667"/>
            </a:avLst>
          </a:prstGeom>
          <a:solidFill>
            <a:srgbClr val="00B050">
              <a:alpha val="25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8" rIns="27008" rtlCol="0" anchor="ctr"/>
          <a:lstStyle/>
          <a:p>
            <a:pPr algn="ctr"/>
            <a:r>
              <a:rPr lang="es-CL" sz="1050" dirty="0">
                <a:solidFill>
                  <a:schemeClr val="tx1"/>
                </a:solidFill>
              </a:rPr>
              <a:t>¿Cuál es ahora el contenido de azúcar por taza?</a:t>
            </a:r>
          </a:p>
        </p:txBody>
      </p:sp>
      <p:sp>
        <p:nvSpPr>
          <p:cNvPr id="51" name="Text Box 110"/>
          <p:cNvSpPr txBox="1">
            <a:spLocks noChangeArrowheads="1"/>
          </p:cNvSpPr>
          <p:nvPr/>
        </p:nvSpPr>
        <p:spPr bwMode="auto">
          <a:xfrm>
            <a:off x="5328318" y="2718819"/>
            <a:ext cx="2411759" cy="323165"/>
          </a:xfrm>
          <a:prstGeom prst="rect">
            <a:avLst/>
          </a:prstGeom>
          <a:solidFill>
            <a:srgbClr val="B2DEEC"/>
          </a:solidFill>
          <a:ln w="28575" algn="ctr">
            <a:solidFill>
              <a:srgbClr val="067DD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CL" sz="1500" dirty="0"/>
              <a:t>C</a:t>
            </a:r>
            <a:r>
              <a:rPr lang="es-ES" altLang="es-CL" sz="1500" baseline="-25000" dirty="0"/>
              <a:t>1</a:t>
            </a:r>
            <a:r>
              <a:rPr lang="es-ES" altLang="es-CL" sz="1500" dirty="0"/>
              <a:t> x V</a:t>
            </a:r>
            <a:r>
              <a:rPr lang="es-ES" altLang="es-CL" sz="1500" baseline="-25000" dirty="0"/>
              <a:t>1</a:t>
            </a:r>
            <a:r>
              <a:rPr lang="es-ES" altLang="es-CL" sz="1500" dirty="0"/>
              <a:t> = C</a:t>
            </a:r>
            <a:r>
              <a:rPr lang="es-ES" altLang="es-CL" sz="1500" baseline="-25000" dirty="0"/>
              <a:t>2</a:t>
            </a:r>
            <a:r>
              <a:rPr lang="es-ES" altLang="es-CL" sz="1500" dirty="0"/>
              <a:t> x V</a:t>
            </a:r>
            <a:r>
              <a:rPr lang="es-ES" altLang="es-CL" sz="1500" baseline="-25000" dirty="0"/>
              <a:t>2</a:t>
            </a:r>
            <a:endParaRPr lang="es-ES" altLang="es-CL" sz="1500" dirty="0"/>
          </a:p>
        </p:txBody>
      </p:sp>
      <p:sp>
        <p:nvSpPr>
          <p:cNvPr id="52" name="Text Box 110"/>
          <p:cNvSpPr txBox="1">
            <a:spLocks noChangeArrowheads="1"/>
          </p:cNvSpPr>
          <p:nvPr/>
        </p:nvSpPr>
        <p:spPr bwMode="auto">
          <a:xfrm>
            <a:off x="5112227" y="3220816"/>
            <a:ext cx="2826560" cy="253916"/>
          </a:xfrm>
          <a:prstGeom prst="rect">
            <a:avLst/>
          </a:prstGeom>
          <a:solidFill>
            <a:srgbClr val="B2DEEC"/>
          </a:solidFill>
          <a:ln w="28575" algn="ctr">
            <a:solidFill>
              <a:srgbClr val="067DD9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CL" sz="1050" dirty="0">
                <a:latin typeface="Cambria Math" panose="02040503050406030204" pitchFamily="18" charset="0"/>
                <a:ea typeface="Cambria Math" panose="02040503050406030204" pitchFamily="18" charset="0"/>
              </a:rPr>
              <a:t>3 cubos/taza x ½ taza = C</a:t>
            </a:r>
            <a:r>
              <a:rPr lang="es-ES" altLang="es-CL" sz="105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s-ES" altLang="es-CL" sz="1050" dirty="0">
                <a:latin typeface="Cambria Math" panose="02040503050406030204" pitchFamily="18" charset="0"/>
                <a:ea typeface="Cambria Math" panose="02040503050406030204" pitchFamily="18" charset="0"/>
              </a:rPr>
              <a:t> x 1 taza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 Box 110"/>
              <p:cNvSpPr txBox="1">
                <a:spLocks noChangeArrowheads="1"/>
              </p:cNvSpPr>
              <p:nvPr/>
            </p:nvSpPr>
            <p:spPr bwMode="auto">
              <a:xfrm>
                <a:off x="5112227" y="3667818"/>
                <a:ext cx="2826560" cy="453457"/>
              </a:xfrm>
              <a:prstGeom prst="rect">
                <a:avLst/>
              </a:prstGeom>
              <a:solidFill>
                <a:srgbClr val="B2DEEC"/>
              </a:solidFill>
              <a:ln w="28575" algn="ctr">
                <a:solidFill>
                  <a:srgbClr val="067DD9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altLang="es-CL" sz="105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CL" altLang="es-CL" sz="1050">
                              <a:latin typeface="Cambria Math"/>
                            </a:rPr>
                            <m:t>C</m:t>
                          </m:r>
                        </m:e>
                        <m:sub>
                          <m:r>
                            <a:rPr lang="es-CL" altLang="es-CL" sz="105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altLang="es-CL" sz="105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s-CL" altLang="es-CL" sz="105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CL" altLang="es-CL" sz="1050">
                              <a:latin typeface="Cambria Math"/>
                            </a:rPr>
                            <m:t>3 </m:t>
                          </m:r>
                          <m:f>
                            <m:fPr>
                              <m:type m:val="lin"/>
                              <m:ctrlPr>
                                <a:rPr lang="es-CL" altLang="es-CL" sz="105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s-CL" altLang="es-CL" sz="1050">
                                  <a:latin typeface="Cambria Math"/>
                                </a:rPr>
                                <m:t>cubos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s-CL" altLang="es-CL" sz="1050">
                                  <a:latin typeface="Cambria Math"/>
                                </a:rPr>
                                <m:t>taza</m:t>
                              </m:r>
                            </m:den>
                          </m:f>
                          <m:r>
                            <a:rPr lang="es-CL" altLang="es-CL" sz="1050">
                              <a:latin typeface="Cambria Math"/>
                              <a:ea typeface="Cambria Math"/>
                            </a:rPr>
                            <m:t>×</m:t>
                          </m:r>
                          <m:f>
                            <m:fPr>
                              <m:type m:val="skw"/>
                              <m:ctrlPr>
                                <a:rPr lang="es-CL" altLang="es-CL" sz="105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s-CL" altLang="es-CL" sz="105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CL" altLang="es-CL" sz="105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s-CL" altLang="es-CL" sz="105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CL" altLang="es-CL" sz="1050">
                              <a:latin typeface="Cambria Math"/>
                              <a:ea typeface="Cambria Math"/>
                            </a:rPr>
                            <m:t>taza</m:t>
                          </m:r>
                        </m:num>
                        <m:den>
                          <m:r>
                            <a:rPr lang="es-CL" altLang="es-CL" sz="1050">
                              <a:latin typeface="Cambria Math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s-CL" altLang="es-CL" sz="1050">
                              <a:latin typeface="Cambria Math"/>
                            </a:rPr>
                            <m:t>taza</m:t>
                          </m:r>
                        </m:den>
                      </m:f>
                    </m:oMath>
                  </m:oMathPara>
                </a14:m>
                <a:endParaRPr lang="es-ES" altLang="es-CL" sz="1050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53" name="Text 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12227" y="3667818"/>
                <a:ext cx="2826560" cy="453457"/>
              </a:xfrm>
              <a:prstGeom prst="rect">
                <a:avLst/>
              </a:prstGeom>
              <a:blipFill>
                <a:blip r:embed="rId8"/>
                <a:stretch>
                  <a:fillRect t="-59494" b="-63291"/>
                </a:stretch>
              </a:blipFill>
              <a:ln w="28575" algn="ctr">
                <a:solidFill>
                  <a:srgbClr val="067DD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25 Llamada rectangular redondeada"/>
          <p:cNvSpPr/>
          <p:nvPr/>
        </p:nvSpPr>
        <p:spPr>
          <a:xfrm>
            <a:off x="3431840" y="4043548"/>
            <a:ext cx="1618514" cy="689903"/>
          </a:xfrm>
          <a:prstGeom prst="wedgeRoundRectCallout">
            <a:avLst>
              <a:gd name="adj1" fmla="val -97322"/>
              <a:gd name="adj2" fmla="val -77144"/>
              <a:gd name="adj3" fmla="val 16667"/>
            </a:avLst>
          </a:prstGeom>
          <a:solidFill>
            <a:srgbClr val="7030A0">
              <a:alpha val="25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8" rIns="27008" rtlCol="0" anchor="ctr"/>
          <a:lstStyle/>
          <a:p>
            <a:pPr algn="ctr"/>
            <a:r>
              <a:rPr lang="es-CL" sz="1050" dirty="0">
                <a:solidFill>
                  <a:schemeClr val="tx1"/>
                </a:solidFill>
              </a:rPr>
              <a:t>Verter la mitad en otra taza para poder agregar más agua.</a:t>
            </a:r>
          </a:p>
        </p:txBody>
      </p:sp>
      <p:grpSp>
        <p:nvGrpSpPr>
          <p:cNvPr id="30722" name="16 Grupo"/>
          <p:cNvGrpSpPr>
            <a:grpSpLocks/>
          </p:cNvGrpSpPr>
          <p:nvPr/>
        </p:nvGrpSpPr>
        <p:grpSpPr bwMode="auto">
          <a:xfrm>
            <a:off x="1240795" y="-75033"/>
            <a:ext cx="2641621" cy="645519"/>
            <a:chOff x="131763" y="-100013"/>
            <a:chExt cx="3521077" cy="860426"/>
          </a:xfrm>
        </p:grpSpPr>
        <p:grpSp>
          <p:nvGrpSpPr>
            <p:cNvPr id="30733" name="Group 2"/>
            <p:cNvGrpSpPr>
              <a:grpSpLocks/>
            </p:cNvGrpSpPr>
            <p:nvPr/>
          </p:nvGrpSpPr>
          <p:grpSpPr bwMode="auto">
            <a:xfrm>
              <a:off x="131763" y="-100013"/>
              <a:ext cx="3368586" cy="719138"/>
              <a:chOff x="83" y="-63"/>
              <a:chExt cx="1675" cy="453"/>
            </a:xfrm>
          </p:grpSpPr>
          <p:sp>
            <p:nvSpPr>
              <p:cNvPr id="30735" name="37 Rectángulo redondeado"/>
              <p:cNvSpPr>
                <a:spLocks noChangeArrowheads="1"/>
              </p:cNvSpPr>
              <p:nvPr/>
            </p:nvSpPr>
            <p:spPr bwMode="auto">
              <a:xfrm>
                <a:off x="83" y="-63"/>
                <a:ext cx="1675" cy="453"/>
              </a:xfrm>
              <a:prstGeom prst="roundRect">
                <a:avLst>
                  <a:gd name="adj" fmla="val 16667"/>
                </a:avLst>
              </a:pr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eaLnBrk="1" hangingPunct="1"/>
                <a:endParaRPr lang="es-CL" altLang="es-CL" sz="1050"/>
              </a:p>
            </p:txBody>
          </p:sp>
          <p:sp>
            <p:nvSpPr>
              <p:cNvPr id="30736" name="38 CuadroTexto"/>
              <p:cNvSpPr txBox="1">
                <a:spLocks noChangeArrowheads="1"/>
              </p:cNvSpPr>
              <p:nvPr/>
            </p:nvSpPr>
            <p:spPr bwMode="auto">
              <a:xfrm>
                <a:off x="160" y="4"/>
                <a:ext cx="1027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r>
                  <a:rPr lang="es-ES_tradnl" altLang="es-CL" sz="2101" b="1" dirty="0">
                    <a:solidFill>
                      <a:srgbClr val="404040"/>
                    </a:solidFill>
                  </a:rPr>
                  <a:t>1. Dilución</a:t>
                </a:r>
                <a:endParaRPr lang="es-CL" altLang="es-CL" sz="2101" b="1" dirty="0">
                  <a:solidFill>
                    <a:srgbClr val="404040"/>
                  </a:solidFill>
                </a:endParaRPr>
              </a:p>
            </p:txBody>
          </p:sp>
        </p:grpSp>
        <p:pic>
          <p:nvPicPr>
            <p:cNvPr id="30734" name="5 Imagen" descr="ico_conceptos.png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932" y="0"/>
              <a:ext cx="723908" cy="760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3" name="42 Llamada rectangular redondeada"/>
          <p:cNvSpPr/>
          <p:nvPr/>
        </p:nvSpPr>
        <p:spPr>
          <a:xfrm>
            <a:off x="5058204" y="1209114"/>
            <a:ext cx="1618514" cy="891374"/>
          </a:xfrm>
          <a:prstGeom prst="wedgeRoundRectCallout">
            <a:avLst>
              <a:gd name="adj1" fmla="val -71273"/>
              <a:gd name="adj2" fmla="val 67159"/>
              <a:gd name="adj3" fmla="val 16667"/>
            </a:avLst>
          </a:prstGeom>
          <a:solidFill>
            <a:srgbClr val="00B050">
              <a:alpha val="25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8" rIns="27008" rtlCol="0" anchor="ctr"/>
          <a:lstStyle/>
          <a:p>
            <a:pPr algn="ctr"/>
            <a:r>
              <a:rPr lang="es-CL" sz="1050" dirty="0">
                <a:solidFill>
                  <a:schemeClr val="tx1"/>
                </a:solidFill>
              </a:rPr>
              <a:t>¿Cuántos cubos de azúcar fueron traspasados a esta taza junto con el té?</a:t>
            </a:r>
          </a:p>
        </p:txBody>
      </p:sp>
      <p:sp>
        <p:nvSpPr>
          <p:cNvPr id="80" name="79 Rectángulo"/>
          <p:cNvSpPr/>
          <p:nvPr/>
        </p:nvSpPr>
        <p:spPr>
          <a:xfrm>
            <a:off x="3334505" y="4004145"/>
            <a:ext cx="1447880" cy="216091"/>
          </a:xfrm>
          <a:prstGeom prst="rect">
            <a:avLst/>
          </a:prstGeom>
          <a:solidFill>
            <a:srgbClr val="B2DEEC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601" tIns="34301" rIns="68601" bIns="343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CL" sz="1200" dirty="0">
                <a:solidFill>
                  <a:schemeClr val="tx1"/>
                </a:solidFill>
              </a:rPr>
              <a:t>1,5 cubos</a:t>
            </a:r>
          </a:p>
        </p:txBody>
      </p:sp>
      <p:sp>
        <p:nvSpPr>
          <p:cNvPr id="79" name="78 Llamada rectangular redondeada"/>
          <p:cNvSpPr/>
          <p:nvPr/>
        </p:nvSpPr>
        <p:spPr>
          <a:xfrm>
            <a:off x="5440728" y="3004016"/>
            <a:ext cx="1242521" cy="723490"/>
          </a:xfrm>
          <a:prstGeom prst="wedgeRoundRectCallout">
            <a:avLst>
              <a:gd name="adj1" fmla="val -75549"/>
              <a:gd name="adj2" fmla="val -11406"/>
              <a:gd name="adj3" fmla="val 16667"/>
            </a:avLst>
          </a:prstGeom>
          <a:solidFill>
            <a:srgbClr val="00B050">
              <a:alpha val="25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8" rIns="27008" rtlCol="0" anchor="ctr"/>
          <a:lstStyle/>
          <a:p>
            <a:pPr algn="ctr"/>
            <a:r>
              <a:rPr lang="es-CL" sz="1050" dirty="0">
                <a:solidFill>
                  <a:schemeClr val="tx1"/>
                </a:solidFill>
              </a:rPr>
              <a:t>Agregar agua hasta completar 1 taza.</a:t>
            </a:r>
          </a:p>
        </p:txBody>
      </p:sp>
      <p:sp>
        <p:nvSpPr>
          <p:cNvPr id="81" name="80 Rectángulo"/>
          <p:cNvSpPr/>
          <p:nvPr/>
        </p:nvSpPr>
        <p:spPr>
          <a:xfrm>
            <a:off x="3334554" y="4004145"/>
            <a:ext cx="1447880" cy="216091"/>
          </a:xfrm>
          <a:prstGeom prst="rect">
            <a:avLst/>
          </a:prstGeom>
          <a:solidFill>
            <a:srgbClr val="B2DEEC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601" tIns="34301" rIns="68601" bIns="343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CL" sz="1200" dirty="0">
                <a:solidFill>
                  <a:schemeClr val="tx1"/>
                </a:solidFill>
              </a:rPr>
              <a:t>1,5 cubos/taza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 Box 110"/>
              <p:cNvSpPr txBox="1">
                <a:spLocks noChangeArrowheads="1"/>
              </p:cNvSpPr>
              <p:nvPr/>
            </p:nvSpPr>
            <p:spPr bwMode="auto">
              <a:xfrm>
                <a:off x="5112227" y="4355292"/>
                <a:ext cx="2826560" cy="253916"/>
              </a:xfrm>
              <a:prstGeom prst="rect">
                <a:avLst/>
              </a:prstGeom>
              <a:solidFill>
                <a:srgbClr val="B2DEEC"/>
              </a:solidFill>
              <a:ln w="28575" algn="ctr">
                <a:solidFill>
                  <a:srgbClr val="067DD9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altLang="es-CL" sz="105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CL" altLang="es-CL" sz="1050">
                              <a:latin typeface="Cambria Math"/>
                            </a:rPr>
                            <m:t>C</m:t>
                          </m:r>
                        </m:e>
                        <m:sub>
                          <m:r>
                            <a:rPr lang="es-CL" altLang="es-CL" sz="105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altLang="es-CL" sz="1050">
                          <a:latin typeface="Cambria Math"/>
                        </a:rPr>
                        <m:t>=1,5 </m:t>
                      </m:r>
                      <m:r>
                        <m:rPr>
                          <m:sty m:val="p"/>
                        </m:rPr>
                        <a:rPr lang="es-CL" altLang="es-CL" sz="1050">
                          <a:latin typeface="Cambria Math"/>
                        </a:rPr>
                        <m:t>cubos</m:t>
                      </m:r>
                      <m:r>
                        <a:rPr lang="es-CL" altLang="es-CL" sz="1050">
                          <a:latin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CL" altLang="es-CL" sz="1050">
                          <a:latin typeface="Cambria Math"/>
                        </a:rPr>
                        <m:t>taza</m:t>
                      </m:r>
                    </m:oMath>
                  </m:oMathPara>
                </a14:m>
                <a:endParaRPr lang="es-ES" altLang="es-CL" sz="1050" dirty="0"/>
              </a:p>
            </p:txBody>
          </p:sp>
        </mc:Choice>
        <mc:Fallback>
          <p:sp>
            <p:nvSpPr>
              <p:cNvPr id="82" name="Text 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12227" y="4355292"/>
                <a:ext cx="2826560" cy="25391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 algn="ctr">
                <a:solidFill>
                  <a:srgbClr val="067DD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12 Rectángulo"/>
          <p:cNvSpPr/>
          <p:nvPr/>
        </p:nvSpPr>
        <p:spPr>
          <a:xfrm>
            <a:off x="1270455" y="4004145"/>
            <a:ext cx="1447880" cy="216091"/>
          </a:xfrm>
          <a:prstGeom prst="rect">
            <a:avLst/>
          </a:prstGeom>
          <a:solidFill>
            <a:srgbClr val="B2DEEC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601" tIns="34301" rIns="68601" bIns="343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CL" sz="1200" dirty="0">
                <a:solidFill>
                  <a:schemeClr val="tx1"/>
                </a:solidFill>
              </a:rPr>
              <a:t>3 cubos/taza</a:t>
            </a:r>
          </a:p>
        </p:txBody>
      </p:sp>
      <p:sp>
        <p:nvSpPr>
          <p:cNvPr id="5" name="4 Flecha curvada hacia abajo"/>
          <p:cNvSpPr/>
          <p:nvPr/>
        </p:nvSpPr>
        <p:spPr>
          <a:xfrm>
            <a:off x="2183298" y="1877659"/>
            <a:ext cx="1660421" cy="480530"/>
          </a:xfrm>
          <a:prstGeom prst="curvedDownArrow">
            <a:avLst/>
          </a:prstGeom>
          <a:solidFill>
            <a:srgbClr val="663300"/>
          </a:solidFill>
          <a:ln>
            <a:solidFill>
              <a:srgbClr val="66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0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231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4.07407E-6 L -0.28837 -0.00092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427" y="-46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50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9" grpId="0" animBg="1"/>
      <p:bldP spid="19" grpId="1" animBg="1"/>
      <p:bldP spid="49" grpId="0" animBg="1"/>
      <p:bldP spid="49" grpId="1" animBg="1"/>
      <p:bldP spid="51" grpId="0" animBg="1"/>
      <p:bldP spid="52" grpId="0" animBg="1"/>
      <p:bldP spid="53" grpId="0" animBg="1"/>
      <p:bldP spid="26" grpId="0" animBg="1"/>
      <p:bldP spid="26" grpId="1" animBg="1"/>
      <p:bldP spid="43" grpId="0" animBg="1"/>
      <p:bldP spid="43" grpId="1" animBg="1"/>
      <p:bldP spid="80" grpId="0" animBg="1"/>
      <p:bldP spid="79" grpId="0" animBg="1"/>
      <p:bldP spid="79" grpId="1" animBg="1"/>
      <p:bldP spid="81" grpId="0" animBg="1"/>
      <p:bldP spid="82" grpId="0" animBg="1"/>
      <p:bldP spid="13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 Matemática: C₁V₁ = C₂V₂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calcular diluciones usamos la ecuación de balance de masa: C₁V₁ = C₂V₂. Donde: C = Concentración, V = Volumen. La cantidad de soluto permanece constante, solo cambia el volumen del solvente.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16 Grupo"/>
          <p:cNvGrpSpPr>
            <a:grpSpLocks/>
          </p:cNvGrpSpPr>
          <p:nvPr/>
        </p:nvGrpSpPr>
        <p:grpSpPr bwMode="auto">
          <a:xfrm>
            <a:off x="1240795" y="-75033"/>
            <a:ext cx="2641621" cy="645519"/>
            <a:chOff x="131763" y="-100013"/>
            <a:chExt cx="3521077" cy="860426"/>
          </a:xfrm>
        </p:grpSpPr>
        <p:grpSp>
          <p:nvGrpSpPr>
            <p:cNvPr id="30733" name="Group 2"/>
            <p:cNvGrpSpPr>
              <a:grpSpLocks/>
            </p:cNvGrpSpPr>
            <p:nvPr/>
          </p:nvGrpSpPr>
          <p:grpSpPr bwMode="auto">
            <a:xfrm>
              <a:off x="131763" y="-100013"/>
              <a:ext cx="3368586" cy="719138"/>
              <a:chOff x="83" y="-63"/>
              <a:chExt cx="1675" cy="453"/>
            </a:xfrm>
          </p:grpSpPr>
          <p:sp>
            <p:nvSpPr>
              <p:cNvPr id="30735" name="37 Rectángulo redondeado"/>
              <p:cNvSpPr>
                <a:spLocks noChangeArrowheads="1"/>
              </p:cNvSpPr>
              <p:nvPr/>
            </p:nvSpPr>
            <p:spPr bwMode="auto">
              <a:xfrm>
                <a:off x="83" y="-63"/>
                <a:ext cx="1675" cy="453"/>
              </a:xfrm>
              <a:prstGeom prst="roundRect">
                <a:avLst>
                  <a:gd name="adj" fmla="val 16667"/>
                </a:avLst>
              </a:pr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eaLnBrk="1" hangingPunct="1"/>
                <a:endParaRPr lang="es-CL" altLang="es-CL" sz="1050"/>
              </a:p>
            </p:txBody>
          </p:sp>
          <p:sp>
            <p:nvSpPr>
              <p:cNvPr id="30736" name="38 CuadroTexto"/>
              <p:cNvSpPr txBox="1">
                <a:spLocks noChangeArrowheads="1"/>
              </p:cNvSpPr>
              <p:nvPr/>
            </p:nvSpPr>
            <p:spPr bwMode="auto">
              <a:xfrm>
                <a:off x="160" y="4"/>
                <a:ext cx="1027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r>
                  <a:rPr lang="es-ES_tradnl" altLang="es-CL" sz="2101" b="1" dirty="0">
                    <a:solidFill>
                      <a:srgbClr val="404040"/>
                    </a:solidFill>
                  </a:rPr>
                  <a:t>1. Dilución</a:t>
                </a:r>
                <a:endParaRPr lang="es-CL" altLang="es-CL" sz="2101" b="1" dirty="0">
                  <a:solidFill>
                    <a:srgbClr val="404040"/>
                  </a:solidFill>
                </a:endParaRPr>
              </a:p>
            </p:txBody>
          </p:sp>
        </p:grpSp>
        <p:pic>
          <p:nvPicPr>
            <p:cNvPr id="30734" name="5 Imagen" descr="ico_conceptos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932" y="0"/>
              <a:ext cx="723908" cy="760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1 Rectángulo"/>
          <p:cNvSpPr/>
          <p:nvPr/>
        </p:nvSpPr>
        <p:spPr>
          <a:xfrm>
            <a:off x="1357213" y="843819"/>
            <a:ext cx="6402367" cy="3386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L" sz="1050" dirty="0"/>
              <a:t>Se toman 10 </a:t>
            </a:r>
            <a:r>
              <a:rPr lang="es-CL" sz="1050" dirty="0" err="1"/>
              <a:t>mL</a:t>
            </a:r>
            <a:r>
              <a:rPr lang="es-CL" sz="1050" dirty="0"/>
              <a:t> de una disolución 1 de concentración 5,0 mol/L y se traspasan a un matraz aforado de 100 </a:t>
            </a:r>
            <a:r>
              <a:rPr lang="es-CL" sz="1050" dirty="0" err="1"/>
              <a:t>mL</a:t>
            </a:r>
            <a:r>
              <a:rPr lang="es-CL" sz="1050" dirty="0"/>
              <a:t>, completando el volumen con disolvente. A continuación, se toman 10 </a:t>
            </a:r>
            <a:r>
              <a:rPr lang="es-CL" sz="1050" dirty="0" err="1"/>
              <a:t>mL</a:t>
            </a:r>
            <a:r>
              <a:rPr lang="es-CL" sz="1050" dirty="0"/>
              <a:t> de la disolución 2 y se aforan en un matraz de      50 </a:t>
            </a:r>
            <a:r>
              <a:rPr lang="es-CL" sz="1050" dirty="0" err="1"/>
              <a:t>mL</a:t>
            </a:r>
            <a:r>
              <a:rPr lang="es-CL" sz="1050" dirty="0"/>
              <a:t>. </a:t>
            </a:r>
          </a:p>
          <a:p>
            <a:pPr algn="just"/>
            <a:endParaRPr lang="es-CL" sz="1050" dirty="0"/>
          </a:p>
          <a:p>
            <a:pPr algn="just"/>
            <a:endParaRPr lang="es-CL" sz="1050" dirty="0"/>
          </a:p>
          <a:p>
            <a:pPr algn="just"/>
            <a:endParaRPr lang="es-CL" sz="1050" dirty="0"/>
          </a:p>
          <a:p>
            <a:pPr algn="just"/>
            <a:endParaRPr lang="es-CL" sz="1050" dirty="0"/>
          </a:p>
          <a:p>
            <a:pPr algn="just"/>
            <a:endParaRPr lang="es-CL" sz="1050" dirty="0"/>
          </a:p>
          <a:p>
            <a:pPr algn="just"/>
            <a:endParaRPr lang="es-CL" sz="1050" dirty="0"/>
          </a:p>
          <a:p>
            <a:pPr algn="just"/>
            <a:endParaRPr lang="es-CL" sz="1050" dirty="0"/>
          </a:p>
          <a:p>
            <a:pPr algn="just"/>
            <a:endParaRPr lang="es-CL" sz="1050" dirty="0"/>
          </a:p>
          <a:p>
            <a:pPr algn="just"/>
            <a:r>
              <a:rPr lang="es-CL" sz="1050" dirty="0"/>
              <a:t>De acuerdo a esta información, ¿cuál es la concentración de la disolución 3? </a:t>
            </a:r>
          </a:p>
          <a:p>
            <a:pPr algn="just"/>
            <a:endParaRPr lang="es-CL" sz="1050" dirty="0"/>
          </a:p>
          <a:p>
            <a:pPr marL="257244" indent="-257244" algn="just">
              <a:lnSpc>
                <a:spcPct val="115000"/>
              </a:lnSpc>
              <a:buFont typeface="+mj-lt"/>
              <a:buAutoNum type="alphaUcParenR"/>
            </a:pPr>
            <a:r>
              <a:rPr lang="es-CL" sz="1050" dirty="0">
                <a:latin typeface="+mj-lt"/>
                <a:ea typeface="Calibri"/>
                <a:cs typeface="Times New Roman"/>
              </a:rPr>
              <a:t>0,01 mol/L </a:t>
            </a:r>
          </a:p>
          <a:p>
            <a:pPr marL="257244" indent="-257244" algn="just">
              <a:lnSpc>
                <a:spcPct val="115000"/>
              </a:lnSpc>
              <a:buFont typeface="+mj-lt"/>
              <a:buAutoNum type="alphaUcParenR"/>
            </a:pPr>
            <a:r>
              <a:rPr lang="es-CL" sz="1050" dirty="0">
                <a:latin typeface="+mj-lt"/>
                <a:ea typeface="Calibri"/>
                <a:cs typeface="Times New Roman"/>
              </a:rPr>
              <a:t>0,10 mol/L </a:t>
            </a:r>
          </a:p>
          <a:p>
            <a:pPr marL="257244" indent="-257244" algn="just">
              <a:lnSpc>
                <a:spcPct val="115000"/>
              </a:lnSpc>
              <a:buFont typeface="+mj-lt"/>
              <a:buAutoNum type="alphaUcParenR"/>
            </a:pPr>
            <a:r>
              <a:rPr lang="es-CL" sz="1050" dirty="0">
                <a:latin typeface="+mj-lt"/>
                <a:ea typeface="Calibri"/>
                <a:cs typeface="Times New Roman"/>
              </a:rPr>
              <a:t>0,25 mol/L </a:t>
            </a:r>
          </a:p>
          <a:p>
            <a:pPr marL="257244" indent="-257244" algn="just">
              <a:lnSpc>
                <a:spcPct val="115000"/>
              </a:lnSpc>
              <a:buFont typeface="+mj-lt"/>
              <a:buAutoNum type="alphaUcParenR"/>
            </a:pPr>
            <a:r>
              <a:rPr lang="es-CL" sz="1050" dirty="0">
                <a:latin typeface="+mj-lt"/>
                <a:ea typeface="Calibri"/>
                <a:cs typeface="Times New Roman"/>
              </a:rPr>
              <a:t>0,50 mol/L </a:t>
            </a:r>
          </a:p>
          <a:p>
            <a:pPr marL="257244" indent="-257244" algn="just">
              <a:lnSpc>
                <a:spcPct val="115000"/>
              </a:lnSpc>
              <a:spcAft>
                <a:spcPts val="750"/>
              </a:spcAft>
              <a:buFont typeface="+mj-lt"/>
              <a:buAutoNum type="alphaUcParenR"/>
            </a:pPr>
            <a:r>
              <a:rPr lang="es-CL" sz="1050" dirty="0">
                <a:latin typeface="+mj-lt"/>
                <a:ea typeface="Calibri"/>
                <a:cs typeface="Times New Roman"/>
              </a:rPr>
              <a:t>1,00 mol/L</a:t>
            </a:r>
          </a:p>
          <a:p>
            <a:pPr algn="just"/>
            <a:endParaRPr lang="es-CL" sz="105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365" y="1493505"/>
            <a:ext cx="2763754" cy="1830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9 Llamada rectangular redondeada"/>
          <p:cNvSpPr/>
          <p:nvPr/>
        </p:nvSpPr>
        <p:spPr>
          <a:xfrm>
            <a:off x="6164792" y="1630057"/>
            <a:ext cx="1618514" cy="1158577"/>
          </a:xfrm>
          <a:prstGeom prst="wedgeRoundRectCallout">
            <a:avLst>
              <a:gd name="adj1" fmla="val -79661"/>
              <a:gd name="adj2" fmla="val 18417"/>
              <a:gd name="adj3" fmla="val 16667"/>
            </a:avLst>
          </a:prstGeom>
          <a:solidFill>
            <a:srgbClr val="00B050">
              <a:alpha val="25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8" rIns="27008" rtlCol="0" anchor="ctr"/>
          <a:lstStyle/>
          <a:p>
            <a:pPr algn="ctr"/>
            <a:r>
              <a:rPr lang="es-CL" sz="1050" dirty="0">
                <a:solidFill>
                  <a:schemeClr val="tx1"/>
                </a:solidFill>
              </a:rPr>
              <a:t>Ahora apliquemos el procedimiento anterior utilizando </a:t>
            </a:r>
            <a:r>
              <a:rPr lang="es-CL" sz="1050" dirty="0" err="1">
                <a:solidFill>
                  <a:schemeClr val="tx1"/>
                </a:solidFill>
              </a:rPr>
              <a:t>mL</a:t>
            </a:r>
            <a:r>
              <a:rPr lang="es-CL" sz="1050" dirty="0">
                <a:solidFill>
                  <a:schemeClr val="tx1"/>
                </a:solidFill>
              </a:rPr>
              <a:t> como unidad de volumen y la molaridad como unidad de concentración.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3323592" y="850776"/>
            <a:ext cx="978294" cy="216332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L" sz="1050" dirty="0"/>
          </a:p>
        </p:txBody>
      </p:sp>
      <p:sp>
        <p:nvSpPr>
          <p:cNvPr id="12" name="11 Rectángulo"/>
          <p:cNvSpPr/>
          <p:nvPr/>
        </p:nvSpPr>
        <p:spPr>
          <a:xfrm>
            <a:off x="2195002" y="850776"/>
            <a:ext cx="540227" cy="210163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L" sz="1050" dirty="0"/>
          </a:p>
        </p:txBody>
      </p:sp>
      <p:sp>
        <p:nvSpPr>
          <p:cNvPr id="13" name="12 Rectángulo"/>
          <p:cNvSpPr/>
          <p:nvPr/>
        </p:nvSpPr>
        <p:spPr>
          <a:xfrm>
            <a:off x="5632883" y="881720"/>
            <a:ext cx="775887" cy="210163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L" sz="1050" dirty="0"/>
          </a:p>
        </p:txBody>
      </p:sp>
      <p:sp>
        <p:nvSpPr>
          <p:cNvPr id="18" name="17 Llamada rectangular redondeada"/>
          <p:cNvSpPr/>
          <p:nvPr/>
        </p:nvSpPr>
        <p:spPr>
          <a:xfrm>
            <a:off x="2515011" y="519682"/>
            <a:ext cx="864362" cy="217689"/>
          </a:xfrm>
          <a:prstGeom prst="wedgeRoundRectCallout">
            <a:avLst>
              <a:gd name="adj1" fmla="val -68913"/>
              <a:gd name="adj2" fmla="val 103766"/>
              <a:gd name="adj3" fmla="val 16667"/>
            </a:avLst>
          </a:prstGeom>
          <a:solidFill>
            <a:srgbClr val="7030A0">
              <a:alpha val="25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8" rIns="27008" rtlCol="0" anchor="ctr"/>
          <a:lstStyle/>
          <a:p>
            <a:pPr algn="ctr"/>
            <a:r>
              <a:rPr lang="es-CL" sz="1050" dirty="0">
                <a:solidFill>
                  <a:schemeClr val="tx1"/>
                </a:solidFill>
              </a:rPr>
              <a:t>Volumen 1</a:t>
            </a:r>
          </a:p>
        </p:txBody>
      </p:sp>
      <p:sp>
        <p:nvSpPr>
          <p:cNvPr id="19" name="18 Llamada rectangular redondeada"/>
          <p:cNvSpPr/>
          <p:nvPr/>
        </p:nvSpPr>
        <p:spPr>
          <a:xfrm>
            <a:off x="4877424" y="1600136"/>
            <a:ext cx="1143402" cy="217689"/>
          </a:xfrm>
          <a:prstGeom prst="wedgeRoundRectCallout">
            <a:avLst>
              <a:gd name="adj1" fmla="val 36947"/>
              <a:gd name="adj2" fmla="val -300000"/>
              <a:gd name="adj3" fmla="val 16667"/>
            </a:avLst>
          </a:prstGeom>
          <a:solidFill>
            <a:srgbClr val="7030A0">
              <a:alpha val="25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8" rIns="27008" rtlCol="0" anchor="ctr"/>
          <a:lstStyle/>
          <a:p>
            <a:pPr algn="ctr"/>
            <a:r>
              <a:rPr lang="es-CL" sz="1050" dirty="0">
                <a:solidFill>
                  <a:schemeClr val="tx1"/>
                </a:solidFill>
              </a:rPr>
              <a:t>Concentración 1</a:t>
            </a:r>
          </a:p>
        </p:txBody>
      </p:sp>
      <p:sp>
        <p:nvSpPr>
          <p:cNvPr id="20" name="19 Rectángulo"/>
          <p:cNvSpPr/>
          <p:nvPr/>
        </p:nvSpPr>
        <p:spPr>
          <a:xfrm>
            <a:off x="4355910" y="1277173"/>
            <a:ext cx="978294" cy="216332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L" sz="1050" dirty="0"/>
          </a:p>
        </p:txBody>
      </p:sp>
      <p:sp>
        <p:nvSpPr>
          <p:cNvPr id="21" name="20 Rectángulo"/>
          <p:cNvSpPr/>
          <p:nvPr/>
        </p:nvSpPr>
        <p:spPr>
          <a:xfrm>
            <a:off x="3314157" y="1067108"/>
            <a:ext cx="717616" cy="216332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L" sz="1050" dirty="0"/>
          </a:p>
        </p:txBody>
      </p:sp>
      <p:sp>
        <p:nvSpPr>
          <p:cNvPr id="22" name="21 Llamada rectangular redondeada"/>
          <p:cNvSpPr/>
          <p:nvPr/>
        </p:nvSpPr>
        <p:spPr>
          <a:xfrm>
            <a:off x="2357071" y="1630057"/>
            <a:ext cx="864362" cy="217689"/>
          </a:xfrm>
          <a:prstGeom prst="wedgeRoundRectCallout">
            <a:avLst>
              <a:gd name="adj1" fmla="val 63364"/>
              <a:gd name="adj2" fmla="val -191672"/>
              <a:gd name="adj3" fmla="val 16667"/>
            </a:avLst>
          </a:prstGeom>
          <a:solidFill>
            <a:srgbClr val="0070C0">
              <a:alpha val="25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8" rIns="27008" rtlCol="0" anchor="ctr"/>
          <a:lstStyle/>
          <a:p>
            <a:pPr algn="ctr"/>
            <a:r>
              <a:rPr lang="es-CL" sz="1050" dirty="0">
                <a:solidFill>
                  <a:schemeClr val="tx1"/>
                </a:solidFill>
              </a:rPr>
              <a:t>Volumen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4 CuadroTexto"/>
              <p:cNvSpPr txBox="1"/>
              <p:nvPr/>
            </p:nvSpPr>
            <p:spPr>
              <a:xfrm>
                <a:off x="3091274" y="3568913"/>
                <a:ext cx="1334789" cy="276999"/>
              </a:xfrm>
              <a:prstGeom prst="rect">
                <a:avLst/>
              </a:prstGeom>
              <a:noFill/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marL="257244" indent="-257244" algn="just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1200" b="1">
                              <a:solidFill>
                                <a:srgbClr val="7030A0"/>
                              </a:solidFill>
                              <a:latin typeface="Cambria Math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s-CL" sz="1200" b="1">
                              <a:solidFill>
                                <a:srgbClr val="7030A0"/>
                              </a:solidFill>
                              <a:latin typeface="Cambria Math"/>
                              <a:cs typeface="Arial" charset="0"/>
                            </a:rPr>
                            <m:t>𝐂</m:t>
                          </m:r>
                        </m:e>
                        <m:sub>
                          <m:r>
                            <a:rPr lang="es-CL" sz="1200" b="1">
                              <a:solidFill>
                                <a:srgbClr val="7030A0"/>
                              </a:solidFill>
                              <a:latin typeface="Cambria Math"/>
                              <a:cs typeface="Arial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s-CL" sz="1200" b="1">
                              <a:solidFill>
                                <a:srgbClr val="7030A0"/>
                              </a:solidFill>
                              <a:latin typeface="Cambria Math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s-CL" sz="1200" b="1">
                              <a:solidFill>
                                <a:srgbClr val="7030A0"/>
                              </a:solidFill>
                              <a:latin typeface="Cambria Math"/>
                              <a:cs typeface="Arial" charset="0"/>
                            </a:rPr>
                            <m:t>𝐕</m:t>
                          </m:r>
                        </m:e>
                        <m:sub>
                          <m:r>
                            <a:rPr lang="es-CL" sz="1200" b="1">
                              <a:solidFill>
                                <a:srgbClr val="7030A0"/>
                              </a:solidFill>
                              <a:latin typeface="Cambria Math"/>
                              <a:cs typeface="Arial" charset="0"/>
                            </a:rPr>
                            <m:t>𝟏</m:t>
                          </m:r>
                        </m:sub>
                      </m:sSub>
                      <m:r>
                        <a:rPr lang="es-CL" sz="1200" b="1">
                          <a:solidFill>
                            <a:schemeClr val="tx1"/>
                          </a:solidFill>
                          <a:latin typeface="Cambria Math"/>
                          <a:cs typeface="Arial" charset="0"/>
                        </a:rPr>
                        <m:t>=</m:t>
                      </m:r>
                      <m:sSub>
                        <m:sSubPr>
                          <m:ctrlPr>
                            <a:rPr lang="es-CL" sz="1200" b="1">
                              <a:solidFill>
                                <a:srgbClr val="067DD9"/>
                              </a:solidFill>
                              <a:latin typeface="Cambria Math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s-CL" sz="1200" b="1">
                              <a:solidFill>
                                <a:srgbClr val="067DD9"/>
                              </a:solidFill>
                              <a:latin typeface="Cambria Math"/>
                              <a:cs typeface="Arial" charset="0"/>
                            </a:rPr>
                            <m:t>𝐂</m:t>
                          </m:r>
                        </m:e>
                        <m:sub>
                          <m:r>
                            <a:rPr lang="es-CL" sz="1200" b="1">
                              <a:solidFill>
                                <a:srgbClr val="067DD9"/>
                              </a:solidFill>
                              <a:latin typeface="Cambria Math"/>
                              <a:cs typeface="Arial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s-CL" sz="1200" b="1">
                              <a:solidFill>
                                <a:srgbClr val="067DD9"/>
                              </a:solidFill>
                              <a:latin typeface="Cambria Math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s-CL" sz="1200" b="1">
                              <a:solidFill>
                                <a:srgbClr val="067DD9"/>
                              </a:solidFill>
                              <a:latin typeface="Cambria Math"/>
                              <a:cs typeface="Arial" charset="0"/>
                            </a:rPr>
                            <m:t>𝐕</m:t>
                          </m:r>
                        </m:e>
                        <m:sub>
                          <m:r>
                            <a:rPr lang="es-CL" sz="1200" b="1">
                              <a:solidFill>
                                <a:srgbClr val="067DD9"/>
                              </a:solidFill>
                              <a:latin typeface="Cambria Math"/>
                              <a:cs typeface="Arial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s-CL" sz="1200" b="1" dirty="0">
                  <a:solidFill>
                    <a:srgbClr val="067DD9"/>
                  </a:solidFill>
                  <a:latin typeface="Arial" charset="0"/>
                  <a:cs typeface="Arial" charset="0"/>
                </a:endParaRPr>
              </a:p>
            </p:txBody>
          </p:sp>
        </mc:Choice>
        <mc:Fallback>
          <p:sp>
            <p:nvSpPr>
              <p:cNvPr id="5" name="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274" y="3568913"/>
                <a:ext cx="133478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24 CuadroTexto"/>
              <p:cNvSpPr txBox="1"/>
              <p:nvPr/>
            </p:nvSpPr>
            <p:spPr>
              <a:xfrm>
                <a:off x="2316263" y="3869089"/>
                <a:ext cx="2656176" cy="276999"/>
              </a:xfrm>
              <a:prstGeom prst="rect">
                <a:avLst/>
              </a:prstGeom>
              <a:noFill/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marL="257244" indent="-257244" algn="just"/>
                <a14:m>
                  <m:oMathPara xmlns:m="http://schemas.openxmlformats.org/officeDocument/2006/math">
                    <m:oMath>
                      <m:r>
                        <a:rPr lang="es-CL" sz="1200">
                          <a:solidFill>
                            <a:srgbClr val="7030A0"/>
                          </a:solidFill>
                          <a:latin typeface="Cambria Math"/>
                          <a:cs typeface="Arial" charset="0"/>
                        </a:rPr>
                        <m:t>5</m:t>
                      </m:r>
                      <m:f>
                        <m:fPr>
                          <m:type m:val="lin"/>
                          <m:ctrlPr>
                            <a:rPr lang="es-CL" sz="1200">
                              <a:solidFill>
                                <a:srgbClr val="7030A0"/>
                              </a:solidFill>
                              <a:latin typeface="Cambria Math"/>
                              <a:cs typeface="Arial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CL" sz="1200">
                              <a:solidFill>
                                <a:srgbClr val="7030A0"/>
                              </a:solidFill>
                              <a:latin typeface="Cambria Math"/>
                              <a:cs typeface="Arial" charset="0"/>
                            </a:rPr>
                            <m:t>mol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CL" sz="1200">
                              <a:solidFill>
                                <a:srgbClr val="7030A0"/>
                              </a:solidFill>
                              <a:latin typeface="Cambria Math"/>
                              <a:cs typeface="Arial" charset="0"/>
                            </a:rPr>
                            <m:t>L</m:t>
                          </m:r>
                        </m:den>
                      </m:f>
                      <m:r>
                        <a:rPr lang="es-CL" sz="120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  <a:cs typeface="Arial" charset="0"/>
                        </a:rPr>
                        <m:t>×10 </m:t>
                      </m:r>
                      <m:r>
                        <m:rPr>
                          <m:sty m:val="p"/>
                        </m:rPr>
                        <a:rPr lang="es-CL" sz="120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  <a:cs typeface="Arial" charset="0"/>
                        </a:rPr>
                        <m:t>mL</m:t>
                      </m:r>
                      <m:r>
                        <a:rPr lang="es-CL" sz="1200" b="1">
                          <a:solidFill>
                            <a:schemeClr val="tx1"/>
                          </a:solidFill>
                          <a:latin typeface="Cambria Math"/>
                          <a:cs typeface="Arial" charset="0"/>
                        </a:rPr>
                        <m:t>=</m:t>
                      </m:r>
                      <m:sSub>
                        <m:sSubPr>
                          <m:ctrlPr>
                            <a:rPr lang="es-CL" sz="1200" b="1">
                              <a:solidFill>
                                <a:srgbClr val="067DD9"/>
                              </a:solidFill>
                              <a:latin typeface="Cambria Math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s-CL" sz="1200" b="1">
                              <a:solidFill>
                                <a:srgbClr val="067DD9"/>
                              </a:solidFill>
                              <a:latin typeface="Cambria Math"/>
                              <a:cs typeface="Arial" charset="0"/>
                            </a:rPr>
                            <m:t>𝐂</m:t>
                          </m:r>
                        </m:e>
                        <m:sub>
                          <m:r>
                            <a:rPr lang="es-CL" sz="1200" b="1">
                              <a:solidFill>
                                <a:srgbClr val="067DD9"/>
                              </a:solidFill>
                              <a:latin typeface="Cambria Math"/>
                              <a:cs typeface="Arial" charset="0"/>
                            </a:rPr>
                            <m:t>𝟐</m:t>
                          </m:r>
                        </m:sub>
                      </m:sSub>
                      <m:r>
                        <a:rPr lang="es-CL" sz="1200" b="1" i="1">
                          <a:solidFill>
                            <a:srgbClr val="067DD9"/>
                          </a:solidFill>
                          <a:latin typeface="Cambria Math"/>
                          <a:ea typeface="Cambria Math"/>
                          <a:cs typeface="Arial" charset="0"/>
                        </a:rPr>
                        <m:t>×</m:t>
                      </m:r>
                      <m:r>
                        <a:rPr lang="es-CL" sz="1200" i="1">
                          <a:solidFill>
                            <a:srgbClr val="067DD9"/>
                          </a:solidFill>
                          <a:latin typeface="Cambria Math"/>
                          <a:ea typeface="Cambria Math"/>
                          <a:cs typeface="Arial" charset="0"/>
                        </a:rPr>
                        <m:t>100 </m:t>
                      </m:r>
                      <m:r>
                        <m:rPr>
                          <m:sty m:val="p"/>
                        </m:rPr>
                        <a:rPr lang="es-CL" sz="1200">
                          <a:solidFill>
                            <a:srgbClr val="067DD9"/>
                          </a:solidFill>
                          <a:latin typeface="Cambria Math"/>
                          <a:ea typeface="Cambria Math"/>
                          <a:cs typeface="Arial" charset="0"/>
                        </a:rPr>
                        <m:t>mL</m:t>
                      </m:r>
                    </m:oMath>
                  </m:oMathPara>
                </a14:m>
                <a:endParaRPr lang="es-CL" sz="1200" dirty="0">
                  <a:solidFill>
                    <a:srgbClr val="067DD9"/>
                  </a:solidFill>
                  <a:latin typeface="Arial" charset="0"/>
                  <a:cs typeface="Arial" charset="0"/>
                </a:endParaRPr>
              </a:p>
            </p:txBody>
          </p:sp>
        </mc:Choice>
        <mc:Fallback>
          <p:sp>
            <p:nvSpPr>
              <p:cNvPr id="25" name="2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263" y="3869089"/>
                <a:ext cx="2656176" cy="276999"/>
              </a:xfrm>
              <a:prstGeom prst="rect">
                <a:avLst/>
              </a:prstGeom>
              <a:blipFill>
                <a:blip r:embed="rId5"/>
                <a:stretch>
                  <a:fillRect t="-87234" b="-142553"/>
                </a:stretch>
              </a:blipFill>
              <a:effectLst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26 CuadroTexto"/>
              <p:cNvSpPr txBox="1"/>
              <p:nvPr/>
            </p:nvSpPr>
            <p:spPr>
              <a:xfrm>
                <a:off x="3285947" y="4139201"/>
                <a:ext cx="2010743" cy="449354"/>
              </a:xfrm>
              <a:prstGeom prst="rect">
                <a:avLst/>
              </a:prstGeom>
              <a:noFill/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marL="257244" indent="-257244" algn="just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1200" b="1">
                              <a:solidFill>
                                <a:srgbClr val="067DD9"/>
                              </a:solidFill>
                              <a:latin typeface="Cambria Math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s-CL" sz="1200" b="1">
                              <a:solidFill>
                                <a:srgbClr val="067DD9"/>
                              </a:solidFill>
                              <a:latin typeface="Cambria Math"/>
                              <a:cs typeface="Arial" charset="0"/>
                            </a:rPr>
                            <m:t>𝐂</m:t>
                          </m:r>
                        </m:e>
                        <m:sub>
                          <m:r>
                            <a:rPr lang="es-CL" sz="1200" b="1">
                              <a:solidFill>
                                <a:srgbClr val="067DD9"/>
                              </a:solidFill>
                              <a:latin typeface="Cambria Math"/>
                              <a:cs typeface="Arial" charset="0"/>
                            </a:rPr>
                            <m:t>𝟐</m:t>
                          </m:r>
                        </m:sub>
                      </m:sSub>
                      <m:r>
                        <a:rPr lang="es-CL" sz="1200" b="1">
                          <a:solidFill>
                            <a:schemeClr val="tx1"/>
                          </a:solidFill>
                          <a:latin typeface="Cambria Math"/>
                          <a:cs typeface="Arial" charset="0"/>
                        </a:rPr>
                        <m:t>=</m:t>
                      </m:r>
                      <m:r>
                        <a:rPr lang="es-CL" sz="1200" b="1" i="1">
                          <a:solidFill>
                            <a:schemeClr val="tx1"/>
                          </a:solidFill>
                          <a:latin typeface="Cambria Math"/>
                          <a:cs typeface="Arial" charset="0"/>
                        </a:rPr>
                        <m:t> </m:t>
                      </m:r>
                      <m:f>
                        <m:fPr>
                          <m:ctrlPr>
                            <a:rPr lang="es-CL" sz="1200">
                              <a:solidFill>
                                <a:srgbClr val="7030A0"/>
                              </a:solidFill>
                              <a:latin typeface="Cambria Math"/>
                              <a:cs typeface="Arial" charset="0"/>
                            </a:rPr>
                          </m:ctrlPr>
                        </m:fPr>
                        <m:num>
                          <m:r>
                            <a:rPr lang="es-CL" sz="1200">
                              <a:solidFill>
                                <a:srgbClr val="7030A0"/>
                              </a:solidFill>
                              <a:latin typeface="Cambria Math"/>
                              <a:cs typeface="Arial" charset="0"/>
                            </a:rPr>
                            <m:t>5</m:t>
                          </m:r>
                          <m:f>
                            <m:fPr>
                              <m:type m:val="lin"/>
                              <m:ctrlPr>
                                <a:rPr lang="es-CL" sz="1200">
                                  <a:solidFill>
                                    <a:srgbClr val="7030A0"/>
                                  </a:solidFill>
                                  <a:latin typeface="Cambria Math"/>
                                  <a:cs typeface="Arial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s-CL" sz="1200">
                                  <a:solidFill>
                                    <a:srgbClr val="7030A0"/>
                                  </a:solidFill>
                                  <a:latin typeface="Cambria Math"/>
                                  <a:cs typeface="Arial" charset="0"/>
                                </a:rPr>
                                <m:t>mol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s-CL" sz="1200">
                                  <a:solidFill>
                                    <a:srgbClr val="7030A0"/>
                                  </a:solidFill>
                                  <a:latin typeface="Cambria Math"/>
                                  <a:cs typeface="Arial" charset="0"/>
                                </a:rPr>
                                <m:t>L</m:t>
                              </m:r>
                            </m:den>
                          </m:f>
                          <m:r>
                            <a:rPr lang="es-CL" sz="120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  <a:cs typeface="Arial" charset="0"/>
                            </a:rPr>
                            <m:t>×10 </m:t>
                          </m:r>
                          <m:r>
                            <m:rPr>
                              <m:sty m:val="p"/>
                            </m:rPr>
                            <a:rPr lang="es-CL" sz="120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  <a:cs typeface="Arial" charset="0"/>
                            </a:rPr>
                            <m:t>mL</m:t>
                          </m:r>
                        </m:num>
                        <m:den>
                          <m:r>
                            <a:rPr lang="es-CL" sz="1200" i="1">
                              <a:solidFill>
                                <a:srgbClr val="067DD9"/>
                              </a:solidFill>
                              <a:latin typeface="Cambria Math"/>
                              <a:ea typeface="Cambria Math"/>
                              <a:cs typeface="Arial" charset="0"/>
                            </a:rPr>
                            <m:t>100 </m:t>
                          </m:r>
                          <m:r>
                            <m:rPr>
                              <m:sty m:val="p"/>
                            </m:rPr>
                            <a:rPr lang="es-CL" sz="1200">
                              <a:solidFill>
                                <a:srgbClr val="067DD9"/>
                              </a:solidFill>
                              <a:latin typeface="Cambria Math"/>
                              <a:ea typeface="Cambria Math"/>
                              <a:cs typeface="Arial" charset="0"/>
                            </a:rPr>
                            <m:t>mL</m:t>
                          </m:r>
                          <m:r>
                            <m:rPr>
                              <m:nor/>
                            </m:rPr>
                            <a:rPr lang="es-CL" sz="1200" dirty="0">
                              <a:solidFill>
                                <a:srgbClr val="067DD9"/>
                              </a:solidFill>
                              <a:latin typeface="Arial" charset="0"/>
                              <a:cs typeface="Arial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s-CL" sz="1200" dirty="0">
                  <a:solidFill>
                    <a:srgbClr val="067DD9"/>
                  </a:solidFill>
                  <a:latin typeface="Arial" charset="0"/>
                  <a:cs typeface="Arial" charset="0"/>
                </a:endParaRPr>
              </a:p>
            </p:txBody>
          </p:sp>
        </mc:Choice>
        <mc:Fallback>
          <p:sp>
            <p:nvSpPr>
              <p:cNvPr id="27" name="2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5947" y="4139201"/>
                <a:ext cx="2010743" cy="449354"/>
              </a:xfrm>
              <a:prstGeom prst="rect">
                <a:avLst/>
              </a:prstGeom>
              <a:blipFill>
                <a:blip r:embed="rId6"/>
                <a:stretch>
                  <a:fillRect t="-56579" b="-47368"/>
                </a:stretch>
              </a:blipFill>
              <a:effectLst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27 CuadroTexto"/>
              <p:cNvSpPr txBox="1"/>
              <p:nvPr/>
            </p:nvSpPr>
            <p:spPr>
              <a:xfrm>
                <a:off x="3312271" y="4610198"/>
                <a:ext cx="1498102" cy="276999"/>
              </a:xfrm>
              <a:prstGeom prst="rect">
                <a:avLst/>
              </a:prstGeom>
              <a:noFill/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marL="257244" indent="-257244" algn="just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1200" b="1">
                              <a:solidFill>
                                <a:srgbClr val="067DD9"/>
                              </a:solidFill>
                              <a:latin typeface="Cambria Math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s-CL" sz="1200" b="1">
                              <a:solidFill>
                                <a:srgbClr val="067DD9"/>
                              </a:solidFill>
                              <a:latin typeface="Cambria Math"/>
                              <a:cs typeface="Arial" charset="0"/>
                            </a:rPr>
                            <m:t>𝐂</m:t>
                          </m:r>
                        </m:e>
                        <m:sub>
                          <m:r>
                            <a:rPr lang="es-CL" sz="1200" b="1">
                              <a:solidFill>
                                <a:srgbClr val="067DD9"/>
                              </a:solidFill>
                              <a:latin typeface="Cambria Math"/>
                              <a:cs typeface="Arial" charset="0"/>
                            </a:rPr>
                            <m:t>𝟐</m:t>
                          </m:r>
                        </m:sub>
                      </m:sSub>
                      <m:r>
                        <a:rPr lang="es-CL" sz="1200" b="1">
                          <a:solidFill>
                            <a:schemeClr val="tx1"/>
                          </a:solidFill>
                          <a:latin typeface="Cambria Math"/>
                          <a:cs typeface="Arial" charset="0"/>
                        </a:rPr>
                        <m:t>=</m:t>
                      </m:r>
                      <m:r>
                        <a:rPr lang="es-CL" sz="1200">
                          <a:solidFill>
                            <a:srgbClr val="0070C0"/>
                          </a:solidFill>
                          <a:latin typeface="Cambria Math"/>
                          <a:cs typeface="Arial" charset="0"/>
                        </a:rPr>
                        <m:t>0,5 </m:t>
                      </m:r>
                      <m:r>
                        <m:rPr>
                          <m:sty m:val="p"/>
                        </m:rPr>
                        <a:rPr lang="es-CL" sz="1200">
                          <a:solidFill>
                            <a:srgbClr val="0070C0"/>
                          </a:solidFill>
                          <a:latin typeface="Cambria Math"/>
                          <a:cs typeface="Arial" charset="0"/>
                        </a:rPr>
                        <m:t>mol</m:t>
                      </m:r>
                      <m:r>
                        <a:rPr lang="es-CL" sz="1200">
                          <a:solidFill>
                            <a:srgbClr val="0070C0"/>
                          </a:solidFill>
                          <a:latin typeface="Cambria Math"/>
                          <a:cs typeface="Arial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CL" sz="1200">
                          <a:solidFill>
                            <a:srgbClr val="0070C0"/>
                          </a:solidFill>
                          <a:latin typeface="Cambria Math"/>
                          <a:cs typeface="Arial" charset="0"/>
                        </a:rPr>
                        <m:t>L</m:t>
                      </m:r>
                    </m:oMath>
                  </m:oMathPara>
                </a14:m>
                <a:endParaRPr lang="es-CL" sz="1200" dirty="0">
                  <a:solidFill>
                    <a:srgbClr val="0070C0"/>
                  </a:solidFill>
                  <a:latin typeface="Arial" charset="0"/>
                  <a:cs typeface="Arial" charset="0"/>
                </a:endParaRPr>
              </a:p>
            </p:txBody>
          </p:sp>
        </mc:Choice>
        <mc:Fallback>
          <p:sp>
            <p:nvSpPr>
              <p:cNvPr id="28" name="2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271" y="4610198"/>
                <a:ext cx="1498102" cy="276999"/>
              </a:xfrm>
              <a:prstGeom prst="rect">
                <a:avLst/>
              </a:prstGeom>
              <a:blipFill>
                <a:blip r:embed="rId7"/>
                <a:stretch>
                  <a:fillRect b="-4167"/>
                </a:stretch>
              </a:blipFill>
              <a:effectLst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6 CuadroTexto"/>
          <p:cNvSpPr txBox="1"/>
          <p:nvPr/>
        </p:nvSpPr>
        <p:spPr>
          <a:xfrm>
            <a:off x="4301887" y="2652861"/>
            <a:ext cx="491840" cy="41549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57244" indent="-257244" algn="just"/>
            <a:r>
              <a:rPr lang="es-CL" sz="1050" b="1" dirty="0">
                <a:solidFill>
                  <a:srgbClr val="067DD9"/>
                </a:solidFill>
                <a:latin typeface="Arial" charset="0"/>
                <a:cs typeface="Arial" charset="0"/>
              </a:rPr>
              <a:t>0,5 M</a:t>
            </a:r>
          </a:p>
        </p:txBody>
      </p:sp>
      <p:sp>
        <p:nvSpPr>
          <p:cNvPr id="30" name="29 Llamada rectangular redondeada"/>
          <p:cNvSpPr/>
          <p:nvPr/>
        </p:nvSpPr>
        <p:spPr>
          <a:xfrm>
            <a:off x="4896731" y="3645033"/>
            <a:ext cx="1124095" cy="217689"/>
          </a:xfrm>
          <a:prstGeom prst="wedgeRoundRectCallout">
            <a:avLst>
              <a:gd name="adj1" fmla="val -68887"/>
              <a:gd name="adj2" fmla="val -447719"/>
              <a:gd name="adj3" fmla="val 16667"/>
            </a:avLst>
          </a:prstGeom>
          <a:solidFill>
            <a:srgbClr val="0070C0">
              <a:alpha val="25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8" rIns="27008" rtlCol="0" anchor="ctr"/>
          <a:lstStyle/>
          <a:p>
            <a:pPr algn="ctr"/>
            <a:r>
              <a:rPr lang="es-CL" sz="1050" dirty="0">
                <a:solidFill>
                  <a:schemeClr val="tx1"/>
                </a:solidFill>
              </a:rPr>
              <a:t>Concentración 2</a:t>
            </a:r>
          </a:p>
        </p:txBody>
      </p:sp>
      <p:sp>
        <p:nvSpPr>
          <p:cNvPr id="31" name="30 Rectángulo"/>
          <p:cNvSpPr/>
          <p:nvPr/>
        </p:nvSpPr>
        <p:spPr>
          <a:xfrm>
            <a:off x="3314158" y="1289609"/>
            <a:ext cx="568258" cy="216332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L" sz="1050" dirty="0"/>
          </a:p>
        </p:txBody>
      </p:sp>
      <p:sp>
        <p:nvSpPr>
          <p:cNvPr id="32" name="31 Llamada rectangular redondeada"/>
          <p:cNvSpPr/>
          <p:nvPr/>
        </p:nvSpPr>
        <p:spPr>
          <a:xfrm>
            <a:off x="2357072" y="1630057"/>
            <a:ext cx="864362" cy="217689"/>
          </a:xfrm>
          <a:prstGeom prst="wedgeRoundRectCallout">
            <a:avLst>
              <a:gd name="adj1" fmla="val 67498"/>
              <a:gd name="adj2" fmla="val -106323"/>
              <a:gd name="adj3" fmla="val 16667"/>
            </a:avLst>
          </a:prstGeom>
          <a:solidFill>
            <a:srgbClr val="0070C0">
              <a:alpha val="25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8" rIns="27008" rtlCol="0" anchor="ctr"/>
          <a:lstStyle/>
          <a:p>
            <a:pPr algn="ctr"/>
            <a:r>
              <a:rPr lang="es-CL" sz="1050" dirty="0">
                <a:solidFill>
                  <a:schemeClr val="tx1"/>
                </a:solidFill>
              </a:rPr>
              <a:t>Volumen 2</a:t>
            </a:r>
          </a:p>
        </p:txBody>
      </p:sp>
      <p:sp>
        <p:nvSpPr>
          <p:cNvPr id="33" name="32 Rectángulo"/>
          <p:cNvSpPr/>
          <p:nvPr/>
        </p:nvSpPr>
        <p:spPr>
          <a:xfrm>
            <a:off x="1357213" y="1498300"/>
            <a:ext cx="568258" cy="216332"/>
          </a:xfrm>
          <a:prstGeom prst="rect">
            <a:avLst/>
          </a:prstGeom>
          <a:solidFill>
            <a:srgbClr val="C00000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L" sz="1050" dirty="0"/>
          </a:p>
        </p:txBody>
      </p:sp>
      <p:sp>
        <p:nvSpPr>
          <p:cNvPr id="35" name="34 Llamada rectangular redondeada"/>
          <p:cNvSpPr/>
          <p:nvPr/>
        </p:nvSpPr>
        <p:spPr>
          <a:xfrm>
            <a:off x="1209161" y="2014144"/>
            <a:ext cx="864362" cy="217689"/>
          </a:xfrm>
          <a:prstGeom prst="wedgeRoundRectCallout">
            <a:avLst>
              <a:gd name="adj1" fmla="val 7973"/>
              <a:gd name="adj2" fmla="val -188389"/>
              <a:gd name="adj3" fmla="val 16667"/>
            </a:avLst>
          </a:prstGeom>
          <a:solidFill>
            <a:srgbClr val="C00000">
              <a:alpha val="25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8" rIns="27008" rtlCol="0" anchor="ctr"/>
          <a:lstStyle/>
          <a:p>
            <a:pPr algn="ctr"/>
            <a:r>
              <a:rPr lang="es-CL" sz="1050" dirty="0">
                <a:solidFill>
                  <a:schemeClr val="tx1"/>
                </a:solidFill>
              </a:rPr>
              <a:t>Volumen 3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6246703" y="3352581"/>
            <a:ext cx="972408" cy="216332"/>
          </a:xfrm>
          <a:prstGeom prst="rect">
            <a:avLst/>
          </a:prstGeom>
          <a:solidFill>
            <a:srgbClr val="C00000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L" sz="10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36 CuadroTexto"/>
              <p:cNvSpPr txBox="1"/>
              <p:nvPr/>
            </p:nvSpPr>
            <p:spPr>
              <a:xfrm>
                <a:off x="5846430" y="3561072"/>
                <a:ext cx="1334789" cy="276999"/>
              </a:xfrm>
              <a:prstGeom prst="rect">
                <a:avLst/>
              </a:prstGeom>
              <a:noFill/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marL="257244" indent="-257244" algn="just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1200" b="1">
                              <a:solidFill>
                                <a:srgbClr val="0070C0"/>
                              </a:solidFill>
                              <a:latin typeface="Cambria Math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s-CL" sz="1200" b="1">
                              <a:solidFill>
                                <a:srgbClr val="0070C0"/>
                              </a:solidFill>
                              <a:latin typeface="Cambria Math"/>
                              <a:cs typeface="Arial" charset="0"/>
                            </a:rPr>
                            <m:t>𝐂</m:t>
                          </m:r>
                        </m:e>
                        <m:sub>
                          <m:r>
                            <a:rPr lang="es-CL" sz="1200" b="1">
                              <a:solidFill>
                                <a:srgbClr val="0070C0"/>
                              </a:solidFill>
                              <a:latin typeface="Cambria Math"/>
                              <a:cs typeface="Arial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s-CL" sz="1200" b="1">
                              <a:solidFill>
                                <a:srgbClr val="0070C0"/>
                              </a:solidFill>
                              <a:latin typeface="Cambria Math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s-CL" sz="1200" b="1">
                              <a:solidFill>
                                <a:srgbClr val="0070C0"/>
                              </a:solidFill>
                              <a:latin typeface="Cambria Math"/>
                              <a:cs typeface="Arial" charset="0"/>
                            </a:rPr>
                            <m:t>𝐕</m:t>
                          </m:r>
                        </m:e>
                        <m:sub>
                          <m:r>
                            <a:rPr lang="es-CL" sz="1200" b="1">
                              <a:solidFill>
                                <a:srgbClr val="0070C0"/>
                              </a:solidFill>
                              <a:latin typeface="Cambria Math"/>
                              <a:cs typeface="Arial" charset="0"/>
                            </a:rPr>
                            <m:t>𝟐</m:t>
                          </m:r>
                        </m:sub>
                      </m:sSub>
                      <m:r>
                        <a:rPr lang="es-CL" sz="1200" b="1">
                          <a:solidFill>
                            <a:schemeClr val="tx1"/>
                          </a:solidFill>
                          <a:latin typeface="Cambria Math"/>
                          <a:cs typeface="Arial" charset="0"/>
                        </a:rPr>
                        <m:t>=</m:t>
                      </m:r>
                      <m:sSub>
                        <m:sSubPr>
                          <m:ctrlPr>
                            <a:rPr lang="es-CL" sz="1200" b="1">
                              <a:solidFill>
                                <a:srgbClr val="C00000"/>
                              </a:solidFill>
                              <a:latin typeface="Cambria Math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s-CL" sz="1200" b="1">
                              <a:solidFill>
                                <a:srgbClr val="C00000"/>
                              </a:solidFill>
                              <a:latin typeface="Cambria Math"/>
                              <a:cs typeface="Arial" charset="0"/>
                            </a:rPr>
                            <m:t>𝐂</m:t>
                          </m:r>
                        </m:e>
                        <m:sub>
                          <m:r>
                            <a:rPr lang="es-CL" sz="1200" b="1">
                              <a:solidFill>
                                <a:srgbClr val="C00000"/>
                              </a:solidFill>
                              <a:latin typeface="Cambria Math"/>
                              <a:cs typeface="Arial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s-CL" sz="1200" b="1">
                              <a:solidFill>
                                <a:srgbClr val="C00000"/>
                              </a:solidFill>
                              <a:latin typeface="Cambria Math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s-CL" sz="1200" b="1">
                              <a:solidFill>
                                <a:srgbClr val="C00000"/>
                              </a:solidFill>
                              <a:latin typeface="Cambria Math"/>
                              <a:cs typeface="Arial" charset="0"/>
                            </a:rPr>
                            <m:t>𝐕</m:t>
                          </m:r>
                        </m:e>
                        <m:sub>
                          <m:r>
                            <a:rPr lang="es-CL" sz="1200" b="1">
                              <a:solidFill>
                                <a:srgbClr val="C00000"/>
                              </a:solidFill>
                              <a:latin typeface="Cambria Math"/>
                              <a:cs typeface="Arial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s-CL" sz="1200" b="1" dirty="0">
                  <a:solidFill>
                    <a:srgbClr val="067DD9"/>
                  </a:solidFill>
                  <a:latin typeface="Arial" charset="0"/>
                  <a:cs typeface="Arial" charset="0"/>
                </a:endParaRPr>
              </a:p>
            </p:txBody>
          </p:sp>
        </mc:Choice>
        <mc:Fallback>
          <p:sp>
            <p:nvSpPr>
              <p:cNvPr id="37" name="3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430" y="3561072"/>
                <a:ext cx="1334789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37 CuadroTexto"/>
              <p:cNvSpPr txBox="1"/>
              <p:nvPr/>
            </p:nvSpPr>
            <p:spPr>
              <a:xfrm>
                <a:off x="4927484" y="3877325"/>
                <a:ext cx="2688236" cy="276999"/>
              </a:xfrm>
              <a:prstGeom prst="rect">
                <a:avLst/>
              </a:prstGeom>
              <a:noFill/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marL="257244" indent="-257244" algn="just"/>
                <a14:m>
                  <m:oMathPara xmlns:m="http://schemas.openxmlformats.org/officeDocument/2006/math">
                    <m:oMath>
                      <m:r>
                        <a:rPr lang="es-CL" sz="1200">
                          <a:solidFill>
                            <a:srgbClr val="0070C0"/>
                          </a:solidFill>
                          <a:latin typeface="Cambria Math"/>
                          <a:cs typeface="Arial" charset="0"/>
                        </a:rPr>
                        <m:t>0,5</m:t>
                      </m:r>
                      <m:f>
                        <m:fPr>
                          <m:type m:val="lin"/>
                          <m:ctrlPr>
                            <a:rPr lang="es-CL" sz="1200">
                              <a:solidFill>
                                <a:srgbClr val="0070C0"/>
                              </a:solidFill>
                              <a:latin typeface="Cambria Math"/>
                              <a:cs typeface="Arial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CL" sz="1200">
                              <a:solidFill>
                                <a:srgbClr val="0070C0"/>
                              </a:solidFill>
                              <a:latin typeface="Cambria Math"/>
                              <a:cs typeface="Arial" charset="0"/>
                            </a:rPr>
                            <m:t>mol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CL" sz="1200">
                              <a:solidFill>
                                <a:srgbClr val="0070C0"/>
                              </a:solidFill>
                              <a:latin typeface="Cambria Math"/>
                              <a:cs typeface="Arial" charset="0"/>
                            </a:rPr>
                            <m:t>L</m:t>
                          </m:r>
                        </m:den>
                      </m:f>
                      <m:r>
                        <a:rPr lang="es-CL" sz="120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  <a:cs typeface="Arial" charset="0"/>
                        </a:rPr>
                        <m:t>×10 </m:t>
                      </m:r>
                      <m:r>
                        <m:rPr>
                          <m:sty m:val="p"/>
                        </m:rPr>
                        <a:rPr lang="es-CL" sz="120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  <a:cs typeface="Arial" charset="0"/>
                        </a:rPr>
                        <m:t>mL</m:t>
                      </m:r>
                      <m:r>
                        <a:rPr lang="es-CL" sz="1200" b="1">
                          <a:solidFill>
                            <a:schemeClr val="tx1"/>
                          </a:solidFill>
                          <a:latin typeface="Cambria Math"/>
                          <a:cs typeface="Arial" charset="0"/>
                        </a:rPr>
                        <m:t>=</m:t>
                      </m:r>
                      <m:sSub>
                        <m:sSubPr>
                          <m:ctrlPr>
                            <a:rPr lang="es-CL" sz="1200" b="1">
                              <a:solidFill>
                                <a:srgbClr val="C00000"/>
                              </a:solidFill>
                              <a:latin typeface="Cambria Math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s-CL" sz="1200" b="1">
                              <a:solidFill>
                                <a:srgbClr val="C00000"/>
                              </a:solidFill>
                              <a:latin typeface="Cambria Math"/>
                              <a:cs typeface="Arial" charset="0"/>
                            </a:rPr>
                            <m:t>𝐂</m:t>
                          </m:r>
                        </m:e>
                        <m:sub>
                          <m:r>
                            <a:rPr lang="es-CL" sz="1200" b="1">
                              <a:solidFill>
                                <a:srgbClr val="C00000"/>
                              </a:solidFill>
                              <a:latin typeface="Cambria Math"/>
                              <a:cs typeface="Arial" charset="0"/>
                            </a:rPr>
                            <m:t>𝟑</m:t>
                          </m:r>
                        </m:sub>
                      </m:sSub>
                      <m:r>
                        <a:rPr lang="es-CL" sz="1200" b="1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  <a:cs typeface="Arial" charset="0"/>
                        </a:rPr>
                        <m:t>×</m:t>
                      </m:r>
                      <m:r>
                        <a:rPr lang="es-CL" sz="12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  <a:cs typeface="Arial" charset="0"/>
                        </a:rPr>
                        <m:t>50 </m:t>
                      </m:r>
                      <m:r>
                        <m:rPr>
                          <m:sty m:val="p"/>
                        </m:rPr>
                        <a:rPr lang="es-CL" sz="1200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  <a:cs typeface="Arial" charset="0"/>
                        </a:rPr>
                        <m:t>mL</m:t>
                      </m:r>
                    </m:oMath>
                  </m:oMathPara>
                </a14:m>
                <a:endParaRPr lang="es-CL" sz="1200" dirty="0">
                  <a:solidFill>
                    <a:srgbClr val="C00000"/>
                  </a:solidFill>
                  <a:latin typeface="Arial" charset="0"/>
                  <a:cs typeface="Arial" charset="0"/>
                </a:endParaRPr>
              </a:p>
            </p:txBody>
          </p:sp>
        </mc:Choice>
        <mc:Fallback>
          <p:sp>
            <p:nvSpPr>
              <p:cNvPr id="38" name="3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484" y="3877325"/>
                <a:ext cx="2688236" cy="276999"/>
              </a:xfrm>
              <a:prstGeom prst="rect">
                <a:avLst/>
              </a:prstGeom>
              <a:blipFill>
                <a:blip r:embed="rId9"/>
                <a:stretch>
                  <a:fillRect t="-87234" b="-142553"/>
                </a:stretch>
              </a:blipFill>
              <a:effectLst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38 CuadroTexto"/>
              <p:cNvSpPr txBox="1"/>
              <p:nvPr/>
            </p:nvSpPr>
            <p:spPr>
              <a:xfrm>
                <a:off x="6008034" y="4139201"/>
                <a:ext cx="2127762" cy="449354"/>
              </a:xfrm>
              <a:prstGeom prst="rect">
                <a:avLst/>
              </a:prstGeom>
              <a:noFill/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marL="257244" indent="-257244" algn="just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1200" b="1">
                              <a:solidFill>
                                <a:srgbClr val="C00000"/>
                              </a:solidFill>
                              <a:latin typeface="Cambria Math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s-CL" sz="1200" b="1">
                              <a:solidFill>
                                <a:srgbClr val="C00000"/>
                              </a:solidFill>
                              <a:latin typeface="Cambria Math"/>
                              <a:cs typeface="Arial" charset="0"/>
                            </a:rPr>
                            <m:t>𝐂</m:t>
                          </m:r>
                        </m:e>
                        <m:sub>
                          <m:r>
                            <a:rPr lang="es-CL" sz="1200" b="1" i="1">
                              <a:solidFill>
                                <a:srgbClr val="C00000"/>
                              </a:solidFill>
                              <a:latin typeface="Cambria Math"/>
                              <a:cs typeface="Arial" charset="0"/>
                            </a:rPr>
                            <m:t>𝟑</m:t>
                          </m:r>
                        </m:sub>
                      </m:sSub>
                      <m:r>
                        <a:rPr lang="es-CL" sz="1200" b="1">
                          <a:solidFill>
                            <a:schemeClr val="tx1"/>
                          </a:solidFill>
                          <a:latin typeface="Cambria Math"/>
                          <a:cs typeface="Arial" charset="0"/>
                        </a:rPr>
                        <m:t>=</m:t>
                      </m:r>
                      <m:r>
                        <a:rPr lang="es-CL" sz="1200" b="1" i="1">
                          <a:solidFill>
                            <a:schemeClr val="tx1"/>
                          </a:solidFill>
                          <a:latin typeface="Cambria Math"/>
                          <a:cs typeface="Arial" charset="0"/>
                        </a:rPr>
                        <m:t> </m:t>
                      </m:r>
                      <m:f>
                        <m:fPr>
                          <m:ctrlPr>
                            <a:rPr lang="es-CL" sz="1200">
                              <a:solidFill>
                                <a:srgbClr val="0070C0"/>
                              </a:solidFill>
                              <a:latin typeface="Cambria Math"/>
                              <a:cs typeface="Arial" charset="0"/>
                            </a:rPr>
                          </m:ctrlPr>
                        </m:fPr>
                        <m:num>
                          <m:r>
                            <a:rPr lang="es-CL" sz="1200">
                              <a:solidFill>
                                <a:srgbClr val="0070C0"/>
                              </a:solidFill>
                              <a:latin typeface="Cambria Math"/>
                              <a:cs typeface="Arial" charset="0"/>
                            </a:rPr>
                            <m:t>0,</m:t>
                          </m:r>
                          <m:r>
                            <a:rPr lang="es-CL" sz="1200">
                              <a:solidFill>
                                <a:srgbClr val="0070C0"/>
                              </a:solidFill>
                              <a:latin typeface="Cambria Math"/>
                              <a:cs typeface="Arial" charset="0"/>
                            </a:rPr>
                            <m:t>5</m:t>
                          </m:r>
                          <m:f>
                            <m:fPr>
                              <m:type m:val="lin"/>
                              <m:ctrlPr>
                                <a:rPr lang="es-CL" sz="1200">
                                  <a:solidFill>
                                    <a:srgbClr val="0070C0"/>
                                  </a:solidFill>
                                  <a:latin typeface="Cambria Math"/>
                                  <a:cs typeface="Arial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s-CL" sz="1200">
                                  <a:solidFill>
                                    <a:srgbClr val="0070C0"/>
                                  </a:solidFill>
                                  <a:latin typeface="Cambria Math"/>
                                  <a:cs typeface="Arial" charset="0"/>
                                </a:rPr>
                                <m:t>mol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s-CL" sz="1200">
                                  <a:solidFill>
                                    <a:srgbClr val="0070C0"/>
                                  </a:solidFill>
                                  <a:latin typeface="Cambria Math"/>
                                  <a:cs typeface="Arial" charset="0"/>
                                </a:rPr>
                                <m:t>L</m:t>
                              </m:r>
                            </m:den>
                          </m:f>
                          <m:r>
                            <a:rPr lang="es-CL" sz="120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  <a:cs typeface="Arial" charset="0"/>
                            </a:rPr>
                            <m:t>×10 </m:t>
                          </m:r>
                          <m:r>
                            <m:rPr>
                              <m:sty m:val="p"/>
                            </m:rPr>
                            <a:rPr lang="es-CL" sz="120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  <a:cs typeface="Arial" charset="0"/>
                            </a:rPr>
                            <m:t>mL</m:t>
                          </m:r>
                        </m:num>
                        <m:den>
                          <m:r>
                            <a:rPr lang="es-CL" sz="1200" i="1">
                              <a:solidFill>
                                <a:srgbClr val="C00000"/>
                              </a:solidFill>
                              <a:latin typeface="Cambria Math"/>
                              <a:cs typeface="Arial" charset="0"/>
                            </a:rPr>
                            <m:t>5</m:t>
                          </m:r>
                          <m:r>
                            <a:rPr lang="es-CL" sz="1200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  <a:cs typeface="Arial" charset="0"/>
                            </a:rPr>
                            <m:t>0 </m:t>
                          </m:r>
                          <m:r>
                            <m:rPr>
                              <m:sty m:val="p"/>
                            </m:rPr>
                            <a:rPr lang="es-CL" sz="1200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  <a:cs typeface="Arial" charset="0"/>
                            </a:rPr>
                            <m:t>mL</m:t>
                          </m:r>
                          <m:r>
                            <m:rPr>
                              <m:nor/>
                            </m:rPr>
                            <a:rPr lang="es-CL" sz="1200" dirty="0">
                              <a:solidFill>
                                <a:srgbClr val="C00000"/>
                              </a:solidFill>
                              <a:latin typeface="Arial" charset="0"/>
                              <a:cs typeface="Arial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s-CL" sz="1200" dirty="0">
                  <a:solidFill>
                    <a:srgbClr val="067DD9"/>
                  </a:solidFill>
                  <a:latin typeface="Arial" charset="0"/>
                  <a:cs typeface="Arial" charset="0"/>
                </a:endParaRPr>
              </a:p>
            </p:txBody>
          </p:sp>
        </mc:Choice>
        <mc:Fallback>
          <p:sp>
            <p:nvSpPr>
              <p:cNvPr id="39" name="3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034" y="4139201"/>
                <a:ext cx="2127762" cy="449354"/>
              </a:xfrm>
              <a:prstGeom prst="rect">
                <a:avLst/>
              </a:prstGeom>
              <a:blipFill>
                <a:blip r:embed="rId10"/>
                <a:stretch>
                  <a:fillRect t="-56579" b="-47368"/>
                </a:stretch>
              </a:blipFill>
              <a:effectLst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39 CuadroTexto"/>
              <p:cNvSpPr txBox="1"/>
              <p:nvPr/>
            </p:nvSpPr>
            <p:spPr>
              <a:xfrm>
                <a:off x="6008331" y="4625406"/>
                <a:ext cx="1498102" cy="276999"/>
              </a:xfrm>
              <a:prstGeom prst="rect">
                <a:avLst/>
              </a:prstGeom>
              <a:noFill/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marL="257244" indent="-257244" algn="just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L" sz="1200" b="1">
                              <a:solidFill>
                                <a:srgbClr val="C00000"/>
                              </a:solidFill>
                              <a:latin typeface="Cambria Math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s-CL" sz="1200" b="1">
                              <a:solidFill>
                                <a:srgbClr val="C00000"/>
                              </a:solidFill>
                              <a:latin typeface="Cambria Math"/>
                              <a:cs typeface="Arial" charset="0"/>
                            </a:rPr>
                            <m:t>𝐂</m:t>
                          </m:r>
                        </m:e>
                        <m:sub>
                          <m:r>
                            <a:rPr lang="es-CL" sz="1200" b="1" i="1">
                              <a:solidFill>
                                <a:srgbClr val="C00000"/>
                              </a:solidFill>
                              <a:latin typeface="Cambria Math"/>
                              <a:cs typeface="Arial" charset="0"/>
                            </a:rPr>
                            <m:t>𝟑</m:t>
                          </m:r>
                        </m:sub>
                      </m:sSub>
                      <m:r>
                        <a:rPr lang="es-CL" sz="1200" b="1">
                          <a:solidFill>
                            <a:schemeClr val="tx1"/>
                          </a:solidFill>
                          <a:latin typeface="Cambria Math"/>
                          <a:cs typeface="Arial" charset="0"/>
                        </a:rPr>
                        <m:t>=</m:t>
                      </m:r>
                      <m:r>
                        <a:rPr lang="es-CL" sz="1200">
                          <a:solidFill>
                            <a:srgbClr val="C00000"/>
                          </a:solidFill>
                          <a:latin typeface="Cambria Math"/>
                          <a:cs typeface="Arial" charset="0"/>
                        </a:rPr>
                        <m:t>0,1 </m:t>
                      </m:r>
                      <m:r>
                        <m:rPr>
                          <m:sty m:val="p"/>
                        </m:rPr>
                        <a:rPr lang="es-CL" sz="1200">
                          <a:solidFill>
                            <a:srgbClr val="C00000"/>
                          </a:solidFill>
                          <a:latin typeface="Cambria Math"/>
                          <a:cs typeface="Arial" charset="0"/>
                        </a:rPr>
                        <m:t>mol</m:t>
                      </m:r>
                      <m:r>
                        <a:rPr lang="es-CL" sz="1200">
                          <a:solidFill>
                            <a:srgbClr val="C00000"/>
                          </a:solidFill>
                          <a:latin typeface="Cambria Math"/>
                          <a:cs typeface="Arial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CL" sz="1200">
                          <a:solidFill>
                            <a:srgbClr val="C00000"/>
                          </a:solidFill>
                          <a:latin typeface="Cambria Math"/>
                          <a:cs typeface="Arial" charset="0"/>
                        </a:rPr>
                        <m:t>L</m:t>
                      </m:r>
                    </m:oMath>
                  </m:oMathPara>
                </a14:m>
                <a:endParaRPr lang="es-CL" sz="1200" dirty="0">
                  <a:solidFill>
                    <a:srgbClr val="C00000"/>
                  </a:solidFill>
                  <a:latin typeface="Arial" charset="0"/>
                  <a:cs typeface="Arial" charset="0"/>
                </a:endParaRPr>
              </a:p>
            </p:txBody>
          </p:sp>
        </mc:Choice>
        <mc:Fallback>
          <p:sp>
            <p:nvSpPr>
              <p:cNvPr id="40" name="3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331" y="4625406"/>
                <a:ext cx="1498102" cy="276999"/>
              </a:xfrm>
              <a:prstGeom prst="rect">
                <a:avLst/>
              </a:prstGeom>
              <a:blipFill>
                <a:blip r:embed="rId11"/>
                <a:stretch>
                  <a:fillRect b="-4255"/>
                </a:stretch>
              </a:blipFill>
              <a:effectLst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40 CuadroTexto"/>
          <p:cNvSpPr txBox="1"/>
          <p:nvPr/>
        </p:nvSpPr>
        <p:spPr>
          <a:xfrm>
            <a:off x="5268659" y="2673182"/>
            <a:ext cx="491840" cy="41549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57244" indent="-257244" algn="just"/>
            <a:r>
              <a:rPr lang="es-CL" sz="1050" b="1" dirty="0">
                <a:solidFill>
                  <a:srgbClr val="C00000"/>
                </a:solidFill>
                <a:latin typeface="Arial" charset="0"/>
                <a:cs typeface="Arial" charset="0"/>
              </a:rPr>
              <a:t>0,1 M</a:t>
            </a:r>
          </a:p>
        </p:txBody>
      </p:sp>
      <p:grpSp>
        <p:nvGrpSpPr>
          <p:cNvPr id="42" name="Group 12"/>
          <p:cNvGrpSpPr>
            <a:grpSpLocks/>
          </p:cNvGrpSpPr>
          <p:nvPr/>
        </p:nvGrpSpPr>
        <p:grpSpPr bwMode="auto">
          <a:xfrm>
            <a:off x="1983825" y="2178846"/>
            <a:ext cx="1064747" cy="970658"/>
            <a:chOff x="3894" y="2319"/>
            <a:chExt cx="894" cy="815"/>
          </a:xfrm>
        </p:grpSpPr>
        <p:sp>
          <p:nvSpPr>
            <p:cNvPr id="43" name="Rectangle 13"/>
            <p:cNvSpPr>
              <a:spLocks noChangeArrowheads="1"/>
            </p:cNvSpPr>
            <p:nvPr/>
          </p:nvSpPr>
          <p:spPr bwMode="auto">
            <a:xfrm>
              <a:off x="4037" y="2319"/>
              <a:ext cx="612" cy="514"/>
            </a:xfrm>
            <a:prstGeom prst="rect">
              <a:avLst/>
            </a:prstGeom>
            <a:solidFill>
              <a:srgbClr val="067DD9">
                <a:alpha val="5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s-ES_tradnl" altLang="es-CL" sz="3376" b="1" dirty="0"/>
                <a:t>B</a:t>
              </a:r>
              <a:endParaRPr lang="es-ES" altLang="es-CL" sz="3376" b="1" dirty="0"/>
            </a:p>
          </p:txBody>
        </p:sp>
        <p:sp>
          <p:nvSpPr>
            <p:cNvPr id="44" name="Rectangle 14"/>
            <p:cNvSpPr>
              <a:spLocks noChangeArrowheads="1"/>
            </p:cNvSpPr>
            <p:nvPr/>
          </p:nvSpPr>
          <p:spPr bwMode="auto">
            <a:xfrm>
              <a:off x="3894" y="2863"/>
              <a:ext cx="89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s-ES_tradnl" altLang="es-CL" sz="1500" dirty="0"/>
                <a:t>Aplicación</a:t>
              </a:r>
              <a:endParaRPr lang="es-ES" altLang="es-CL" sz="1500" dirty="0"/>
            </a:p>
          </p:txBody>
        </p:sp>
      </p:grpSp>
      <p:sp>
        <p:nvSpPr>
          <p:cNvPr id="45" name="44 Llamada rectangular redondeada"/>
          <p:cNvSpPr/>
          <p:nvPr/>
        </p:nvSpPr>
        <p:spPr>
          <a:xfrm>
            <a:off x="6164792" y="2500677"/>
            <a:ext cx="1618514" cy="652139"/>
          </a:xfrm>
          <a:prstGeom prst="wedgeRoundRectCallout">
            <a:avLst>
              <a:gd name="adj1" fmla="val -77012"/>
              <a:gd name="adj2" fmla="val -22126"/>
              <a:gd name="adj3" fmla="val 16667"/>
            </a:avLst>
          </a:prstGeom>
          <a:solidFill>
            <a:srgbClr val="FFC000">
              <a:alpha val="25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8" rIns="27008" rtlCol="0" anchor="ctr"/>
          <a:lstStyle/>
          <a:p>
            <a:pPr algn="ctr"/>
            <a:r>
              <a:rPr lang="es-CL" sz="1050" dirty="0">
                <a:solidFill>
                  <a:schemeClr val="tx1"/>
                </a:solidFill>
              </a:rPr>
              <a:t>¿Cuántos mol de soluto se traspasan en cada dilución?</a:t>
            </a:r>
          </a:p>
        </p:txBody>
      </p:sp>
    </p:spTree>
    <p:extLst>
      <p:ext uri="{BB962C8B-B14F-4D97-AF65-F5344CB8AC3E}">
        <p14:creationId xmlns:p14="http://schemas.microsoft.com/office/powerpoint/2010/main" val="819303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500"/>
                            </p:stCondLst>
                            <p:childTnLst>
                              <p:par>
                                <p:cTn id="1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000"/>
                            </p:stCondLst>
                            <p:childTnLst>
                              <p:par>
                                <p:cTn id="1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000"/>
                            </p:stCondLst>
                            <p:childTnLst>
                              <p:par>
                                <p:cTn id="1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00"/>
                            </p:stCondLst>
                            <p:childTnLst>
                              <p:par>
                                <p:cTn id="19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0" grpId="2" animBg="1"/>
      <p:bldP spid="20" grpId="3" animBg="1"/>
      <p:bldP spid="21" grpId="0" animBg="1"/>
      <p:bldP spid="21" grpId="1" animBg="1"/>
      <p:bldP spid="22" grpId="0" animBg="1"/>
      <p:bldP spid="22" grpId="1" animBg="1"/>
      <p:bldP spid="5" grpId="0" animBg="1"/>
      <p:bldP spid="25" grpId="0" animBg="1"/>
      <p:bldP spid="27" grpId="0" animBg="1"/>
      <p:bldP spid="28" grpId="0" animBg="1"/>
      <p:bldP spid="7" grpId="0"/>
      <p:bldP spid="30" grpId="0" animBg="1"/>
      <p:bldP spid="30" grpId="1" animBg="1"/>
      <p:bldP spid="31" grpId="0" animBg="1"/>
      <p:bldP spid="32" grpId="0" animBg="1"/>
      <p:bldP spid="32" grpId="1" animBg="1"/>
      <p:bldP spid="33" grpId="0" animBg="1"/>
      <p:bldP spid="35" grpId="0" animBg="1"/>
      <p:bldP spid="35" grpId="1" animBg="1"/>
      <p:bldP spid="36" grpId="0" animBg="1"/>
      <p:bldP spid="36" grpId="1" animBg="1"/>
      <p:bldP spid="37" grpId="0" animBg="1"/>
      <p:bldP spid="38" grpId="0" animBg="1"/>
      <p:bldP spid="39" grpId="0" animBg="1"/>
      <p:bldP spid="40" grpId="0" animBg="1"/>
      <p:bldP spid="41" grpId="0"/>
      <p:bldP spid="4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Group 6">
            <a:extLst>
              <a:ext uri="{FF2B5EF4-FFF2-40B4-BE49-F238E27FC236}">
                <a16:creationId xmlns:a16="http://schemas.microsoft.com/office/drawing/2014/main" id="{5AA3AE02-6151-45FA-A19F-0698D37CBCA9}"/>
              </a:ext>
            </a:extLst>
          </p:cNvPr>
          <p:cNvGrpSpPr>
            <a:grpSpLocks/>
          </p:cNvGrpSpPr>
          <p:nvPr/>
        </p:nvGrpSpPr>
        <p:grpSpPr bwMode="auto">
          <a:xfrm>
            <a:off x="1240795" y="-75033"/>
            <a:ext cx="3601561" cy="539520"/>
            <a:chOff x="83" y="-63"/>
            <a:chExt cx="3024" cy="453"/>
          </a:xfrm>
        </p:grpSpPr>
        <p:sp>
          <p:nvSpPr>
            <p:cNvPr id="50201" name="37 Rectángulo redondeado">
              <a:extLst>
                <a:ext uri="{FF2B5EF4-FFF2-40B4-BE49-F238E27FC236}">
                  <a16:creationId xmlns:a16="http://schemas.microsoft.com/office/drawing/2014/main" id="{8B6B3C06-7CDE-41FE-A8FE-6FC1C9054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-63"/>
              <a:ext cx="3024" cy="453"/>
            </a:xfrm>
            <a:prstGeom prst="roundRect">
              <a:avLst>
                <a:gd name="adj" fmla="val 16667"/>
              </a:avLst>
            </a:pr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s-CL" altLang="es-CL" sz="1050"/>
            </a:p>
          </p:txBody>
        </p:sp>
        <p:sp>
          <p:nvSpPr>
            <p:cNvPr id="50202" name="38 CuadroTexto">
              <a:extLst>
                <a:ext uri="{FF2B5EF4-FFF2-40B4-BE49-F238E27FC236}">
                  <a16:creationId xmlns:a16="http://schemas.microsoft.com/office/drawing/2014/main" id="{4905AB8D-D81F-4752-9317-F4DD17D1F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" y="4"/>
              <a:ext cx="1837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s-CL" altLang="es-CL" sz="2101" b="1" dirty="0">
                  <a:solidFill>
                    <a:srgbClr val="404040"/>
                  </a:solidFill>
                </a:rPr>
                <a:t>Dónde estamos</a:t>
              </a:r>
            </a:p>
          </p:txBody>
        </p:sp>
      </p:grpSp>
      <p:pic>
        <p:nvPicPr>
          <p:cNvPr id="50179" name="5 Imagen" descr="ico_mapa conceptual.png">
            <a:extLst>
              <a:ext uri="{FF2B5EF4-FFF2-40B4-BE49-F238E27FC236}">
                <a16:creationId xmlns:a16="http://schemas.microsoft.com/office/drawing/2014/main" id="{8101A5C8-BCE9-44F6-A677-531ADBC63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075" y="33348"/>
            <a:ext cx="616934" cy="6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2" name="Text Box 47">
            <a:extLst>
              <a:ext uri="{FF2B5EF4-FFF2-40B4-BE49-F238E27FC236}">
                <a16:creationId xmlns:a16="http://schemas.microsoft.com/office/drawing/2014/main" id="{69D0C903-FD2A-4CE7-8296-662B44B0A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708" y="1762669"/>
            <a:ext cx="1350585" cy="253916"/>
          </a:xfrm>
          <a:prstGeom prst="rect">
            <a:avLst/>
          </a:prstGeom>
          <a:solidFill>
            <a:srgbClr val="067DD9">
              <a:alpha val="39999"/>
            </a:srgbClr>
          </a:solidFill>
          <a:ln w="28575" algn="ctr">
            <a:solidFill>
              <a:srgbClr val="067DD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CL" sz="1050"/>
              <a:t>Solubilidad</a:t>
            </a:r>
          </a:p>
        </p:txBody>
      </p:sp>
      <p:sp>
        <p:nvSpPr>
          <p:cNvPr id="37893" name="Text Box 49">
            <a:extLst>
              <a:ext uri="{FF2B5EF4-FFF2-40B4-BE49-F238E27FC236}">
                <a16:creationId xmlns:a16="http://schemas.microsoft.com/office/drawing/2014/main" id="{EA12509D-8559-40E4-AFD4-F436431AE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6123" y="2423670"/>
            <a:ext cx="1296990" cy="253916"/>
          </a:xfrm>
          <a:prstGeom prst="rect">
            <a:avLst/>
          </a:prstGeom>
          <a:solidFill>
            <a:schemeClr val="accent2">
              <a:alpha val="10196"/>
            </a:schemeClr>
          </a:solidFill>
          <a:ln w="28575" algn="ctr">
            <a:solidFill>
              <a:srgbClr val="067DD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CL" sz="1050"/>
              <a:t>Disolvente</a:t>
            </a:r>
          </a:p>
        </p:txBody>
      </p:sp>
      <p:sp>
        <p:nvSpPr>
          <p:cNvPr id="37894" name="Text Box 50">
            <a:extLst>
              <a:ext uri="{FF2B5EF4-FFF2-40B4-BE49-F238E27FC236}">
                <a16:creationId xmlns:a16="http://schemas.microsoft.com/office/drawing/2014/main" id="{BD191870-B8BB-4B04-84FE-24E2CF0E2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6306" y="2423670"/>
            <a:ext cx="1296990" cy="253916"/>
          </a:xfrm>
          <a:prstGeom prst="rect">
            <a:avLst/>
          </a:prstGeom>
          <a:solidFill>
            <a:schemeClr val="accent2">
              <a:alpha val="10196"/>
            </a:schemeClr>
          </a:solidFill>
          <a:ln w="28575" algn="ctr">
            <a:solidFill>
              <a:srgbClr val="067DD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CL" sz="1050"/>
              <a:t>Soluto</a:t>
            </a:r>
          </a:p>
        </p:txBody>
      </p:sp>
      <p:cxnSp>
        <p:nvCxnSpPr>
          <p:cNvPr id="37895" name="AutoShape 51">
            <a:extLst>
              <a:ext uri="{FF2B5EF4-FFF2-40B4-BE49-F238E27FC236}">
                <a16:creationId xmlns:a16="http://schemas.microsoft.com/office/drawing/2014/main" id="{F4D73CB8-78E1-4432-809C-68F1040B2D8E}"/>
              </a:ext>
            </a:extLst>
          </p:cNvPr>
          <p:cNvCxnSpPr>
            <a:cxnSpLocks noChangeShapeType="1"/>
            <a:stCxn id="37893" idx="3"/>
            <a:endCxn id="37894" idx="1"/>
          </p:cNvCxnSpPr>
          <p:nvPr/>
        </p:nvCxnSpPr>
        <p:spPr bwMode="auto">
          <a:xfrm>
            <a:off x="3843113" y="2550628"/>
            <a:ext cx="1323193" cy="0"/>
          </a:xfrm>
          <a:prstGeom prst="straightConnector1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6" name="AutoShape 52">
            <a:extLst>
              <a:ext uri="{FF2B5EF4-FFF2-40B4-BE49-F238E27FC236}">
                <a16:creationId xmlns:a16="http://schemas.microsoft.com/office/drawing/2014/main" id="{5ED4AD7E-9D67-4AF1-B35C-B04C1B69D5B1}"/>
              </a:ext>
            </a:extLst>
          </p:cNvPr>
          <p:cNvCxnSpPr>
            <a:cxnSpLocks noChangeShapeType="1"/>
            <a:stCxn id="37893" idx="0"/>
            <a:endCxn id="37892" idx="2"/>
          </p:cNvCxnSpPr>
          <p:nvPr/>
        </p:nvCxnSpPr>
        <p:spPr bwMode="auto">
          <a:xfrm rot="5400000" flipH="1" flipV="1">
            <a:off x="3679767" y="1531437"/>
            <a:ext cx="407085" cy="1377383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7" name="AutoShape 53">
            <a:extLst>
              <a:ext uri="{FF2B5EF4-FFF2-40B4-BE49-F238E27FC236}">
                <a16:creationId xmlns:a16="http://schemas.microsoft.com/office/drawing/2014/main" id="{E3DA6952-D679-480B-A516-1CF1B477E39F}"/>
              </a:ext>
            </a:extLst>
          </p:cNvPr>
          <p:cNvCxnSpPr>
            <a:cxnSpLocks noChangeShapeType="1"/>
            <a:stCxn id="37894" idx="0"/>
            <a:endCxn id="37892" idx="2"/>
          </p:cNvCxnSpPr>
          <p:nvPr/>
        </p:nvCxnSpPr>
        <p:spPr bwMode="auto">
          <a:xfrm rot="16200000" flipV="1">
            <a:off x="4989859" y="1598728"/>
            <a:ext cx="407085" cy="1242800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898" name="Text Box 54">
            <a:extLst>
              <a:ext uri="{FF2B5EF4-FFF2-40B4-BE49-F238E27FC236}">
                <a16:creationId xmlns:a16="http://schemas.microsoft.com/office/drawing/2014/main" id="{77D1F0A3-9DB6-4251-8379-F0AA5A444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8636" y="1019490"/>
            <a:ext cx="1350585" cy="253916"/>
          </a:xfrm>
          <a:prstGeom prst="rect">
            <a:avLst/>
          </a:prstGeom>
          <a:solidFill>
            <a:schemeClr val="accent2">
              <a:alpha val="25098"/>
            </a:schemeClr>
          </a:solidFill>
          <a:ln w="28575" algn="ctr">
            <a:solidFill>
              <a:srgbClr val="067DD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CL" sz="1050"/>
              <a:t>Presión</a:t>
            </a:r>
          </a:p>
        </p:txBody>
      </p:sp>
      <p:sp>
        <p:nvSpPr>
          <p:cNvPr id="37899" name="Text Box 55">
            <a:extLst>
              <a:ext uri="{FF2B5EF4-FFF2-40B4-BE49-F238E27FC236}">
                <a16:creationId xmlns:a16="http://schemas.microsoft.com/office/drawing/2014/main" id="{9E4CC1F7-BB4B-4763-8DC8-57F898F126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4780" y="1019490"/>
            <a:ext cx="1350585" cy="253916"/>
          </a:xfrm>
          <a:prstGeom prst="rect">
            <a:avLst/>
          </a:prstGeom>
          <a:solidFill>
            <a:schemeClr val="accent2">
              <a:alpha val="25098"/>
            </a:schemeClr>
          </a:solidFill>
          <a:ln w="28575" algn="ctr">
            <a:solidFill>
              <a:srgbClr val="067DD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CL" sz="1050"/>
              <a:t>Temperatura</a:t>
            </a:r>
          </a:p>
        </p:txBody>
      </p:sp>
      <p:sp>
        <p:nvSpPr>
          <p:cNvPr id="37900" name="Text Box 56">
            <a:extLst>
              <a:ext uri="{FF2B5EF4-FFF2-40B4-BE49-F238E27FC236}">
                <a16:creationId xmlns:a16="http://schemas.microsoft.com/office/drawing/2014/main" id="{AD7C6B29-08C1-43D1-8A45-7B317D302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708" y="917064"/>
            <a:ext cx="1350585" cy="253916"/>
          </a:xfrm>
          <a:prstGeom prst="rect">
            <a:avLst/>
          </a:prstGeom>
          <a:solidFill>
            <a:schemeClr val="accent2">
              <a:alpha val="25098"/>
            </a:schemeClr>
          </a:solidFill>
          <a:ln w="28575" algn="ctr">
            <a:solidFill>
              <a:srgbClr val="067DD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CL" sz="1050"/>
              <a:t>Naturaleza química</a:t>
            </a:r>
          </a:p>
        </p:txBody>
      </p:sp>
      <p:sp>
        <p:nvSpPr>
          <p:cNvPr id="37901" name="Text Box 57">
            <a:extLst>
              <a:ext uri="{FF2B5EF4-FFF2-40B4-BE49-F238E27FC236}">
                <a16:creationId xmlns:a16="http://schemas.microsoft.com/office/drawing/2014/main" id="{3BE11CEA-A9E7-41D9-A069-337CA3BB1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2910" y="3247837"/>
            <a:ext cx="1296990" cy="415498"/>
          </a:xfrm>
          <a:prstGeom prst="rect">
            <a:avLst/>
          </a:prstGeom>
          <a:solidFill>
            <a:srgbClr val="067DD9">
              <a:alpha val="39999"/>
            </a:srgbClr>
          </a:solidFill>
          <a:ln w="28575" algn="ctr">
            <a:solidFill>
              <a:srgbClr val="067DD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CL" sz="1050"/>
              <a:t>Propiedades coligativas</a:t>
            </a:r>
          </a:p>
        </p:txBody>
      </p:sp>
      <p:cxnSp>
        <p:nvCxnSpPr>
          <p:cNvPr id="37902" name="AutoShape 58">
            <a:extLst>
              <a:ext uri="{FF2B5EF4-FFF2-40B4-BE49-F238E27FC236}">
                <a16:creationId xmlns:a16="http://schemas.microsoft.com/office/drawing/2014/main" id="{EA4118D2-462C-4BE1-949D-BDD3974063C9}"/>
              </a:ext>
            </a:extLst>
          </p:cNvPr>
          <p:cNvCxnSpPr>
            <a:cxnSpLocks noChangeShapeType="1"/>
            <a:stCxn id="37894" idx="2"/>
            <a:endCxn id="37901" idx="0"/>
          </p:cNvCxnSpPr>
          <p:nvPr/>
        </p:nvCxnSpPr>
        <p:spPr bwMode="auto">
          <a:xfrm rot="5400000">
            <a:off x="4907978" y="2341013"/>
            <a:ext cx="570251" cy="1243396"/>
          </a:xfrm>
          <a:prstGeom prst="bentConnector3">
            <a:avLst>
              <a:gd name="adj1" fmla="val 50000"/>
            </a:avLst>
          </a:prstGeom>
          <a:noFill/>
          <a:ln w="762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03" name="Text Box 59">
            <a:extLst>
              <a:ext uri="{FF2B5EF4-FFF2-40B4-BE49-F238E27FC236}">
                <a16:creationId xmlns:a16="http://schemas.microsoft.com/office/drawing/2014/main" id="{A967E28E-9CDC-4E90-AE89-673C7C59F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915" y="4180384"/>
            <a:ext cx="1071893" cy="253916"/>
          </a:xfrm>
          <a:prstGeom prst="rect">
            <a:avLst/>
          </a:prstGeom>
          <a:solidFill>
            <a:schemeClr val="accent2">
              <a:alpha val="10196"/>
            </a:schemeClr>
          </a:solidFill>
          <a:ln w="28575" algn="ctr">
            <a:solidFill>
              <a:srgbClr val="067DD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CL" sz="1050"/>
              <a:t>Tonoscopía</a:t>
            </a:r>
          </a:p>
        </p:txBody>
      </p:sp>
      <p:sp>
        <p:nvSpPr>
          <p:cNvPr id="37904" name="Text Box 61">
            <a:extLst>
              <a:ext uri="{FF2B5EF4-FFF2-40B4-BE49-F238E27FC236}">
                <a16:creationId xmlns:a16="http://schemas.microsoft.com/office/drawing/2014/main" id="{5528C34B-AF30-4162-A294-2F5F1EA80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950" y="4193485"/>
            <a:ext cx="1071893" cy="253916"/>
          </a:xfrm>
          <a:prstGeom prst="rect">
            <a:avLst/>
          </a:prstGeom>
          <a:solidFill>
            <a:schemeClr val="accent2">
              <a:alpha val="10196"/>
            </a:schemeClr>
          </a:solidFill>
          <a:ln w="28575" algn="ctr">
            <a:solidFill>
              <a:srgbClr val="067DD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CL" sz="1050"/>
              <a:t>Crioscopía</a:t>
            </a:r>
          </a:p>
        </p:txBody>
      </p:sp>
      <p:cxnSp>
        <p:nvCxnSpPr>
          <p:cNvPr id="37905" name="AutoShape 62">
            <a:extLst>
              <a:ext uri="{FF2B5EF4-FFF2-40B4-BE49-F238E27FC236}">
                <a16:creationId xmlns:a16="http://schemas.microsoft.com/office/drawing/2014/main" id="{967B0F0A-A152-4EDB-AF71-98AA538616F6}"/>
              </a:ext>
            </a:extLst>
          </p:cNvPr>
          <p:cNvCxnSpPr>
            <a:cxnSpLocks noChangeShapeType="1"/>
            <a:stCxn id="37899" idx="2"/>
            <a:endCxn id="37892" idx="0"/>
          </p:cNvCxnSpPr>
          <p:nvPr/>
        </p:nvCxnSpPr>
        <p:spPr bwMode="auto">
          <a:xfrm rot="16200000" flipH="1">
            <a:off x="3476406" y="667073"/>
            <a:ext cx="489263" cy="1701928"/>
          </a:xfrm>
          <a:prstGeom prst="bentConnector3">
            <a:avLst>
              <a:gd name="adj1" fmla="val 50000"/>
            </a:avLst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6" name="AutoShape 63">
            <a:extLst>
              <a:ext uri="{FF2B5EF4-FFF2-40B4-BE49-F238E27FC236}">
                <a16:creationId xmlns:a16="http://schemas.microsoft.com/office/drawing/2014/main" id="{F04AF100-B0BB-4EA9-88BE-B5B23335EC78}"/>
              </a:ext>
            </a:extLst>
          </p:cNvPr>
          <p:cNvCxnSpPr>
            <a:cxnSpLocks noChangeShapeType="1"/>
            <a:stCxn id="37901" idx="2"/>
          </p:cNvCxnSpPr>
          <p:nvPr/>
        </p:nvCxnSpPr>
        <p:spPr bwMode="auto">
          <a:xfrm rot="5400000">
            <a:off x="3003683" y="2611471"/>
            <a:ext cx="515859" cy="2619587"/>
          </a:xfrm>
          <a:prstGeom prst="bentConnector2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7" name="AutoShape 65">
            <a:extLst>
              <a:ext uri="{FF2B5EF4-FFF2-40B4-BE49-F238E27FC236}">
                <a16:creationId xmlns:a16="http://schemas.microsoft.com/office/drawing/2014/main" id="{639BBD0B-4F2C-4163-BB24-0808187C8462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499512" y="4072599"/>
            <a:ext cx="214379" cy="1191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8" name="AutoShape 67">
            <a:extLst>
              <a:ext uri="{FF2B5EF4-FFF2-40B4-BE49-F238E27FC236}">
                <a16:creationId xmlns:a16="http://schemas.microsoft.com/office/drawing/2014/main" id="{26E9ADA0-1C6F-4AEC-B956-416BF5AA92B1}"/>
              </a:ext>
            </a:extLst>
          </p:cNvPr>
          <p:cNvCxnSpPr>
            <a:cxnSpLocks noChangeShapeType="1"/>
            <a:stCxn id="37898" idx="2"/>
            <a:endCxn id="37892" idx="0"/>
          </p:cNvCxnSpPr>
          <p:nvPr/>
        </p:nvCxnSpPr>
        <p:spPr bwMode="auto">
          <a:xfrm rot="5400000">
            <a:off x="5178334" y="667073"/>
            <a:ext cx="489263" cy="1701928"/>
          </a:xfrm>
          <a:prstGeom prst="bentConnector3">
            <a:avLst>
              <a:gd name="adj1" fmla="val 50000"/>
            </a:avLst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9" name="AutoShape 64">
            <a:extLst>
              <a:ext uri="{FF2B5EF4-FFF2-40B4-BE49-F238E27FC236}">
                <a16:creationId xmlns:a16="http://schemas.microsoft.com/office/drawing/2014/main" id="{7C2E4B75-7D2A-43BA-AA5A-C08CC4DA7D46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5693915" y="2629712"/>
            <a:ext cx="429949" cy="2673778"/>
          </a:xfrm>
          <a:prstGeom prst="bentConnector3">
            <a:avLst>
              <a:gd name="adj1" fmla="val 50000"/>
            </a:avLst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0" name="AutoShape 65">
            <a:extLst>
              <a:ext uri="{FF2B5EF4-FFF2-40B4-BE49-F238E27FC236}">
                <a16:creationId xmlns:a16="http://schemas.microsoft.com/office/drawing/2014/main" id="{ABB61AF9-171D-4AED-9CF9-7C9FFC0E1BEA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321730" y="4072599"/>
            <a:ext cx="214379" cy="1191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11" name="Text Box 59">
            <a:extLst>
              <a:ext uri="{FF2B5EF4-FFF2-40B4-BE49-F238E27FC236}">
                <a16:creationId xmlns:a16="http://schemas.microsoft.com/office/drawing/2014/main" id="{4B3B1AB6-7BEE-4A97-91FB-87A674639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440" y="4193485"/>
            <a:ext cx="1125488" cy="253916"/>
          </a:xfrm>
          <a:prstGeom prst="rect">
            <a:avLst/>
          </a:prstGeom>
          <a:solidFill>
            <a:schemeClr val="accent2">
              <a:alpha val="10196"/>
            </a:schemeClr>
          </a:solidFill>
          <a:ln w="28575" algn="ctr">
            <a:solidFill>
              <a:srgbClr val="067DD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CL" sz="1050"/>
              <a:t>Ebulloscopía</a:t>
            </a:r>
          </a:p>
        </p:txBody>
      </p:sp>
      <p:sp>
        <p:nvSpPr>
          <p:cNvPr id="37912" name="Text Box 59">
            <a:extLst>
              <a:ext uri="{FF2B5EF4-FFF2-40B4-BE49-F238E27FC236}">
                <a16:creationId xmlns:a16="http://schemas.microsoft.com/office/drawing/2014/main" id="{9A90E1F3-37E0-4190-895D-A8006D672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4509" y="4186339"/>
            <a:ext cx="1461347" cy="253916"/>
          </a:xfrm>
          <a:prstGeom prst="rect">
            <a:avLst/>
          </a:prstGeom>
          <a:solidFill>
            <a:schemeClr val="accent2">
              <a:alpha val="10196"/>
            </a:schemeClr>
          </a:solidFill>
          <a:ln w="28575" algn="ctr">
            <a:solidFill>
              <a:srgbClr val="067DD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CL" sz="1050"/>
              <a:t>Presión osmótica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7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7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7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7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7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7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7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7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7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7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7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7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7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7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animBg="1"/>
      <p:bldP spid="37893" grpId="0" animBg="1"/>
      <p:bldP spid="37894" grpId="0" animBg="1"/>
      <p:bldP spid="37898" grpId="0" animBg="1"/>
      <p:bldP spid="37899" grpId="0" animBg="1"/>
      <p:bldP spid="37900" grpId="0" animBg="1"/>
      <p:bldP spid="37901" grpId="0" animBg="1"/>
      <p:bldP spid="37903" grpId="0" animBg="1"/>
      <p:bldP spid="37904" grpId="0" animBg="1"/>
      <p:bldP spid="37911" grpId="0" animBg="1"/>
      <p:bldP spid="379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8" name="16 Grupo">
            <a:extLst>
              <a:ext uri="{FF2B5EF4-FFF2-40B4-BE49-F238E27FC236}">
                <a16:creationId xmlns:a16="http://schemas.microsoft.com/office/drawing/2014/main" id="{DF382506-8C46-4FE8-8E91-9C2CB0EF84FA}"/>
              </a:ext>
            </a:extLst>
          </p:cNvPr>
          <p:cNvGrpSpPr>
            <a:grpSpLocks/>
          </p:cNvGrpSpPr>
          <p:nvPr/>
        </p:nvGrpSpPr>
        <p:grpSpPr bwMode="auto">
          <a:xfrm>
            <a:off x="1240794" y="-75033"/>
            <a:ext cx="4249461" cy="645519"/>
            <a:chOff x="131763" y="-100013"/>
            <a:chExt cx="5664232" cy="860426"/>
          </a:xfrm>
        </p:grpSpPr>
        <p:grpSp>
          <p:nvGrpSpPr>
            <p:cNvPr id="39945" name="Group 2">
              <a:extLst>
                <a:ext uri="{FF2B5EF4-FFF2-40B4-BE49-F238E27FC236}">
                  <a16:creationId xmlns:a16="http://schemas.microsoft.com/office/drawing/2014/main" id="{71DD8230-260C-45D3-871F-C524173CC6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763" y="-100013"/>
              <a:ext cx="5440015" cy="719138"/>
              <a:chOff x="83" y="-63"/>
              <a:chExt cx="2705" cy="453"/>
            </a:xfrm>
          </p:grpSpPr>
          <p:sp>
            <p:nvSpPr>
              <p:cNvPr id="39947" name="37 Rectángulo redondeado">
                <a:extLst>
                  <a:ext uri="{FF2B5EF4-FFF2-40B4-BE49-F238E27FC236}">
                    <a16:creationId xmlns:a16="http://schemas.microsoft.com/office/drawing/2014/main" id="{283D3ED1-D0A8-4500-93C8-8C44AC497E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" y="-63"/>
                <a:ext cx="2705" cy="453"/>
              </a:xfrm>
              <a:prstGeom prst="roundRect">
                <a:avLst>
                  <a:gd name="adj" fmla="val 16667"/>
                </a:avLst>
              </a:pr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s-CL" altLang="es-CL" sz="1050"/>
              </a:p>
            </p:txBody>
          </p:sp>
          <p:sp>
            <p:nvSpPr>
              <p:cNvPr id="39948" name="38 CuadroTexto">
                <a:extLst>
                  <a:ext uri="{FF2B5EF4-FFF2-40B4-BE49-F238E27FC236}">
                    <a16:creationId xmlns:a16="http://schemas.microsoft.com/office/drawing/2014/main" id="{C085211C-1EE5-4592-99CF-9D52CE898A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" y="4"/>
                <a:ext cx="2364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s-ES_tradnl" altLang="es-CL" sz="2101" b="1" dirty="0">
                    <a:solidFill>
                      <a:srgbClr val="404040"/>
                    </a:solidFill>
                  </a:rPr>
                  <a:t>3. Propiedades coligativas</a:t>
                </a:r>
                <a:endParaRPr lang="es-CL" altLang="es-CL" sz="2101" b="1" dirty="0">
                  <a:solidFill>
                    <a:srgbClr val="404040"/>
                  </a:solidFill>
                </a:endParaRPr>
              </a:p>
            </p:txBody>
          </p:sp>
        </p:grpSp>
        <p:pic>
          <p:nvPicPr>
            <p:cNvPr id="39946" name="5 Imagen" descr="ico_conceptos.png">
              <a:extLst>
                <a:ext uri="{FF2B5EF4-FFF2-40B4-BE49-F238E27FC236}">
                  <a16:creationId xmlns:a16="http://schemas.microsoft.com/office/drawing/2014/main" id="{CD77FE7A-9A17-4C8B-B370-D3152A6F4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2088" y="0"/>
              <a:ext cx="723907" cy="760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" name="Rectangle 6">
            <a:extLst>
              <a:ext uri="{FF2B5EF4-FFF2-40B4-BE49-F238E27FC236}">
                <a16:creationId xmlns:a16="http://schemas.microsoft.com/office/drawing/2014/main" id="{AC523F1B-080D-40CA-85A1-5338DBAFD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748" y="2529954"/>
            <a:ext cx="5916851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endParaRPr lang="es-MX" altLang="es-CL" sz="1050" dirty="0">
              <a:cs typeface="Times New Roman" panose="02020603050405020304" pitchFamily="18" charset="0"/>
            </a:endParaRPr>
          </a:p>
          <a:p>
            <a:pPr algn="just" eaLnBrk="1" hangingPunct="1"/>
            <a:r>
              <a:rPr lang="es-MX" altLang="es-CL" sz="1050" dirty="0">
                <a:cs typeface="Times New Roman" panose="02020603050405020304" pitchFamily="18" charset="0"/>
              </a:rPr>
              <a:t>Las propiedades coligativas son:</a:t>
            </a:r>
          </a:p>
          <a:p>
            <a:pPr algn="just" eaLnBrk="1" hangingPunct="1"/>
            <a:endParaRPr lang="es-MX" altLang="es-CL" sz="1050" dirty="0">
              <a:solidFill>
                <a:srgbClr val="067DD9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s-MX" altLang="es-CL" sz="1050" b="1" dirty="0">
                <a:solidFill>
                  <a:srgbClr val="067DD9"/>
                </a:solidFill>
                <a:cs typeface="Times New Roman" panose="02020603050405020304" pitchFamily="18" charset="0"/>
              </a:rPr>
              <a:t> Elevación del punto de ebullición (ebulloscopía)</a:t>
            </a:r>
          </a:p>
          <a:p>
            <a:pPr algn="just" eaLnBrk="1" hangingPunct="1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s-MX" altLang="es-CL" sz="1050" b="1" dirty="0">
                <a:solidFill>
                  <a:srgbClr val="067DD9"/>
                </a:solidFill>
                <a:cs typeface="Times New Roman" panose="02020603050405020304" pitchFamily="18" charset="0"/>
              </a:rPr>
              <a:t> Disminución del punto de congelación (crioscopía)</a:t>
            </a:r>
          </a:p>
          <a:p>
            <a:pPr algn="just" eaLnBrk="1" hangingPunct="1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s-MX" altLang="es-CL" sz="1050" b="1" dirty="0">
                <a:solidFill>
                  <a:srgbClr val="067DD9"/>
                </a:solidFill>
                <a:cs typeface="Times New Roman" panose="02020603050405020304" pitchFamily="18" charset="0"/>
              </a:rPr>
              <a:t> Disminución de la presión de vapor (</a:t>
            </a:r>
            <a:r>
              <a:rPr lang="es-MX" altLang="es-CL" sz="1050" b="1" dirty="0" err="1">
                <a:solidFill>
                  <a:srgbClr val="067DD9"/>
                </a:solidFill>
                <a:cs typeface="Times New Roman" panose="02020603050405020304" pitchFamily="18" charset="0"/>
              </a:rPr>
              <a:t>tonoscopía</a:t>
            </a:r>
            <a:r>
              <a:rPr lang="es-MX" altLang="es-CL" sz="1050" b="1" dirty="0">
                <a:solidFill>
                  <a:srgbClr val="067DD9"/>
                </a:solidFill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s-MX" altLang="es-CL" sz="1050" b="1" dirty="0">
                <a:solidFill>
                  <a:srgbClr val="067DD9"/>
                </a:solidFill>
                <a:cs typeface="Times New Roman" panose="02020603050405020304" pitchFamily="18" charset="0"/>
              </a:rPr>
              <a:t> Presión osmótica</a:t>
            </a:r>
          </a:p>
          <a:p>
            <a:pPr algn="just" eaLnBrk="1" hangingPunct="1"/>
            <a:endParaRPr lang="es-MX" altLang="es-CL" sz="1050" dirty="0">
              <a:solidFill>
                <a:srgbClr val="067DD9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1 Rectángulo">
            <a:extLst>
              <a:ext uri="{FF2B5EF4-FFF2-40B4-BE49-F238E27FC236}">
                <a16:creationId xmlns:a16="http://schemas.microsoft.com/office/drawing/2014/main" id="{FF7720F6-F9C5-4BD8-B068-33AB9966B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3714" y="1086186"/>
            <a:ext cx="644207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MX" altLang="es-CL" sz="1600">
                <a:cs typeface="Times New Roman" panose="02020603050405020304" pitchFamily="18" charset="0"/>
              </a:rPr>
              <a:t>Cambios en el comportamiento de un líquido por la presencia de un soluto no volátil.</a:t>
            </a:r>
          </a:p>
          <a:p>
            <a:pPr algn="just" eaLnBrk="1" hangingPunct="1"/>
            <a:endParaRPr lang="es-MX" altLang="es-CL" sz="1600">
              <a:cs typeface="Times New Roman" panose="02020603050405020304" pitchFamily="18" charset="0"/>
            </a:endParaRPr>
          </a:p>
          <a:p>
            <a:pPr algn="just" eaLnBrk="1" hangingPunct="1"/>
            <a:r>
              <a:rPr lang="es-MX" altLang="es-CL" sz="1600">
                <a:cs typeface="Times New Roman" panose="02020603050405020304" pitchFamily="18" charset="0"/>
              </a:rPr>
              <a:t>Dependen del número de partículas de soluto en la disolución y no de la naturaleza de las partículas.</a:t>
            </a:r>
          </a:p>
        </p:txBody>
      </p:sp>
      <p:grpSp>
        <p:nvGrpSpPr>
          <p:cNvPr id="39941" name="Group 7">
            <a:extLst>
              <a:ext uri="{FF2B5EF4-FFF2-40B4-BE49-F238E27FC236}">
                <a16:creationId xmlns:a16="http://schemas.microsoft.com/office/drawing/2014/main" id="{FA78D841-7F05-4ECA-BD5B-218906B766B0}"/>
              </a:ext>
            </a:extLst>
          </p:cNvPr>
          <p:cNvGrpSpPr>
            <a:grpSpLocks/>
          </p:cNvGrpSpPr>
          <p:nvPr/>
        </p:nvGrpSpPr>
        <p:grpSpPr bwMode="auto">
          <a:xfrm>
            <a:off x="1141942" y="574060"/>
            <a:ext cx="6184824" cy="322760"/>
            <a:chOff x="0" y="482"/>
            <a:chExt cx="5193" cy="271"/>
          </a:xfrm>
        </p:grpSpPr>
        <p:sp>
          <p:nvSpPr>
            <p:cNvPr id="39943" name="40 CuadroTexto">
              <a:extLst>
                <a:ext uri="{FF2B5EF4-FFF2-40B4-BE49-F238E27FC236}">
                  <a16:creationId xmlns:a16="http://schemas.microsoft.com/office/drawing/2014/main" id="{667ADE34-93EF-4DCF-BB1D-AC2AA0BBAF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482"/>
              <a:ext cx="517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s-CL" sz="1500" b="1" dirty="0">
                  <a:solidFill>
                    <a:srgbClr val="7F7F7F"/>
                  </a:solidFill>
                </a:rPr>
                <a:t>3.1 Definición</a:t>
              </a:r>
              <a:endParaRPr lang="es-CL" altLang="es-CL" sz="1500" b="1" dirty="0">
                <a:solidFill>
                  <a:srgbClr val="7F7F7F"/>
                </a:solidFill>
              </a:endParaRPr>
            </a:p>
          </p:txBody>
        </p:sp>
        <p:cxnSp>
          <p:nvCxnSpPr>
            <p:cNvPr id="12" name="11 Conector recto">
              <a:extLst>
                <a:ext uri="{FF2B5EF4-FFF2-40B4-BE49-F238E27FC236}">
                  <a16:creationId xmlns:a16="http://schemas.microsoft.com/office/drawing/2014/main" id="{2FF86F67-1FD6-4418-B46E-566AF35FC028}"/>
                </a:ext>
              </a:extLst>
            </p:cNvPr>
            <p:cNvCxnSpPr/>
            <p:nvPr/>
          </p:nvCxnSpPr>
          <p:spPr>
            <a:xfrm>
              <a:off x="0" y="720"/>
              <a:ext cx="1497" cy="1"/>
            </a:xfrm>
            <a:prstGeom prst="line">
              <a:avLst/>
            </a:prstGeom>
            <a:ln>
              <a:solidFill>
                <a:srgbClr val="067D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658" name="Picture 10">
            <a:extLst>
              <a:ext uri="{FF2B5EF4-FFF2-40B4-BE49-F238E27FC236}">
                <a16:creationId xmlns:a16="http://schemas.microsoft.com/office/drawing/2014/main" id="{BC2E3795-6F44-4B1D-91EE-FABA3FFB9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564" y="2770249"/>
            <a:ext cx="1953228" cy="1366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16 Grupo">
            <a:extLst>
              <a:ext uri="{FF2B5EF4-FFF2-40B4-BE49-F238E27FC236}">
                <a16:creationId xmlns:a16="http://schemas.microsoft.com/office/drawing/2014/main" id="{06CE1AFE-DC79-4F23-ADC1-DA717D02F68F}"/>
              </a:ext>
            </a:extLst>
          </p:cNvPr>
          <p:cNvGrpSpPr>
            <a:grpSpLocks/>
          </p:cNvGrpSpPr>
          <p:nvPr/>
        </p:nvGrpSpPr>
        <p:grpSpPr bwMode="auto">
          <a:xfrm>
            <a:off x="1240794" y="-75033"/>
            <a:ext cx="4249461" cy="645519"/>
            <a:chOff x="131763" y="-100013"/>
            <a:chExt cx="5664232" cy="860426"/>
          </a:xfrm>
        </p:grpSpPr>
        <p:grpSp>
          <p:nvGrpSpPr>
            <p:cNvPr id="42000" name="Group 2">
              <a:extLst>
                <a:ext uri="{FF2B5EF4-FFF2-40B4-BE49-F238E27FC236}">
                  <a16:creationId xmlns:a16="http://schemas.microsoft.com/office/drawing/2014/main" id="{984A6E0A-16F1-4A7D-99CE-A10E0109E5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763" y="-100013"/>
              <a:ext cx="5440015" cy="719138"/>
              <a:chOff x="83" y="-63"/>
              <a:chExt cx="2705" cy="453"/>
            </a:xfrm>
          </p:grpSpPr>
          <p:sp>
            <p:nvSpPr>
              <p:cNvPr id="42002" name="37 Rectángulo redondeado">
                <a:extLst>
                  <a:ext uri="{FF2B5EF4-FFF2-40B4-BE49-F238E27FC236}">
                    <a16:creationId xmlns:a16="http://schemas.microsoft.com/office/drawing/2014/main" id="{1B5B0DEF-1505-4C82-AC99-F33324007E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" y="-63"/>
                <a:ext cx="2705" cy="453"/>
              </a:xfrm>
              <a:prstGeom prst="roundRect">
                <a:avLst>
                  <a:gd name="adj" fmla="val 16667"/>
                </a:avLst>
              </a:pr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s-CL" altLang="es-CL" sz="1050"/>
              </a:p>
            </p:txBody>
          </p:sp>
          <p:sp>
            <p:nvSpPr>
              <p:cNvPr id="42003" name="38 CuadroTexto">
                <a:extLst>
                  <a:ext uri="{FF2B5EF4-FFF2-40B4-BE49-F238E27FC236}">
                    <a16:creationId xmlns:a16="http://schemas.microsoft.com/office/drawing/2014/main" id="{90C0059A-BF16-4D20-8182-E39E907BC4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" y="4"/>
                <a:ext cx="2364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s-ES_tradnl" altLang="es-CL" sz="2101" b="1" dirty="0">
                    <a:solidFill>
                      <a:srgbClr val="404040"/>
                    </a:solidFill>
                  </a:rPr>
                  <a:t>3. Propiedades coligativas</a:t>
                </a:r>
                <a:endParaRPr lang="es-CL" altLang="es-CL" sz="2101" b="1" dirty="0">
                  <a:solidFill>
                    <a:srgbClr val="404040"/>
                  </a:solidFill>
                </a:endParaRPr>
              </a:p>
            </p:txBody>
          </p:sp>
        </p:grpSp>
        <p:pic>
          <p:nvPicPr>
            <p:cNvPr id="42001" name="5 Imagen" descr="ico_conceptos.png">
              <a:extLst>
                <a:ext uri="{FF2B5EF4-FFF2-40B4-BE49-F238E27FC236}">
                  <a16:creationId xmlns:a16="http://schemas.microsoft.com/office/drawing/2014/main" id="{8776EE0B-9320-4F29-8B5B-0583AEF85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2088" y="0"/>
              <a:ext cx="723907" cy="760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" name="Rectangle 6">
            <a:extLst>
              <a:ext uri="{FF2B5EF4-FFF2-40B4-BE49-F238E27FC236}">
                <a16:creationId xmlns:a16="http://schemas.microsoft.com/office/drawing/2014/main" id="{FB1CF27A-98C1-4D42-A370-E0FE58B20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2726" y="1106511"/>
            <a:ext cx="659214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MX" altLang="es-CL" sz="1050">
                <a:cs typeface="Times New Roman" panose="02020603050405020304" pitchFamily="18" charset="0"/>
              </a:rPr>
              <a:t>Es consecuencia de la disminución de la presión de vapor y nos indica que el </a:t>
            </a:r>
            <a:r>
              <a:rPr lang="es-MX" altLang="es-CL" sz="1050" b="1">
                <a:solidFill>
                  <a:srgbClr val="067DD9"/>
                </a:solidFill>
                <a:cs typeface="Times New Roman" panose="02020603050405020304" pitchFamily="18" charset="0"/>
              </a:rPr>
              <a:t>punto de ebullición de la disolución</a:t>
            </a:r>
            <a:r>
              <a:rPr lang="es-MX" altLang="es-CL" sz="1050">
                <a:cs typeface="Times New Roman" panose="02020603050405020304" pitchFamily="18" charset="0"/>
              </a:rPr>
              <a:t> es </a:t>
            </a:r>
            <a:r>
              <a:rPr lang="es-MX" altLang="es-CL" sz="1050" b="1">
                <a:solidFill>
                  <a:srgbClr val="067DD9"/>
                </a:solidFill>
                <a:cs typeface="Times New Roman" panose="02020603050405020304" pitchFamily="18" charset="0"/>
              </a:rPr>
              <a:t>mayor</a:t>
            </a:r>
            <a:r>
              <a:rPr lang="es-MX" altLang="es-CL" sz="1050">
                <a:cs typeface="Times New Roman" panose="02020603050405020304" pitchFamily="18" charset="0"/>
              </a:rPr>
              <a:t> que el del disolvente puro.</a:t>
            </a:r>
          </a:p>
        </p:txBody>
      </p:sp>
      <p:grpSp>
        <p:nvGrpSpPr>
          <p:cNvPr id="41988" name="Group 7">
            <a:extLst>
              <a:ext uri="{FF2B5EF4-FFF2-40B4-BE49-F238E27FC236}">
                <a16:creationId xmlns:a16="http://schemas.microsoft.com/office/drawing/2014/main" id="{9AF190AC-ABC3-499D-BD9D-97B0B8A90DEF}"/>
              </a:ext>
            </a:extLst>
          </p:cNvPr>
          <p:cNvGrpSpPr>
            <a:grpSpLocks/>
          </p:cNvGrpSpPr>
          <p:nvPr/>
        </p:nvGrpSpPr>
        <p:grpSpPr bwMode="auto">
          <a:xfrm>
            <a:off x="1141942" y="574060"/>
            <a:ext cx="6184824" cy="322760"/>
            <a:chOff x="0" y="482"/>
            <a:chExt cx="5193" cy="271"/>
          </a:xfrm>
        </p:grpSpPr>
        <p:sp>
          <p:nvSpPr>
            <p:cNvPr id="41998" name="40 CuadroTexto">
              <a:extLst>
                <a:ext uri="{FF2B5EF4-FFF2-40B4-BE49-F238E27FC236}">
                  <a16:creationId xmlns:a16="http://schemas.microsoft.com/office/drawing/2014/main" id="{6FE72D3E-BAD7-4306-9419-462CA59BB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482"/>
              <a:ext cx="517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s-CL" sz="1500" b="1" dirty="0">
                  <a:solidFill>
                    <a:srgbClr val="7F7F7F"/>
                  </a:solidFill>
                </a:rPr>
                <a:t>3.2 Elevación del punto de ebullición (ebulloscopía)</a:t>
              </a:r>
              <a:endParaRPr lang="es-CL" altLang="es-CL" sz="1500" b="1" dirty="0">
                <a:solidFill>
                  <a:srgbClr val="7F7F7F"/>
                </a:solidFill>
              </a:endParaRPr>
            </a:p>
          </p:txBody>
        </p:sp>
        <p:cxnSp>
          <p:nvCxnSpPr>
            <p:cNvPr id="11" name="10 Conector recto">
              <a:extLst>
                <a:ext uri="{FF2B5EF4-FFF2-40B4-BE49-F238E27FC236}">
                  <a16:creationId xmlns:a16="http://schemas.microsoft.com/office/drawing/2014/main" id="{11A7EA83-B117-44F7-AD25-F4FA36285682}"/>
                </a:ext>
              </a:extLst>
            </p:cNvPr>
            <p:cNvCxnSpPr/>
            <p:nvPr/>
          </p:nvCxnSpPr>
          <p:spPr>
            <a:xfrm>
              <a:off x="0" y="720"/>
              <a:ext cx="4785" cy="1"/>
            </a:xfrm>
            <a:prstGeom prst="line">
              <a:avLst/>
            </a:prstGeom>
            <a:ln>
              <a:solidFill>
                <a:srgbClr val="067D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725" name="Text Box 9">
            <a:extLst>
              <a:ext uri="{FF2B5EF4-FFF2-40B4-BE49-F238E27FC236}">
                <a16:creationId xmlns:a16="http://schemas.microsoft.com/office/drawing/2014/main" id="{37353021-2B67-42DB-A2FC-5182B2AE9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3515" y="1654289"/>
            <a:ext cx="1983003" cy="253916"/>
          </a:xfrm>
          <a:prstGeom prst="rect">
            <a:avLst/>
          </a:prstGeom>
          <a:solidFill>
            <a:schemeClr val="accent2">
              <a:alpha val="25098"/>
            </a:schemeClr>
          </a:solidFill>
          <a:ln w="28575" algn="ctr">
            <a:solidFill>
              <a:srgbClr val="067DD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CL" sz="1050"/>
              <a:t>∆T</a:t>
            </a:r>
            <a:r>
              <a:rPr lang="es-ES" altLang="es-CL" sz="1050" baseline="-25000"/>
              <a:t>eb</a:t>
            </a:r>
            <a:r>
              <a:rPr lang="es-ES" altLang="es-CL" sz="1050"/>
              <a:t>= T</a:t>
            </a:r>
            <a:r>
              <a:rPr lang="es-ES" altLang="es-CL" sz="1050" baseline="-25000"/>
              <a:t>eb</a:t>
            </a:r>
            <a:r>
              <a:rPr lang="es-ES" altLang="es-CL" sz="1050"/>
              <a:t> – T</a:t>
            </a:r>
            <a:r>
              <a:rPr lang="es-ES" altLang="es-CL" sz="1050" baseline="-25000"/>
              <a:t>eb</a:t>
            </a:r>
            <a:r>
              <a:rPr lang="es-ES" altLang="es-CL" sz="1050" baseline="30000"/>
              <a:t>*</a:t>
            </a:r>
            <a:r>
              <a:rPr lang="es-ES" altLang="es-CL" sz="1050"/>
              <a:t>= k</a:t>
            </a:r>
            <a:r>
              <a:rPr lang="es-ES" altLang="es-CL" sz="1050" baseline="-25000"/>
              <a:t>e</a:t>
            </a:r>
            <a:r>
              <a:rPr lang="es-ES" altLang="es-CL" sz="1050"/>
              <a:t> x m </a:t>
            </a: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209E6FF1-4DAC-481D-A2D1-1FEDBDB02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2726" y="3376464"/>
            <a:ext cx="4073194" cy="253916"/>
          </a:xfrm>
          <a:prstGeom prst="rect">
            <a:avLst/>
          </a:prstGeom>
          <a:solidFill>
            <a:schemeClr val="accent2">
              <a:alpha val="10196"/>
            </a:schemeClr>
          </a:solidFill>
          <a:ln w="28575" algn="ctr">
            <a:solidFill>
              <a:srgbClr val="067DD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CL" sz="1050">
                <a:solidFill>
                  <a:schemeClr val="accent2"/>
                </a:solidFill>
              </a:rPr>
              <a:t>Aplicación → determinación de masas moleculares.</a:t>
            </a: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43850451-6D5C-43EF-B145-F938ECCE4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1024" y="3732650"/>
            <a:ext cx="225097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MX" altLang="es-CL" sz="1050" b="1">
                <a:solidFill>
                  <a:srgbClr val="067DD9"/>
                </a:solidFill>
                <a:cs typeface="Times New Roman" panose="02020603050405020304" pitchFamily="18" charset="0"/>
              </a:rPr>
              <a:t>Es más difícil evaporar la disolución.</a:t>
            </a:r>
          </a:p>
        </p:txBody>
      </p:sp>
      <p:sp>
        <p:nvSpPr>
          <p:cNvPr id="30728" name="Rectangle 6">
            <a:extLst>
              <a:ext uri="{FF2B5EF4-FFF2-40B4-BE49-F238E27FC236}">
                <a16:creationId xmlns:a16="http://schemas.microsoft.com/office/drawing/2014/main" id="{C70C8F40-AB91-4B71-88D4-41282E873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131" y="2004360"/>
            <a:ext cx="4180384" cy="1272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Aft>
                <a:spcPts val="450"/>
              </a:spcAft>
            </a:pPr>
            <a:r>
              <a:rPr lang="es-MX" altLang="es-CL" sz="1200">
                <a:cs typeface="Times New Roman" panose="02020603050405020304" pitchFamily="18" charset="0"/>
              </a:rPr>
              <a:t>Donde:</a:t>
            </a:r>
          </a:p>
          <a:p>
            <a:pPr eaLnBrk="1" hangingPunct="1">
              <a:spcAft>
                <a:spcPts val="450"/>
              </a:spcAft>
            </a:pPr>
            <a:r>
              <a:rPr lang="es-MX" altLang="es-CL" sz="1200">
                <a:cs typeface="Times New Roman" panose="02020603050405020304" pitchFamily="18" charset="0"/>
              </a:rPr>
              <a:t>T</a:t>
            </a:r>
            <a:r>
              <a:rPr lang="es-MX" altLang="es-CL" sz="1200" baseline="-25000">
                <a:cs typeface="Times New Roman" panose="02020603050405020304" pitchFamily="18" charset="0"/>
              </a:rPr>
              <a:t>eb</a:t>
            </a:r>
            <a:r>
              <a:rPr lang="es-MX" altLang="es-CL" sz="1200">
                <a:cs typeface="Times New Roman" panose="02020603050405020304" pitchFamily="18" charset="0"/>
              </a:rPr>
              <a:t>: punto de ebullición de la disolución.</a:t>
            </a:r>
          </a:p>
          <a:p>
            <a:pPr eaLnBrk="1" hangingPunct="1">
              <a:spcAft>
                <a:spcPts val="450"/>
              </a:spcAft>
            </a:pPr>
            <a:r>
              <a:rPr lang="es-MX" altLang="es-CL" sz="1200">
                <a:cs typeface="Times New Roman" panose="02020603050405020304" pitchFamily="18" charset="0"/>
              </a:rPr>
              <a:t>T</a:t>
            </a:r>
            <a:r>
              <a:rPr lang="es-MX" altLang="es-CL" sz="1200" baseline="-25000">
                <a:cs typeface="Times New Roman" panose="02020603050405020304" pitchFamily="18" charset="0"/>
              </a:rPr>
              <a:t>eb</a:t>
            </a:r>
            <a:r>
              <a:rPr lang="es-MX" altLang="es-CL" sz="1200">
                <a:cs typeface="Times New Roman" panose="02020603050405020304" pitchFamily="18" charset="0"/>
              </a:rPr>
              <a:t>*: punto de ebullición del disolvente puro.</a:t>
            </a:r>
          </a:p>
          <a:p>
            <a:pPr eaLnBrk="1" hangingPunct="1">
              <a:spcAft>
                <a:spcPts val="450"/>
              </a:spcAft>
            </a:pPr>
            <a:r>
              <a:rPr lang="es-MX" altLang="es-CL" sz="1200">
                <a:cs typeface="Times New Roman" panose="02020603050405020304" pitchFamily="18" charset="0"/>
              </a:rPr>
              <a:t>k</a:t>
            </a:r>
            <a:r>
              <a:rPr lang="es-MX" altLang="es-CL" sz="1200" baseline="-25000">
                <a:cs typeface="Times New Roman" panose="02020603050405020304" pitchFamily="18" charset="0"/>
              </a:rPr>
              <a:t>e</a:t>
            </a:r>
            <a:r>
              <a:rPr lang="es-MX" altLang="es-CL" sz="1200">
                <a:cs typeface="Times New Roman" panose="02020603050405020304" pitchFamily="18" charset="0"/>
              </a:rPr>
              <a:t>: constante ebulloscópica (propia de cada disolvente).</a:t>
            </a:r>
          </a:p>
          <a:p>
            <a:pPr eaLnBrk="1" hangingPunct="1">
              <a:spcAft>
                <a:spcPts val="450"/>
              </a:spcAft>
            </a:pPr>
            <a:r>
              <a:rPr lang="es-MX" altLang="es-CL" sz="1200">
                <a:cs typeface="Times New Roman" panose="02020603050405020304" pitchFamily="18" charset="0"/>
              </a:rPr>
              <a:t>m: molalidad.</a:t>
            </a:r>
          </a:p>
        </p:txBody>
      </p:sp>
      <p:pic>
        <p:nvPicPr>
          <p:cNvPr id="30729" name="Picture 3">
            <a:extLst>
              <a:ext uri="{FF2B5EF4-FFF2-40B4-BE49-F238E27FC236}">
                <a16:creationId xmlns:a16="http://schemas.microsoft.com/office/drawing/2014/main" id="{E4593BD8-BD98-40EE-B4FE-8C5ABA5B9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6704" y="1554246"/>
            <a:ext cx="2411760" cy="2572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33 Grupo">
            <a:extLst>
              <a:ext uri="{FF2B5EF4-FFF2-40B4-BE49-F238E27FC236}">
                <a16:creationId xmlns:a16="http://schemas.microsoft.com/office/drawing/2014/main" id="{9C47F5A6-3DA6-4DA2-BD3F-B6DBFB265053}"/>
              </a:ext>
            </a:extLst>
          </p:cNvPr>
          <p:cNvGrpSpPr>
            <a:grpSpLocks/>
          </p:cNvGrpSpPr>
          <p:nvPr/>
        </p:nvGrpSpPr>
        <p:grpSpPr bwMode="auto">
          <a:xfrm>
            <a:off x="2088560" y="4287327"/>
            <a:ext cx="5270363" cy="524458"/>
            <a:chOff x="2119011" y="5230497"/>
            <a:chExt cx="7025133" cy="699061"/>
          </a:xfrm>
        </p:grpSpPr>
        <p:sp>
          <p:nvSpPr>
            <p:cNvPr id="41995" name="2 Rectángulo redondeado">
              <a:extLst>
                <a:ext uri="{FF2B5EF4-FFF2-40B4-BE49-F238E27FC236}">
                  <a16:creationId xmlns:a16="http://schemas.microsoft.com/office/drawing/2014/main" id="{648052AE-F540-4E85-AFDA-98F18391E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011" y="5255906"/>
              <a:ext cx="7025133" cy="673652"/>
            </a:xfrm>
            <a:prstGeom prst="roundRect">
              <a:avLst>
                <a:gd name="adj" fmla="val 16667"/>
              </a:avLst>
            </a:prstGeom>
            <a:solidFill>
              <a:srgbClr val="CECEEF"/>
            </a:solidFill>
            <a:ln w="12700" algn="ctr">
              <a:solidFill>
                <a:srgbClr val="9C9CDF"/>
              </a:solidFill>
              <a:prstDash val="sysDash"/>
              <a:round/>
              <a:headEnd/>
              <a:tailEnd/>
            </a:ln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s-CL" altLang="es-CL" sz="1050"/>
            </a:p>
          </p:txBody>
        </p:sp>
        <p:sp>
          <p:nvSpPr>
            <p:cNvPr id="41997" name="4 Rectángulo">
              <a:extLst>
                <a:ext uri="{FF2B5EF4-FFF2-40B4-BE49-F238E27FC236}">
                  <a16:creationId xmlns:a16="http://schemas.microsoft.com/office/drawing/2014/main" id="{894A6CC3-B2C0-4B16-A6BA-3E2BAFABB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4548" y="5230497"/>
              <a:ext cx="6858158" cy="553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/>
              <a:r>
                <a:rPr lang="es-ES" altLang="es-CL" sz="1050">
                  <a:solidFill>
                    <a:srgbClr val="222268"/>
                  </a:solidFill>
                </a:rPr>
                <a:t>El punto de ebullición de una disolución es la temperatura a la cual su presión de vapor iguala a la presión atmosférica externa.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0725" grpId="0" animBg="1"/>
      <p:bldP spid="17" grpId="0" animBg="1"/>
      <p:bldP spid="21" grpId="0"/>
      <p:bldP spid="307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4" name="16 Grupo">
            <a:extLst>
              <a:ext uri="{FF2B5EF4-FFF2-40B4-BE49-F238E27FC236}">
                <a16:creationId xmlns:a16="http://schemas.microsoft.com/office/drawing/2014/main" id="{C24EC323-C1DB-4512-A9B4-8F5E5442B2EC}"/>
              </a:ext>
            </a:extLst>
          </p:cNvPr>
          <p:cNvGrpSpPr>
            <a:grpSpLocks/>
          </p:cNvGrpSpPr>
          <p:nvPr/>
        </p:nvGrpSpPr>
        <p:grpSpPr bwMode="auto">
          <a:xfrm>
            <a:off x="1240794" y="-75033"/>
            <a:ext cx="4249461" cy="645519"/>
            <a:chOff x="131763" y="-100013"/>
            <a:chExt cx="5664232" cy="860426"/>
          </a:xfrm>
        </p:grpSpPr>
        <p:grpSp>
          <p:nvGrpSpPr>
            <p:cNvPr id="44043" name="Group 2">
              <a:extLst>
                <a:ext uri="{FF2B5EF4-FFF2-40B4-BE49-F238E27FC236}">
                  <a16:creationId xmlns:a16="http://schemas.microsoft.com/office/drawing/2014/main" id="{8F7028CD-7B0E-469B-9D29-01C1786FCC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763" y="-100013"/>
              <a:ext cx="5440015" cy="719138"/>
              <a:chOff x="83" y="-63"/>
              <a:chExt cx="2705" cy="453"/>
            </a:xfrm>
          </p:grpSpPr>
          <p:sp>
            <p:nvSpPr>
              <p:cNvPr id="44045" name="37 Rectángulo redondeado">
                <a:extLst>
                  <a:ext uri="{FF2B5EF4-FFF2-40B4-BE49-F238E27FC236}">
                    <a16:creationId xmlns:a16="http://schemas.microsoft.com/office/drawing/2014/main" id="{356C445C-7393-457B-BA27-7C8316353B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" y="-63"/>
                <a:ext cx="2705" cy="453"/>
              </a:xfrm>
              <a:prstGeom prst="roundRect">
                <a:avLst>
                  <a:gd name="adj" fmla="val 16667"/>
                </a:avLst>
              </a:pr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s-CL" altLang="es-CL" sz="1050"/>
              </a:p>
            </p:txBody>
          </p:sp>
          <p:sp>
            <p:nvSpPr>
              <p:cNvPr id="44046" name="38 CuadroTexto">
                <a:extLst>
                  <a:ext uri="{FF2B5EF4-FFF2-40B4-BE49-F238E27FC236}">
                    <a16:creationId xmlns:a16="http://schemas.microsoft.com/office/drawing/2014/main" id="{34FF4542-C7EC-41CB-AB70-0E587B91C0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" y="4"/>
                <a:ext cx="2364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s-ES_tradnl" altLang="es-CL" sz="2101" b="1" dirty="0">
                    <a:solidFill>
                      <a:srgbClr val="404040"/>
                    </a:solidFill>
                  </a:rPr>
                  <a:t>3. Propiedades coligativas</a:t>
                </a:r>
                <a:endParaRPr lang="es-CL" altLang="es-CL" sz="2101" b="1" dirty="0">
                  <a:solidFill>
                    <a:srgbClr val="404040"/>
                  </a:solidFill>
                </a:endParaRPr>
              </a:p>
            </p:txBody>
          </p:sp>
        </p:grpSp>
        <p:pic>
          <p:nvPicPr>
            <p:cNvPr id="44044" name="5 Imagen" descr="ico_conceptos.png">
              <a:extLst>
                <a:ext uri="{FF2B5EF4-FFF2-40B4-BE49-F238E27FC236}">
                  <a16:creationId xmlns:a16="http://schemas.microsoft.com/office/drawing/2014/main" id="{417CA7F3-9D8A-47FC-83F6-3D63DFC703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2088" y="0"/>
              <a:ext cx="723907" cy="760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" name="Rectangle 6">
            <a:extLst>
              <a:ext uri="{FF2B5EF4-FFF2-40B4-BE49-F238E27FC236}">
                <a16:creationId xmlns:a16="http://schemas.microsoft.com/office/drawing/2014/main" id="{5EF17AEB-3694-437B-8820-D104BB90C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2726" y="1118022"/>
            <a:ext cx="6592143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MX" altLang="es-CL" sz="1050">
                <a:cs typeface="Times New Roman" panose="02020603050405020304" pitchFamily="18" charset="0"/>
              </a:rPr>
              <a:t>El </a:t>
            </a:r>
            <a:r>
              <a:rPr lang="es-MX" altLang="es-CL" sz="1050" b="1">
                <a:solidFill>
                  <a:srgbClr val="067DD9"/>
                </a:solidFill>
                <a:cs typeface="Times New Roman" panose="02020603050405020304" pitchFamily="18" charset="0"/>
              </a:rPr>
              <a:t>punto de congelación de una disolución </a:t>
            </a:r>
            <a:r>
              <a:rPr lang="es-MX" altLang="es-CL" sz="1050">
                <a:cs typeface="Times New Roman" panose="02020603050405020304" pitchFamily="18" charset="0"/>
              </a:rPr>
              <a:t>es </a:t>
            </a:r>
            <a:r>
              <a:rPr lang="es-MX" altLang="es-CL" sz="1050" b="1">
                <a:solidFill>
                  <a:srgbClr val="067DD9"/>
                </a:solidFill>
                <a:cs typeface="Times New Roman" panose="02020603050405020304" pitchFamily="18" charset="0"/>
              </a:rPr>
              <a:t>menor</a:t>
            </a:r>
            <a:r>
              <a:rPr lang="es-MX" altLang="es-CL" sz="1050">
                <a:cs typeface="Times New Roman" panose="02020603050405020304" pitchFamily="18" charset="0"/>
              </a:rPr>
              <a:t> que el punto de congelación del disolvente puro</a:t>
            </a:r>
            <a:r>
              <a:rPr lang="es-MX" altLang="es-CL" sz="1050">
                <a:solidFill>
                  <a:srgbClr val="067DD9"/>
                </a:solidFill>
                <a:cs typeface="Times New Roman" panose="02020603050405020304" pitchFamily="18" charset="0"/>
              </a:rPr>
              <a:t>. </a:t>
            </a:r>
            <a:r>
              <a:rPr lang="es-MX" altLang="es-CL" sz="1050">
                <a:cs typeface="Times New Roman" panose="02020603050405020304" pitchFamily="18" charset="0"/>
              </a:rPr>
              <a:t>Esto es consecuencia directa de la disminución de la presión de vapor del disolvente por adición de un soluto. </a:t>
            </a:r>
          </a:p>
        </p:txBody>
      </p:sp>
      <p:grpSp>
        <p:nvGrpSpPr>
          <p:cNvPr id="44036" name="Group 7">
            <a:extLst>
              <a:ext uri="{FF2B5EF4-FFF2-40B4-BE49-F238E27FC236}">
                <a16:creationId xmlns:a16="http://schemas.microsoft.com/office/drawing/2014/main" id="{A3C31437-EDF8-48C2-B7A9-DBB1E98CB7E1}"/>
              </a:ext>
            </a:extLst>
          </p:cNvPr>
          <p:cNvGrpSpPr>
            <a:grpSpLocks/>
          </p:cNvGrpSpPr>
          <p:nvPr/>
        </p:nvGrpSpPr>
        <p:grpSpPr bwMode="auto">
          <a:xfrm>
            <a:off x="1141942" y="574060"/>
            <a:ext cx="6184824" cy="322760"/>
            <a:chOff x="0" y="482"/>
            <a:chExt cx="5193" cy="271"/>
          </a:xfrm>
        </p:grpSpPr>
        <p:sp>
          <p:nvSpPr>
            <p:cNvPr id="44041" name="40 CuadroTexto">
              <a:extLst>
                <a:ext uri="{FF2B5EF4-FFF2-40B4-BE49-F238E27FC236}">
                  <a16:creationId xmlns:a16="http://schemas.microsoft.com/office/drawing/2014/main" id="{04A04D86-A894-4022-A65A-160BE25EF1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482"/>
              <a:ext cx="517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s-CL" sz="1500" b="1" dirty="0">
                  <a:solidFill>
                    <a:srgbClr val="7F7F7F"/>
                  </a:solidFill>
                </a:rPr>
                <a:t>3.3 Disminución del punto de congelación (crioscopía) </a:t>
              </a:r>
              <a:endParaRPr lang="es-CL" altLang="es-CL" sz="1500" b="1" dirty="0">
                <a:solidFill>
                  <a:srgbClr val="7F7F7F"/>
                </a:solidFill>
              </a:endParaRPr>
            </a:p>
          </p:txBody>
        </p:sp>
        <p:cxnSp>
          <p:nvCxnSpPr>
            <p:cNvPr id="11" name="10 Conector recto">
              <a:extLst>
                <a:ext uri="{FF2B5EF4-FFF2-40B4-BE49-F238E27FC236}">
                  <a16:creationId xmlns:a16="http://schemas.microsoft.com/office/drawing/2014/main" id="{35EE9AD0-2B05-4125-9085-04C112AF13D2}"/>
                </a:ext>
              </a:extLst>
            </p:cNvPr>
            <p:cNvCxnSpPr/>
            <p:nvPr/>
          </p:nvCxnSpPr>
          <p:spPr>
            <a:xfrm>
              <a:off x="0" y="720"/>
              <a:ext cx="4785" cy="1"/>
            </a:xfrm>
            <a:prstGeom prst="line">
              <a:avLst/>
            </a:prstGeom>
            <a:ln>
              <a:solidFill>
                <a:srgbClr val="067D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749" name="Text Box 9">
            <a:extLst>
              <a:ext uri="{FF2B5EF4-FFF2-40B4-BE49-F238E27FC236}">
                <a16:creationId xmlns:a16="http://schemas.microsoft.com/office/drawing/2014/main" id="{B68CDEC6-5E5F-4339-8DDE-739321528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213" y="2081855"/>
            <a:ext cx="1983003" cy="253916"/>
          </a:xfrm>
          <a:prstGeom prst="rect">
            <a:avLst/>
          </a:prstGeom>
          <a:solidFill>
            <a:schemeClr val="accent2">
              <a:alpha val="25098"/>
            </a:schemeClr>
          </a:solidFill>
          <a:ln w="28575" algn="ctr">
            <a:solidFill>
              <a:srgbClr val="067DD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CL" sz="1050"/>
              <a:t>∆T</a:t>
            </a:r>
            <a:r>
              <a:rPr lang="es-ES" altLang="es-CL" sz="1050" baseline="-25000"/>
              <a:t>c </a:t>
            </a:r>
            <a:r>
              <a:rPr lang="es-ES" altLang="es-CL" sz="1050"/>
              <a:t>= T</a:t>
            </a:r>
            <a:r>
              <a:rPr lang="es-ES" altLang="es-CL" sz="1050" baseline="-25000"/>
              <a:t>c</a:t>
            </a:r>
            <a:r>
              <a:rPr lang="es-ES" altLang="es-CL" sz="1050" baseline="30000"/>
              <a:t>°</a:t>
            </a:r>
            <a:r>
              <a:rPr lang="es-ES" altLang="es-CL" sz="1050"/>
              <a:t> – T</a:t>
            </a:r>
            <a:r>
              <a:rPr lang="es-ES" altLang="es-CL" sz="1050" baseline="-25000"/>
              <a:t>c</a:t>
            </a:r>
            <a:r>
              <a:rPr lang="es-ES" altLang="es-CL" sz="1050"/>
              <a:t>= k</a:t>
            </a:r>
            <a:r>
              <a:rPr lang="es-ES" altLang="es-CL" sz="1050" baseline="-25000"/>
              <a:t>c</a:t>
            </a:r>
            <a:r>
              <a:rPr lang="es-ES" altLang="es-CL" sz="1050"/>
              <a:t> x m </a:t>
            </a: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4665454A-8E7B-413C-B2DC-85E50574E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916" y="4172047"/>
            <a:ext cx="6270575" cy="253916"/>
          </a:xfrm>
          <a:prstGeom prst="rect">
            <a:avLst/>
          </a:prstGeom>
          <a:solidFill>
            <a:schemeClr val="accent2">
              <a:alpha val="10196"/>
            </a:schemeClr>
          </a:solidFill>
          <a:ln w="28575" algn="ctr">
            <a:solidFill>
              <a:srgbClr val="067DD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CL" sz="1050"/>
              <a:t>Aplicación → determinación de masas moleculares, anticongelantes y adición de sal a las carreteras. </a:t>
            </a:r>
          </a:p>
        </p:txBody>
      </p:sp>
      <p:sp>
        <p:nvSpPr>
          <p:cNvPr id="31751" name="Rectangle 6">
            <a:extLst>
              <a:ext uri="{FF2B5EF4-FFF2-40B4-BE49-F238E27FC236}">
                <a16:creationId xmlns:a16="http://schemas.microsoft.com/office/drawing/2014/main" id="{6656AFAD-0F5B-49E3-9F86-F4C2D3C87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2726" y="2713804"/>
            <a:ext cx="391241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MX" altLang="es-CL" sz="1200">
                <a:cs typeface="Times New Roman" panose="02020603050405020304" pitchFamily="18" charset="0"/>
              </a:rPr>
              <a:t>Donde:</a:t>
            </a:r>
          </a:p>
          <a:p>
            <a:pPr eaLnBrk="1" hangingPunct="1"/>
            <a:r>
              <a:rPr lang="es-MX" altLang="es-CL" sz="1200">
                <a:cs typeface="Times New Roman" panose="02020603050405020304" pitchFamily="18" charset="0"/>
              </a:rPr>
              <a:t>T</a:t>
            </a:r>
            <a:r>
              <a:rPr lang="es-MX" altLang="es-CL" sz="1200" baseline="-25000">
                <a:cs typeface="Times New Roman" panose="02020603050405020304" pitchFamily="18" charset="0"/>
              </a:rPr>
              <a:t>c</a:t>
            </a:r>
            <a:r>
              <a:rPr lang="es-MX" altLang="es-CL" sz="1200">
                <a:cs typeface="Times New Roman" panose="02020603050405020304" pitchFamily="18" charset="0"/>
              </a:rPr>
              <a:t>: punto de congelación de la disolución.</a:t>
            </a:r>
          </a:p>
          <a:p>
            <a:pPr eaLnBrk="1" hangingPunct="1"/>
            <a:r>
              <a:rPr lang="es-MX" altLang="es-CL" sz="1200">
                <a:cs typeface="Times New Roman" panose="02020603050405020304" pitchFamily="18" charset="0"/>
              </a:rPr>
              <a:t>T</a:t>
            </a:r>
            <a:r>
              <a:rPr lang="es-MX" altLang="es-CL" sz="1200" baseline="-25000">
                <a:cs typeface="Times New Roman" panose="02020603050405020304" pitchFamily="18" charset="0"/>
              </a:rPr>
              <a:t>c</a:t>
            </a:r>
            <a:r>
              <a:rPr lang="es-MX" altLang="es-CL" sz="1200">
                <a:cs typeface="Times New Roman" panose="02020603050405020304" pitchFamily="18" charset="0"/>
              </a:rPr>
              <a:t>°: punto de congelación del disolvente puro.</a:t>
            </a:r>
          </a:p>
          <a:p>
            <a:pPr eaLnBrk="1" hangingPunct="1"/>
            <a:r>
              <a:rPr lang="es-MX" altLang="es-CL" sz="1200">
                <a:cs typeface="Times New Roman" panose="02020603050405020304" pitchFamily="18" charset="0"/>
              </a:rPr>
              <a:t>k</a:t>
            </a:r>
            <a:r>
              <a:rPr lang="es-MX" altLang="es-CL" sz="1200" baseline="-25000">
                <a:cs typeface="Times New Roman" panose="02020603050405020304" pitchFamily="18" charset="0"/>
              </a:rPr>
              <a:t>c</a:t>
            </a:r>
            <a:r>
              <a:rPr lang="es-MX" altLang="es-CL" sz="1200">
                <a:cs typeface="Times New Roman" panose="02020603050405020304" pitchFamily="18" charset="0"/>
              </a:rPr>
              <a:t>: constante crioscópica (propia de cada disolvente).</a:t>
            </a:r>
          </a:p>
          <a:p>
            <a:pPr eaLnBrk="1" hangingPunct="1"/>
            <a:r>
              <a:rPr lang="es-MX" altLang="es-CL" sz="1200">
                <a:cs typeface="Times New Roman" panose="02020603050405020304" pitchFamily="18" charset="0"/>
              </a:rPr>
              <a:t>m: molalidad.</a:t>
            </a:r>
          </a:p>
        </p:txBody>
      </p:sp>
      <p:pic>
        <p:nvPicPr>
          <p:cNvPr id="31759" name="Picture 15">
            <a:extLst>
              <a:ext uri="{FF2B5EF4-FFF2-40B4-BE49-F238E27FC236}">
                <a16:creationId xmlns:a16="http://schemas.microsoft.com/office/drawing/2014/main" id="{0D5CE87C-9C92-4A83-ABA5-2AE6C2638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893" y="1813882"/>
            <a:ext cx="1697165" cy="2143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1749" grpId="0" animBg="1"/>
      <p:bldP spid="17" grpId="0" animBg="1"/>
      <p:bldP spid="3175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16 Grupo">
            <a:extLst>
              <a:ext uri="{FF2B5EF4-FFF2-40B4-BE49-F238E27FC236}">
                <a16:creationId xmlns:a16="http://schemas.microsoft.com/office/drawing/2014/main" id="{2BB58B55-0238-4F67-895E-4E703EAA5CC0}"/>
              </a:ext>
            </a:extLst>
          </p:cNvPr>
          <p:cNvGrpSpPr>
            <a:grpSpLocks/>
          </p:cNvGrpSpPr>
          <p:nvPr/>
        </p:nvGrpSpPr>
        <p:grpSpPr bwMode="auto">
          <a:xfrm>
            <a:off x="1240794" y="-75033"/>
            <a:ext cx="4249461" cy="645519"/>
            <a:chOff x="131763" y="-100013"/>
            <a:chExt cx="5664232" cy="860426"/>
          </a:xfrm>
        </p:grpSpPr>
        <p:grpSp>
          <p:nvGrpSpPr>
            <p:cNvPr id="40975" name="Group 2">
              <a:extLst>
                <a:ext uri="{FF2B5EF4-FFF2-40B4-BE49-F238E27FC236}">
                  <a16:creationId xmlns:a16="http://schemas.microsoft.com/office/drawing/2014/main" id="{5D6E7AFA-D557-4E89-ABE2-F530EDC7D8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763" y="-100013"/>
              <a:ext cx="5440015" cy="719138"/>
              <a:chOff x="83" y="-63"/>
              <a:chExt cx="2705" cy="453"/>
            </a:xfrm>
          </p:grpSpPr>
          <p:sp>
            <p:nvSpPr>
              <p:cNvPr id="40977" name="37 Rectángulo redondeado">
                <a:extLst>
                  <a:ext uri="{FF2B5EF4-FFF2-40B4-BE49-F238E27FC236}">
                    <a16:creationId xmlns:a16="http://schemas.microsoft.com/office/drawing/2014/main" id="{C789769F-BAA5-498E-A0D3-746A5D9632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" y="-63"/>
                <a:ext cx="2705" cy="453"/>
              </a:xfrm>
              <a:prstGeom prst="roundRect">
                <a:avLst>
                  <a:gd name="adj" fmla="val 16667"/>
                </a:avLst>
              </a:pr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s-CL" altLang="es-CL" sz="1050"/>
              </a:p>
            </p:txBody>
          </p:sp>
          <p:sp>
            <p:nvSpPr>
              <p:cNvPr id="40978" name="38 CuadroTexto">
                <a:extLst>
                  <a:ext uri="{FF2B5EF4-FFF2-40B4-BE49-F238E27FC236}">
                    <a16:creationId xmlns:a16="http://schemas.microsoft.com/office/drawing/2014/main" id="{A5FA7E86-29A2-4080-B324-17E5D1076B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" y="4"/>
                <a:ext cx="2364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s-ES_tradnl" altLang="es-CL" sz="2101" b="1" dirty="0">
                    <a:solidFill>
                      <a:srgbClr val="404040"/>
                    </a:solidFill>
                  </a:rPr>
                  <a:t>3. Propiedades coligativas</a:t>
                </a:r>
                <a:endParaRPr lang="es-CL" altLang="es-CL" sz="2101" b="1" dirty="0">
                  <a:solidFill>
                    <a:srgbClr val="404040"/>
                  </a:solidFill>
                </a:endParaRPr>
              </a:p>
            </p:txBody>
          </p:sp>
        </p:grpSp>
        <p:pic>
          <p:nvPicPr>
            <p:cNvPr id="40976" name="5 Imagen" descr="ico_conceptos.png">
              <a:extLst>
                <a:ext uri="{FF2B5EF4-FFF2-40B4-BE49-F238E27FC236}">
                  <a16:creationId xmlns:a16="http://schemas.microsoft.com/office/drawing/2014/main" id="{A27404E0-433C-4D11-AB75-F5AB9D689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2088" y="0"/>
              <a:ext cx="723907" cy="760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" name="Rectangle 6">
            <a:extLst>
              <a:ext uri="{FF2B5EF4-FFF2-40B4-BE49-F238E27FC236}">
                <a16:creationId xmlns:a16="http://schemas.microsoft.com/office/drawing/2014/main" id="{A3C9D0A2-2B28-46BC-8FFD-94A93591C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3445" y="1071973"/>
            <a:ext cx="659214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s-MX" altLang="es-CL" sz="1050">
                <a:cs typeface="Times New Roman" panose="02020603050405020304" pitchFamily="18" charset="0"/>
              </a:rPr>
              <a:t>Al </a:t>
            </a:r>
            <a:r>
              <a:rPr lang="es-MX" altLang="es-CL" sz="1050" b="1">
                <a:solidFill>
                  <a:srgbClr val="067DD9"/>
                </a:solidFill>
                <a:cs typeface="Times New Roman" panose="02020603050405020304" pitchFamily="18" charset="0"/>
              </a:rPr>
              <a:t>añadir un soluto</a:t>
            </a:r>
            <a:r>
              <a:rPr lang="es-MX" altLang="es-CL" sz="1050" b="1">
                <a:cs typeface="Times New Roman" panose="02020603050405020304" pitchFamily="18" charset="0"/>
              </a:rPr>
              <a:t> </a:t>
            </a:r>
            <a:r>
              <a:rPr lang="es-MX" altLang="es-CL" sz="1050">
                <a:cs typeface="Times New Roman" panose="02020603050405020304" pitchFamily="18" charset="0"/>
              </a:rPr>
              <a:t>a un disolvente puro, se produce una </a:t>
            </a:r>
            <a:r>
              <a:rPr lang="es-MX" altLang="es-CL" sz="1050" b="1">
                <a:solidFill>
                  <a:srgbClr val="067DD9"/>
                </a:solidFill>
                <a:cs typeface="Times New Roman" panose="02020603050405020304" pitchFamily="18" charset="0"/>
              </a:rPr>
              <a:t>disminución de la presión de vapor del disolvente</a:t>
            </a:r>
            <a:r>
              <a:rPr lang="es-MX" altLang="es-CL" sz="1050">
                <a:cs typeface="Times New Roman" panose="02020603050405020304" pitchFamily="18" charset="0"/>
              </a:rPr>
              <a:t>.</a:t>
            </a:r>
            <a:r>
              <a:rPr lang="es-MX" altLang="es-CL" sz="1050">
                <a:solidFill>
                  <a:srgbClr val="067DD9"/>
                </a:solidFill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40964" name="Group 7">
            <a:extLst>
              <a:ext uri="{FF2B5EF4-FFF2-40B4-BE49-F238E27FC236}">
                <a16:creationId xmlns:a16="http://schemas.microsoft.com/office/drawing/2014/main" id="{54F96015-297C-47F7-8796-C38729F98FCD}"/>
              </a:ext>
            </a:extLst>
          </p:cNvPr>
          <p:cNvGrpSpPr>
            <a:grpSpLocks/>
          </p:cNvGrpSpPr>
          <p:nvPr/>
        </p:nvGrpSpPr>
        <p:grpSpPr bwMode="auto">
          <a:xfrm>
            <a:off x="1141942" y="574060"/>
            <a:ext cx="6184824" cy="322760"/>
            <a:chOff x="0" y="482"/>
            <a:chExt cx="5193" cy="271"/>
          </a:xfrm>
        </p:grpSpPr>
        <p:sp>
          <p:nvSpPr>
            <p:cNvPr id="40973" name="40 CuadroTexto">
              <a:extLst>
                <a:ext uri="{FF2B5EF4-FFF2-40B4-BE49-F238E27FC236}">
                  <a16:creationId xmlns:a16="http://schemas.microsoft.com/office/drawing/2014/main" id="{2BAE4361-BFB0-4049-B248-E710B00BDF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482"/>
              <a:ext cx="517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s-CL" sz="1500" b="1">
                  <a:solidFill>
                    <a:srgbClr val="7F7F7F"/>
                  </a:solidFill>
                </a:rPr>
                <a:t>3.4 </a:t>
              </a:r>
              <a:r>
                <a:rPr lang="es-ES_tradnl" altLang="es-CL" sz="1500" b="1" dirty="0">
                  <a:solidFill>
                    <a:srgbClr val="7F7F7F"/>
                  </a:solidFill>
                </a:rPr>
                <a:t>Disminución de la presión de vapor (</a:t>
              </a:r>
              <a:r>
                <a:rPr lang="es-ES_tradnl" altLang="es-CL" sz="1500" b="1" dirty="0" err="1">
                  <a:solidFill>
                    <a:srgbClr val="7F7F7F"/>
                  </a:solidFill>
                </a:rPr>
                <a:t>tonoscopía</a:t>
              </a:r>
              <a:r>
                <a:rPr lang="es-ES_tradnl" altLang="es-CL" sz="1500" b="1" dirty="0">
                  <a:solidFill>
                    <a:srgbClr val="7F7F7F"/>
                  </a:solidFill>
                </a:rPr>
                <a:t>)</a:t>
              </a:r>
              <a:endParaRPr lang="es-CL" altLang="es-CL" sz="1500" b="1" dirty="0">
                <a:solidFill>
                  <a:srgbClr val="7F7F7F"/>
                </a:solidFill>
              </a:endParaRPr>
            </a:p>
          </p:txBody>
        </p:sp>
        <p:cxnSp>
          <p:nvCxnSpPr>
            <p:cNvPr id="11" name="10 Conector recto">
              <a:extLst>
                <a:ext uri="{FF2B5EF4-FFF2-40B4-BE49-F238E27FC236}">
                  <a16:creationId xmlns:a16="http://schemas.microsoft.com/office/drawing/2014/main" id="{56BB8315-F8A6-497F-A094-3BE7C69147DC}"/>
                </a:ext>
              </a:extLst>
            </p:cNvPr>
            <p:cNvCxnSpPr/>
            <p:nvPr/>
          </p:nvCxnSpPr>
          <p:spPr>
            <a:xfrm>
              <a:off x="0" y="720"/>
              <a:ext cx="4785" cy="1"/>
            </a:xfrm>
            <a:prstGeom prst="line">
              <a:avLst/>
            </a:prstGeom>
            <a:ln>
              <a:solidFill>
                <a:srgbClr val="067D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20 Grupo">
            <a:extLst>
              <a:ext uri="{FF2B5EF4-FFF2-40B4-BE49-F238E27FC236}">
                <a16:creationId xmlns:a16="http://schemas.microsoft.com/office/drawing/2014/main" id="{CCB5E347-D5D7-490E-9642-61184842D051}"/>
              </a:ext>
            </a:extLst>
          </p:cNvPr>
          <p:cNvGrpSpPr>
            <a:grpSpLocks/>
          </p:cNvGrpSpPr>
          <p:nvPr/>
        </p:nvGrpSpPr>
        <p:grpSpPr bwMode="auto">
          <a:xfrm>
            <a:off x="1356320" y="1815080"/>
            <a:ext cx="3054896" cy="274426"/>
            <a:chOff x="285720" y="3105693"/>
            <a:chExt cx="4071966" cy="366243"/>
          </a:xfrm>
        </p:grpSpPr>
        <p:sp>
          <p:nvSpPr>
            <p:cNvPr id="40970" name="Text Box 9">
              <a:extLst>
                <a:ext uri="{FF2B5EF4-FFF2-40B4-BE49-F238E27FC236}">
                  <a16:creationId xmlns:a16="http://schemas.microsoft.com/office/drawing/2014/main" id="{F07B0BBC-FA4E-4015-8D30-0C1B7FDF18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4628" y="3105693"/>
              <a:ext cx="1643058" cy="338871"/>
            </a:xfrm>
            <a:prstGeom prst="rect">
              <a:avLst/>
            </a:prstGeom>
            <a:solidFill>
              <a:schemeClr val="accent2">
                <a:alpha val="25098"/>
              </a:schemeClr>
            </a:solidFill>
            <a:ln w="28575" algn="ctr">
              <a:solidFill>
                <a:srgbClr val="067DD9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altLang="es-CL" sz="1050"/>
                <a:t>P</a:t>
              </a:r>
              <a:r>
                <a:rPr lang="es-ES" altLang="es-CL" sz="1050" baseline="-25000"/>
                <a:t>A</a:t>
              </a:r>
              <a:r>
                <a:rPr lang="es-ES" altLang="es-CL" sz="1050"/>
                <a:t> = </a:t>
              </a:r>
              <a:r>
                <a:rPr lang="es-ES" altLang="es-CL" sz="1050" i="1"/>
                <a:t>X</a:t>
              </a:r>
              <a:r>
                <a:rPr lang="es-ES" altLang="es-CL" sz="1050" i="1" baseline="-25000"/>
                <a:t>A</a:t>
              </a:r>
              <a:r>
                <a:rPr lang="es-ES" altLang="es-CL" sz="1050"/>
                <a:t> P</a:t>
              </a:r>
              <a:r>
                <a:rPr lang="es-ES" altLang="es-CL" sz="1050" baseline="30000"/>
                <a:t>°</a:t>
              </a:r>
              <a:endParaRPr lang="es-ES" altLang="es-CL" sz="1050"/>
            </a:p>
          </p:txBody>
        </p:sp>
        <p:sp>
          <p:nvSpPr>
            <p:cNvPr id="40971" name="Rectangle 6">
              <a:extLst>
                <a:ext uri="{FF2B5EF4-FFF2-40B4-BE49-F238E27FC236}">
                  <a16:creationId xmlns:a16="http://schemas.microsoft.com/office/drawing/2014/main" id="{B71C7794-5EEC-442B-B012-4CAD93340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20" y="3133065"/>
              <a:ext cx="1714512" cy="338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/>
              <a:r>
                <a:rPr lang="es-MX" altLang="es-CL" sz="1050">
                  <a:cs typeface="Times New Roman" panose="02020603050405020304" pitchFamily="18" charset="0"/>
                </a:rPr>
                <a:t>Ley de Raoult</a:t>
              </a:r>
            </a:p>
          </p:txBody>
        </p:sp>
        <p:cxnSp>
          <p:nvCxnSpPr>
            <p:cNvPr id="40972" name="AutoShape 36">
              <a:extLst>
                <a:ext uri="{FF2B5EF4-FFF2-40B4-BE49-F238E27FC236}">
                  <a16:creationId xmlns:a16="http://schemas.microsoft.com/office/drawing/2014/main" id="{F82DB3D5-5746-4862-91F3-D47FC48320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000232" y="3304853"/>
              <a:ext cx="442933" cy="0"/>
            </a:xfrm>
            <a:prstGeom prst="straightConnector1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9702" name="Rectangle 6">
            <a:extLst>
              <a:ext uri="{FF2B5EF4-FFF2-40B4-BE49-F238E27FC236}">
                <a16:creationId xmlns:a16="http://schemas.microsoft.com/office/drawing/2014/main" id="{4E6C8D27-65C1-4225-87D5-1821E08E9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6321" y="2436334"/>
            <a:ext cx="386238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MX" altLang="es-CL" sz="1200">
                <a:cs typeface="Times New Roman" panose="02020603050405020304" pitchFamily="18" charset="0"/>
              </a:rPr>
              <a:t>Donde:</a:t>
            </a:r>
          </a:p>
          <a:p>
            <a:pPr eaLnBrk="1" hangingPunct="1"/>
            <a:r>
              <a:rPr lang="es-MX" altLang="es-CL" sz="1200">
                <a:cs typeface="Times New Roman" panose="02020603050405020304" pitchFamily="18" charset="0"/>
              </a:rPr>
              <a:t>P</a:t>
            </a:r>
            <a:r>
              <a:rPr lang="es-MX" altLang="es-CL" sz="1200" baseline="-25000">
                <a:cs typeface="Times New Roman" panose="02020603050405020304" pitchFamily="18" charset="0"/>
              </a:rPr>
              <a:t>A</a:t>
            </a:r>
            <a:r>
              <a:rPr lang="es-MX" altLang="es-CL" sz="1200">
                <a:cs typeface="Times New Roman" panose="02020603050405020304" pitchFamily="18" charset="0"/>
              </a:rPr>
              <a:t>: presión de vapor del disolvente en una disolución.</a:t>
            </a:r>
          </a:p>
          <a:p>
            <a:pPr eaLnBrk="1" hangingPunct="1"/>
            <a:r>
              <a:rPr lang="es-MX" altLang="es-CL" sz="1200">
                <a:cs typeface="Times New Roman" panose="02020603050405020304" pitchFamily="18" charset="0"/>
              </a:rPr>
              <a:t>P</a:t>
            </a:r>
            <a:r>
              <a:rPr lang="es-MX" altLang="es-CL" sz="1200" baseline="30000">
                <a:cs typeface="Times New Roman" panose="02020603050405020304" pitchFamily="18" charset="0"/>
              </a:rPr>
              <a:t>°</a:t>
            </a:r>
            <a:r>
              <a:rPr lang="es-MX" altLang="es-CL" sz="1200">
                <a:cs typeface="Times New Roman" panose="02020603050405020304" pitchFamily="18" charset="0"/>
              </a:rPr>
              <a:t>: presión de vapor del disolvente puro.</a:t>
            </a:r>
          </a:p>
          <a:p>
            <a:pPr eaLnBrk="1" hangingPunct="1"/>
            <a:r>
              <a:rPr lang="es-MX" altLang="es-CL" sz="1200" i="1">
                <a:cs typeface="Times New Roman" panose="02020603050405020304" pitchFamily="18" charset="0"/>
              </a:rPr>
              <a:t>X</a:t>
            </a:r>
            <a:r>
              <a:rPr lang="es-MX" altLang="es-CL" sz="1200" i="1" baseline="-25000">
                <a:cs typeface="Times New Roman" panose="02020603050405020304" pitchFamily="18" charset="0"/>
              </a:rPr>
              <a:t>A</a:t>
            </a:r>
            <a:r>
              <a:rPr lang="es-MX" altLang="es-CL" sz="1200">
                <a:cs typeface="Times New Roman" panose="02020603050405020304" pitchFamily="18" charset="0"/>
              </a:rPr>
              <a:t>: fracción molar del disolvente en la disolución.  </a:t>
            </a: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D08D4D32-C937-4671-B375-403C374FF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739" y="4278045"/>
            <a:ext cx="5359466" cy="253916"/>
          </a:xfrm>
          <a:prstGeom prst="rect">
            <a:avLst/>
          </a:prstGeom>
          <a:solidFill>
            <a:schemeClr val="accent2">
              <a:alpha val="10196"/>
            </a:schemeClr>
          </a:solidFill>
          <a:ln w="28575" algn="ctr">
            <a:solidFill>
              <a:srgbClr val="067DD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CL" sz="1050"/>
              <a:t>Aplicación → determinación de masas moleculares.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8519D56D-79B7-470F-87F2-61326F1DF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6320" y="3465868"/>
            <a:ext cx="352652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MX" altLang="es-CL" sz="1050" b="1">
                <a:solidFill>
                  <a:srgbClr val="067DD9"/>
                </a:solidFill>
                <a:cs typeface="Times New Roman" panose="02020603050405020304" pitchFamily="18" charset="0"/>
              </a:rPr>
              <a:t>Si la presión de vapor disminuye, la evaporación ocurre más lentamente.</a:t>
            </a:r>
          </a:p>
        </p:txBody>
      </p:sp>
      <p:pic>
        <p:nvPicPr>
          <p:cNvPr id="29705" name="Picture 4" descr="http://profenrique.files.wordpress.com/2007/07/desc-pvapor-1.jpg?w=376&amp;h=143">
            <a:extLst>
              <a:ext uri="{FF2B5EF4-FFF2-40B4-BE49-F238E27FC236}">
                <a16:creationId xmlns:a16="http://schemas.microsoft.com/office/drawing/2014/main" id="{D7CDB664-1F63-459F-AE73-134884F2C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711" y="1725749"/>
            <a:ext cx="2574926" cy="2172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702" grpId="0"/>
      <p:bldP spid="17" grpId="0" animBg="1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8" name="16 Grupo">
            <a:extLst>
              <a:ext uri="{FF2B5EF4-FFF2-40B4-BE49-F238E27FC236}">
                <a16:creationId xmlns:a16="http://schemas.microsoft.com/office/drawing/2014/main" id="{3AFFA789-B9C0-4AC9-B790-17E6E8E281FD}"/>
              </a:ext>
            </a:extLst>
          </p:cNvPr>
          <p:cNvGrpSpPr>
            <a:grpSpLocks/>
          </p:cNvGrpSpPr>
          <p:nvPr/>
        </p:nvGrpSpPr>
        <p:grpSpPr bwMode="auto">
          <a:xfrm>
            <a:off x="1240794" y="-75033"/>
            <a:ext cx="4249461" cy="645519"/>
            <a:chOff x="131763" y="-100013"/>
            <a:chExt cx="5664232" cy="860426"/>
          </a:xfrm>
        </p:grpSpPr>
        <p:grpSp>
          <p:nvGrpSpPr>
            <p:cNvPr id="45069" name="Group 2">
              <a:extLst>
                <a:ext uri="{FF2B5EF4-FFF2-40B4-BE49-F238E27FC236}">
                  <a16:creationId xmlns:a16="http://schemas.microsoft.com/office/drawing/2014/main" id="{990F60A9-796A-4F63-8E7B-D494799F1B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763" y="-100013"/>
              <a:ext cx="5440015" cy="719138"/>
              <a:chOff x="83" y="-63"/>
              <a:chExt cx="2705" cy="453"/>
            </a:xfrm>
          </p:grpSpPr>
          <p:sp>
            <p:nvSpPr>
              <p:cNvPr id="45071" name="37 Rectángulo redondeado">
                <a:extLst>
                  <a:ext uri="{FF2B5EF4-FFF2-40B4-BE49-F238E27FC236}">
                    <a16:creationId xmlns:a16="http://schemas.microsoft.com/office/drawing/2014/main" id="{E1307F1C-D509-49F9-A05A-2F9E375C50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" y="-63"/>
                <a:ext cx="2705" cy="453"/>
              </a:xfrm>
              <a:prstGeom prst="roundRect">
                <a:avLst>
                  <a:gd name="adj" fmla="val 16667"/>
                </a:avLst>
              </a:pr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s-CL" altLang="es-CL" sz="1050"/>
              </a:p>
            </p:txBody>
          </p:sp>
          <p:sp>
            <p:nvSpPr>
              <p:cNvPr id="45072" name="38 CuadroTexto">
                <a:extLst>
                  <a:ext uri="{FF2B5EF4-FFF2-40B4-BE49-F238E27FC236}">
                    <a16:creationId xmlns:a16="http://schemas.microsoft.com/office/drawing/2014/main" id="{A034AC9C-0842-4932-9FD9-E59F248407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" y="4"/>
                <a:ext cx="2364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s-ES_tradnl" altLang="es-CL" sz="2101" b="1" dirty="0">
                    <a:solidFill>
                      <a:srgbClr val="404040"/>
                    </a:solidFill>
                  </a:rPr>
                  <a:t>3. Propiedades coligativas</a:t>
                </a:r>
                <a:endParaRPr lang="es-CL" altLang="es-CL" sz="2101" b="1" dirty="0">
                  <a:solidFill>
                    <a:srgbClr val="404040"/>
                  </a:solidFill>
                </a:endParaRPr>
              </a:p>
            </p:txBody>
          </p:sp>
        </p:grpSp>
        <p:pic>
          <p:nvPicPr>
            <p:cNvPr id="45070" name="5 Imagen" descr="ico_conceptos.png">
              <a:extLst>
                <a:ext uri="{FF2B5EF4-FFF2-40B4-BE49-F238E27FC236}">
                  <a16:creationId xmlns:a16="http://schemas.microsoft.com/office/drawing/2014/main" id="{85D9B89E-30B4-4DF9-BAA5-88746696AE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2088" y="0"/>
              <a:ext cx="723907" cy="760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" name="Rectangle 6">
            <a:extLst>
              <a:ext uri="{FF2B5EF4-FFF2-40B4-BE49-F238E27FC236}">
                <a16:creationId xmlns:a16="http://schemas.microsoft.com/office/drawing/2014/main" id="{8CDE814C-7A37-4E2F-8D3B-6AB84DD10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2726" y="1210723"/>
            <a:ext cx="659214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MX" altLang="es-CL" sz="1050">
                <a:cs typeface="Times New Roman" panose="02020603050405020304" pitchFamily="18" charset="0"/>
              </a:rPr>
              <a:t>La </a:t>
            </a:r>
            <a:r>
              <a:rPr lang="es-MX" altLang="es-CL" sz="1050" b="1">
                <a:solidFill>
                  <a:srgbClr val="067DD9"/>
                </a:solidFill>
                <a:cs typeface="Times New Roman" panose="02020603050405020304" pitchFamily="18" charset="0"/>
              </a:rPr>
              <a:t>presión osmótica </a:t>
            </a:r>
            <a:r>
              <a:rPr lang="es-MX" altLang="es-CL" sz="1050">
                <a:cs typeface="Times New Roman" panose="02020603050405020304" pitchFamily="18" charset="0"/>
              </a:rPr>
              <a:t>se define como la presión hidrostática necesaria para detener el flujo neto de agua a través de una membrana semipermeable que separa disoluciones de composición diferente. </a:t>
            </a:r>
          </a:p>
        </p:txBody>
      </p:sp>
      <p:grpSp>
        <p:nvGrpSpPr>
          <p:cNvPr id="45060" name="Group 7">
            <a:extLst>
              <a:ext uri="{FF2B5EF4-FFF2-40B4-BE49-F238E27FC236}">
                <a16:creationId xmlns:a16="http://schemas.microsoft.com/office/drawing/2014/main" id="{EBAAA490-AE9D-4BBE-9C65-928DC0B251C6}"/>
              </a:ext>
            </a:extLst>
          </p:cNvPr>
          <p:cNvGrpSpPr>
            <a:grpSpLocks/>
          </p:cNvGrpSpPr>
          <p:nvPr/>
        </p:nvGrpSpPr>
        <p:grpSpPr bwMode="auto">
          <a:xfrm>
            <a:off x="1141942" y="574060"/>
            <a:ext cx="6184824" cy="322760"/>
            <a:chOff x="0" y="482"/>
            <a:chExt cx="5193" cy="271"/>
          </a:xfrm>
        </p:grpSpPr>
        <p:sp>
          <p:nvSpPr>
            <p:cNvPr id="45067" name="40 CuadroTexto">
              <a:extLst>
                <a:ext uri="{FF2B5EF4-FFF2-40B4-BE49-F238E27FC236}">
                  <a16:creationId xmlns:a16="http://schemas.microsoft.com/office/drawing/2014/main" id="{CBE35F81-8A95-4F6A-B89A-3634D1EA8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482"/>
              <a:ext cx="517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s-CL" sz="1500" b="1" dirty="0">
                  <a:solidFill>
                    <a:srgbClr val="7F7F7F"/>
                  </a:solidFill>
                </a:rPr>
                <a:t>3.5 Presión osmótica (</a:t>
              </a:r>
              <a:r>
                <a:rPr lang="el-GR" altLang="es-CL" sz="1500" b="1" dirty="0">
                  <a:solidFill>
                    <a:srgbClr val="7F7F7F"/>
                  </a:solidFill>
                </a:rPr>
                <a:t>π</a:t>
              </a:r>
              <a:r>
                <a:rPr lang="es-CL" altLang="es-CL" sz="1500" b="1" dirty="0">
                  <a:solidFill>
                    <a:srgbClr val="7F7F7F"/>
                  </a:solidFill>
                </a:rPr>
                <a:t>)</a:t>
              </a:r>
            </a:p>
          </p:txBody>
        </p:sp>
        <p:cxnSp>
          <p:nvCxnSpPr>
            <p:cNvPr id="11" name="10 Conector recto">
              <a:extLst>
                <a:ext uri="{FF2B5EF4-FFF2-40B4-BE49-F238E27FC236}">
                  <a16:creationId xmlns:a16="http://schemas.microsoft.com/office/drawing/2014/main" id="{4053C886-A559-4354-9506-C965C01E9987}"/>
                </a:ext>
              </a:extLst>
            </p:cNvPr>
            <p:cNvCxnSpPr/>
            <p:nvPr/>
          </p:nvCxnSpPr>
          <p:spPr>
            <a:xfrm>
              <a:off x="0" y="720"/>
              <a:ext cx="2631" cy="1"/>
            </a:xfrm>
            <a:prstGeom prst="line">
              <a:avLst/>
            </a:prstGeom>
            <a:ln>
              <a:solidFill>
                <a:srgbClr val="067D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773" name="Text Box 9">
            <a:extLst>
              <a:ext uri="{FF2B5EF4-FFF2-40B4-BE49-F238E27FC236}">
                <a16:creationId xmlns:a16="http://schemas.microsoft.com/office/drawing/2014/main" id="{75F35D54-4D12-4E48-A21C-832C74B7C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809" y="1875814"/>
            <a:ext cx="1554245" cy="253916"/>
          </a:xfrm>
          <a:prstGeom prst="rect">
            <a:avLst/>
          </a:prstGeom>
          <a:solidFill>
            <a:schemeClr val="accent2">
              <a:alpha val="25098"/>
            </a:schemeClr>
          </a:solidFill>
          <a:ln w="28575" algn="ctr">
            <a:solidFill>
              <a:srgbClr val="067DD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CL" sz="1050"/>
              <a:t>π= M R T </a:t>
            </a: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C358C7C8-F86F-4AF1-8D14-1BAB45626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916" y="4287573"/>
            <a:ext cx="6270575" cy="415498"/>
          </a:xfrm>
          <a:prstGeom prst="rect">
            <a:avLst/>
          </a:prstGeom>
          <a:solidFill>
            <a:schemeClr val="accent2">
              <a:alpha val="10196"/>
            </a:schemeClr>
          </a:solidFill>
          <a:ln w="28575" algn="ctr">
            <a:solidFill>
              <a:srgbClr val="067DD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CL" sz="1050"/>
              <a:t>Aplicación → determinación de masas moleculares (moléculas biológicas) y osmosis inversa (desalinización de agua de mar).</a:t>
            </a:r>
          </a:p>
        </p:txBody>
      </p:sp>
      <p:sp>
        <p:nvSpPr>
          <p:cNvPr id="32775" name="Rectangle 6">
            <a:extLst>
              <a:ext uri="{FF2B5EF4-FFF2-40B4-BE49-F238E27FC236}">
                <a16:creationId xmlns:a16="http://schemas.microsoft.com/office/drawing/2014/main" id="{BC3337FA-0C01-4394-827D-733958F63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131" y="2254646"/>
            <a:ext cx="332286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MX" altLang="es-CL" sz="1200">
                <a:cs typeface="Times New Roman" panose="02020603050405020304" pitchFamily="18" charset="0"/>
              </a:rPr>
              <a:t>Donde:</a:t>
            </a:r>
          </a:p>
          <a:p>
            <a:pPr eaLnBrk="1" hangingPunct="1"/>
            <a:r>
              <a:rPr lang="el-GR" altLang="es-CL" sz="1200">
                <a:cs typeface="Times New Roman" panose="02020603050405020304" pitchFamily="18" charset="0"/>
              </a:rPr>
              <a:t>π</a:t>
            </a:r>
            <a:r>
              <a:rPr lang="es-CL" altLang="es-CL" sz="1200">
                <a:cs typeface="Times New Roman" panose="02020603050405020304" pitchFamily="18" charset="0"/>
              </a:rPr>
              <a:t>: presión osmótica (atm).</a:t>
            </a:r>
          </a:p>
          <a:p>
            <a:pPr eaLnBrk="1" hangingPunct="1"/>
            <a:r>
              <a:rPr lang="es-CL" altLang="es-CL" sz="1200">
                <a:cs typeface="Times New Roman" panose="02020603050405020304" pitchFamily="18" charset="0"/>
              </a:rPr>
              <a:t>M: molaridad (mol/L).</a:t>
            </a:r>
          </a:p>
          <a:p>
            <a:pPr eaLnBrk="1" hangingPunct="1"/>
            <a:r>
              <a:rPr lang="es-CL" altLang="es-CL" sz="1200">
                <a:cs typeface="Times New Roman" panose="02020603050405020304" pitchFamily="18" charset="0"/>
              </a:rPr>
              <a:t>R: constante de los gases (0,082 atm L/K mol).</a:t>
            </a:r>
          </a:p>
          <a:p>
            <a:pPr eaLnBrk="1" hangingPunct="1"/>
            <a:r>
              <a:rPr lang="es-CL" altLang="es-CL" sz="1200">
                <a:cs typeface="Times New Roman" panose="02020603050405020304" pitchFamily="18" charset="0"/>
              </a:rPr>
              <a:t>T: temperatura (K).</a:t>
            </a:r>
            <a:endParaRPr lang="es-MX" altLang="es-CL" sz="1200">
              <a:cs typeface="Times New Roman" panose="02020603050405020304" pitchFamily="18" charset="0"/>
            </a:endParaRPr>
          </a:p>
        </p:txBody>
      </p:sp>
      <p:pic>
        <p:nvPicPr>
          <p:cNvPr id="32776" name="Picture 4">
            <a:extLst>
              <a:ext uri="{FF2B5EF4-FFF2-40B4-BE49-F238E27FC236}">
                <a16:creationId xmlns:a16="http://schemas.microsoft.com/office/drawing/2014/main" id="{768D0FEE-26DA-4595-90F8-CEB8B0A9C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6786" y="1875814"/>
            <a:ext cx="3321678" cy="1822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7" name="Rectangle 6">
            <a:extLst>
              <a:ext uri="{FF2B5EF4-FFF2-40B4-BE49-F238E27FC236}">
                <a16:creationId xmlns:a16="http://schemas.microsoft.com/office/drawing/2014/main" id="{9C9E8AFC-9B9B-4FD1-ADE4-BAB7FECDE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8731" y="3709824"/>
            <a:ext cx="85751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MX" altLang="es-CL" sz="1050">
                <a:cs typeface="Times New Roman" panose="02020603050405020304" pitchFamily="18" charset="0"/>
              </a:rPr>
              <a:t>H</a:t>
            </a:r>
            <a:r>
              <a:rPr lang="es-MX" altLang="es-CL" sz="1050" baseline="-25000">
                <a:cs typeface="Times New Roman" panose="02020603050405020304" pitchFamily="18" charset="0"/>
              </a:rPr>
              <a:t>2</a:t>
            </a:r>
            <a:r>
              <a:rPr lang="es-MX" altLang="es-CL" sz="1050">
                <a:cs typeface="Times New Roman" panose="02020603050405020304" pitchFamily="18" charset="0"/>
              </a:rPr>
              <a:t>O pura</a:t>
            </a:r>
          </a:p>
        </p:txBody>
      </p:sp>
      <p:sp>
        <p:nvSpPr>
          <p:cNvPr id="32778" name="Rectangle 6">
            <a:extLst>
              <a:ext uri="{FF2B5EF4-FFF2-40B4-BE49-F238E27FC236}">
                <a16:creationId xmlns:a16="http://schemas.microsoft.com/office/drawing/2014/main" id="{9BAFB012-19E1-47B2-8DA5-4F2F81193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1408" y="3732650"/>
            <a:ext cx="85751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MX" altLang="es-CL" sz="1050">
                <a:cs typeface="Times New Roman" panose="02020603050405020304" pitchFamily="18" charset="0"/>
              </a:rPr>
              <a:t>Glucosa (180 g/L)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2773" grpId="0" animBg="1"/>
      <p:bldP spid="17" grpId="0" animBg="1"/>
      <p:bldP spid="32775" grpId="0"/>
      <p:bldP spid="32777" grpId="0"/>
      <p:bldP spid="3277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18">
            <a:extLst>
              <a:ext uri="{FF2B5EF4-FFF2-40B4-BE49-F238E27FC236}">
                <a16:creationId xmlns:a16="http://schemas.microsoft.com/office/drawing/2014/main" id="{C4DA4788-C0D7-45D9-B241-B9019F05F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6157" y="1816264"/>
            <a:ext cx="2800024" cy="253916"/>
          </a:xfrm>
          <a:prstGeom prst="rect">
            <a:avLst/>
          </a:prstGeom>
          <a:solidFill>
            <a:schemeClr val="accent2">
              <a:alpha val="10196"/>
            </a:schemeClr>
          </a:solidFill>
          <a:ln w="28575" algn="ctr">
            <a:solidFill>
              <a:srgbClr val="067DD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CL" sz="1050"/>
              <a:t>Según la ecuación de Van’t Hoff:</a:t>
            </a: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1D99EC57-DB6B-45E2-9F65-47B883DA6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525" y="748814"/>
            <a:ext cx="6428977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CL" altLang="es-CL" sz="1050">
                <a:cs typeface="Times New Roman" panose="02020603050405020304" pitchFamily="18" charset="0"/>
              </a:rPr>
              <a:t>Suponiendo que la presión osmótica de la sangre a 37 °C es 7,65 atm, ¿qué cantidad de glucosa por litro debe utilizarse para una inyección intravenosa que ha de tener la misma presión osmótica que la sangre?</a:t>
            </a:r>
            <a:endParaRPr lang="es-MX" altLang="es-CL" sz="1050">
              <a:cs typeface="Times New Roman" panose="02020603050405020304" pitchFamily="18" charset="0"/>
            </a:endParaRPr>
          </a:p>
        </p:txBody>
      </p:sp>
      <p:sp>
        <p:nvSpPr>
          <p:cNvPr id="20" name="Text Box 9">
            <a:extLst>
              <a:ext uri="{FF2B5EF4-FFF2-40B4-BE49-F238E27FC236}">
                <a16:creationId xmlns:a16="http://schemas.microsoft.com/office/drawing/2014/main" id="{DFD5FF33-3ECE-4F3E-8B66-370211E41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4035" y="2302189"/>
            <a:ext cx="1554246" cy="253916"/>
          </a:xfrm>
          <a:prstGeom prst="rect">
            <a:avLst/>
          </a:prstGeom>
          <a:solidFill>
            <a:schemeClr val="accent2">
              <a:alpha val="25098"/>
            </a:schemeClr>
          </a:solidFill>
          <a:ln w="28575" algn="ctr">
            <a:solidFill>
              <a:srgbClr val="067DD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CL" sz="1050"/>
              <a:t>π = M R T </a:t>
            </a:r>
          </a:p>
        </p:txBody>
      </p:sp>
      <p:grpSp>
        <p:nvGrpSpPr>
          <p:cNvPr id="46085" name="Group 2">
            <a:extLst>
              <a:ext uri="{FF2B5EF4-FFF2-40B4-BE49-F238E27FC236}">
                <a16:creationId xmlns:a16="http://schemas.microsoft.com/office/drawing/2014/main" id="{E9B757BE-FEA3-42F8-8EEE-5A09EE6CFCE5}"/>
              </a:ext>
            </a:extLst>
          </p:cNvPr>
          <p:cNvGrpSpPr>
            <a:grpSpLocks/>
          </p:cNvGrpSpPr>
          <p:nvPr/>
        </p:nvGrpSpPr>
        <p:grpSpPr bwMode="auto">
          <a:xfrm>
            <a:off x="1240795" y="-75033"/>
            <a:ext cx="3655156" cy="539520"/>
            <a:chOff x="83" y="-63"/>
            <a:chExt cx="3069" cy="453"/>
          </a:xfrm>
        </p:grpSpPr>
        <p:sp>
          <p:nvSpPr>
            <p:cNvPr id="46088" name="37 Rectángulo redondeado">
              <a:extLst>
                <a:ext uri="{FF2B5EF4-FFF2-40B4-BE49-F238E27FC236}">
                  <a16:creationId xmlns:a16="http://schemas.microsoft.com/office/drawing/2014/main" id="{873D81D8-D5BA-4190-8A5A-3E6107BD5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-63"/>
              <a:ext cx="3069" cy="453"/>
            </a:xfrm>
            <a:prstGeom prst="roundRect">
              <a:avLst>
                <a:gd name="adj" fmla="val 16667"/>
              </a:avLst>
            </a:pr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s-CL" altLang="es-CL" sz="1050"/>
            </a:p>
          </p:txBody>
        </p:sp>
        <p:sp>
          <p:nvSpPr>
            <p:cNvPr id="46089" name="38 CuadroTexto">
              <a:extLst>
                <a:ext uri="{FF2B5EF4-FFF2-40B4-BE49-F238E27FC236}">
                  <a16:creationId xmlns:a16="http://schemas.microsoft.com/office/drawing/2014/main" id="{AE933E74-6002-4814-9A7F-82FFD8040C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" y="4"/>
              <a:ext cx="1035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CL" altLang="es-CL" sz="2101" b="1">
                  <a:solidFill>
                    <a:srgbClr val="404040"/>
                  </a:solidFill>
                </a:rPr>
                <a:t>Ejemplo</a:t>
              </a:r>
            </a:p>
          </p:txBody>
        </p:sp>
      </p:grpSp>
      <p:pic>
        <p:nvPicPr>
          <p:cNvPr id="46086" name="5 Imagen" descr="ico_conceptos.png">
            <a:extLst>
              <a:ext uri="{FF2B5EF4-FFF2-40B4-BE49-F238E27FC236}">
                <a16:creationId xmlns:a16="http://schemas.microsoft.com/office/drawing/2014/main" id="{EA801B7F-D76D-482B-8222-80740F28D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645" y="33348"/>
            <a:ext cx="543093" cy="570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3810" name="Object 18">
            <a:extLst>
              <a:ext uri="{FF2B5EF4-FFF2-40B4-BE49-F238E27FC236}">
                <a16:creationId xmlns:a16="http://schemas.microsoft.com/office/drawing/2014/main" id="{AC973DA4-3A73-40A4-9FE8-76E04CDCBF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84904" y="3113255"/>
          <a:ext cx="6272958" cy="756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3581400" imgH="431800" progId="Equation.3">
                  <p:embed/>
                </p:oleObj>
              </mc:Choice>
              <mc:Fallback>
                <p:oleObj name="Ecuación" r:id="rId3" imgW="3581400" imgH="431800" progId="Equation.3">
                  <p:embed/>
                  <p:pic>
                    <p:nvPicPr>
                      <p:cNvPr id="33810" name="Object 18">
                        <a:extLst>
                          <a:ext uri="{FF2B5EF4-FFF2-40B4-BE49-F238E27FC236}">
                            <a16:creationId xmlns:a16="http://schemas.microsoft.com/office/drawing/2014/main" id="{AC973DA4-3A73-40A4-9FE8-76E04CDCBF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904" y="3113255"/>
                        <a:ext cx="6272958" cy="7562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>
            <a:extLst>
              <a:ext uri="{FF2B5EF4-FFF2-40B4-BE49-F238E27FC236}">
                <a16:creationId xmlns:a16="http://schemas.microsoft.com/office/drawing/2014/main" id="{302BE73F-24AC-4A45-BA36-5D4267880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11" t="34514" r="50597" b="23199"/>
          <a:stretch>
            <a:fillRect/>
          </a:stretch>
        </p:blipFill>
        <p:spPr bwMode="auto">
          <a:xfrm>
            <a:off x="3558466" y="1006390"/>
            <a:ext cx="2093765" cy="1944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07" name="16 Grupo">
            <a:extLst>
              <a:ext uri="{FF2B5EF4-FFF2-40B4-BE49-F238E27FC236}">
                <a16:creationId xmlns:a16="http://schemas.microsoft.com/office/drawing/2014/main" id="{8FA846F5-5C44-4EC2-9C77-B2F34761B11B}"/>
              </a:ext>
            </a:extLst>
          </p:cNvPr>
          <p:cNvGrpSpPr>
            <a:grpSpLocks/>
          </p:cNvGrpSpPr>
          <p:nvPr/>
        </p:nvGrpSpPr>
        <p:grpSpPr bwMode="auto">
          <a:xfrm>
            <a:off x="1146706" y="-44066"/>
            <a:ext cx="3276421" cy="632417"/>
            <a:chOff x="131763" y="-100013"/>
            <a:chExt cx="4368100" cy="842279"/>
          </a:xfrm>
        </p:grpSpPr>
        <p:grpSp>
          <p:nvGrpSpPr>
            <p:cNvPr id="47114" name="Group 2">
              <a:extLst>
                <a:ext uri="{FF2B5EF4-FFF2-40B4-BE49-F238E27FC236}">
                  <a16:creationId xmlns:a16="http://schemas.microsoft.com/office/drawing/2014/main" id="{B0A46E84-A259-47EB-8145-C80EE45070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763" y="-100013"/>
              <a:ext cx="4368100" cy="719138"/>
              <a:chOff x="83" y="-63"/>
              <a:chExt cx="2172" cy="453"/>
            </a:xfrm>
          </p:grpSpPr>
          <p:sp>
            <p:nvSpPr>
              <p:cNvPr id="47116" name="37 Rectángulo redondeado">
                <a:extLst>
                  <a:ext uri="{FF2B5EF4-FFF2-40B4-BE49-F238E27FC236}">
                    <a16:creationId xmlns:a16="http://schemas.microsoft.com/office/drawing/2014/main" id="{AE3AEECC-542E-4A4D-BAEC-74F5D9358D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" y="-63"/>
                <a:ext cx="2172" cy="453"/>
              </a:xfrm>
              <a:prstGeom prst="roundRect">
                <a:avLst>
                  <a:gd name="adj" fmla="val 16667"/>
                </a:avLst>
              </a:pr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s-CL" altLang="es-CL" sz="1050"/>
              </a:p>
            </p:txBody>
          </p:sp>
          <p:sp>
            <p:nvSpPr>
              <p:cNvPr id="47117" name="38 CuadroTexto">
                <a:extLst>
                  <a:ext uri="{FF2B5EF4-FFF2-40B4-BE49-F238E27FC236}">
                    <a16:creationId xmlns:a16="http://schemas.microsoft.com/office/drawing/2014/main" id="{9E6C7AFD-E124-4B88-8144-5057FC5B43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" y="4"/>
                <a:ext cx="1134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s-ES_tradnl" altLang="es-CL" sz="2101" b="1">
                    <a:solidFill>
                      <a:srgbClr val="404040"/>
                    </a:solidFill>
                  </a:rPr>
                  <a:t>Ejercitación</a:t>
                </a:r>
                <a:endParaRPr lang="es-CL" altLang="es-CL" sz="2101" b="1">
                  <a:solidFill>
                    <a:srgbClr val="404040"/>
                  </a:solidFill>
                </a:endParaRPr>
              </a:p>
            </p:txBody>
          </p:sp>
        </p:grpSp>
        <p:pic>
          <p:nvPicPr>
            <p:cNvPr id="47115" name="5 Imagen" descr="ico_conceptos.png">
              <a:extLst>
                <a:ext uri="{FF2B5EF4-FFF2-40B4-BE49-F238E27FC236}">
                  <a16:creationId xmlns:a16="http://schemas.microsoft.com/office/drawing/2014/main" id="{A376AA7F-80C4-42C7-ABF5-13A0B3C03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1367" y="-18147"/>
              <a:ext cx="723901" cy="760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" name="Group 12">
            <a:extLst>
              <a:ext uri="{FF2B5EF4-FFF2-40B4-BE49-F238E27FC236}">
                <a16:creationId xmlns:a16="http://schemas.microsoft.com/office/drawing/2014/main" id="{320176BF-D407-45E7-8DD6-2713C5DD52DD}"/>
              </a:ext>
            </a:extLst>
          </p:cNvPr>
          <p:cNvGrpSpPr>
            <a:grpSpLocks/>
          </p:cNvGrpSpPr>
          <p:nvPr/>
        </p:nvGrpSpPr>
        <p:grpSpPr bwMode="auto">
          <a:xfrm>
            <a:off x="6443050" y="3923129"/>
            <a:ext cx="1064747" cy="970658"/>
            <a:chOff x="4001" y="2319"/>
            <a:chExt cx="894" cy="815"/>
          </a:xfrm>
        </p:grpSpPr>
        <p:sp>
          <p:nvSpPr>
            <p:cNvPr id="47112" name="Rectangle 13">
              <a:extLst>
                <a:ext uri="{FF2B5EF4-FFF2-40B4-BE49-F238E27FC236}">
                  <a16:creationId xmlns:a16="http://schemas.microsoft.com/office/drawing/2014/main" id="{7C433B4A-0319-40BF-B3BF-A3B6EB9DD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7" y="2319"/>
              <a:ext cx="612" cy="514"/>
            </a:xfrm>
            <a:prstGeom prst="rect">
              <a:avLst/>
            </a:prstGeom>
            <a:solidFill>
              <a:srgbClr val="067DD9">
                <a:alpha val="5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s-ES_tradnl" altLang="es-CL" sz="3376" b="1"/>
                <a:t>E</a:t>
              </a:r>
              <a:endParaRPr lang="es-ES" altLang="es-CL" sz="3376" b="1"/>
            </a:p>
          </p:txBody>
        </p:sp>
        <p:sp>
          <p:nvSpPr>
            <p:cNvPr id="47113" name="Rectangle 14">
              <a:extLst>
                <a:ext uri="{FF2B5EF4-FFF2-40B4-BE49-F238E27FC236}">
                  <a16:creationId xmlns:a16="http://schemas.microsoft.com/office/drawing/2014/main" id="{98FEFB15-34F0-4789-9CAD-8BC348AE6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1" y="2863"/>
              <a:ext cx="89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s-ES" altLang="es-CL" sz="1500"/>
                <a:t>Aplicación</a:t>
              </a:r>
            </a:p>
          </p:txBody>
        </p:sp>
      </p:grpSp>
      <p:sp>
        <p:nvSpPr>
          <p:cNvPr id="47110" name="1 Rectángulo">
            <a:extLst>
              <a:ext uri="{FF2B5EF4-FFF2-40B4-BE49-F238E27FC236}">
                <a16:creationId xmlns:a16="http://schemas.microsoft.com/office/drawing/2014/main" id="{593011AD-2BFE-4F92-9443-01F793D61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423" y="627654"/>
            <a:ext cx="6550459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CL" altLang="es-CL" sz="1050"/>
              <a:t>El siguiente diagrama representa un osmómetro, instrumento utilizado para medir la presión osmótica.</a:t>
            </a:r>
          </a:p>
        </p:txBody>
      </p:sp>
      <p:sp>
        <p:nvSpPr>
          <p:cNvPr id="47111" name="2 Rectángulo">
            <a:extLst>
              <a:ext uri="{FF2B5EF4-FFF2-40B4-BE49-F238E27FC236}">
                <a16:creationId xmlns:a16="http://schemas.microsoft.com/office/drawing/2014/main" id="{490C1BA6-AE55-41FB-9303-7CBB4B69B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423" y="2788114"/>
            <a:ext cx="6550459" cy="1546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CL" altLang="es-CL" sz="1050"/>
              <a:t>Considerando que la constante de los gases tiene un valor de 0,082 atm ∙ L/mol ∙ K, que la molaridad de la disolución es 3 mol/L y que se encuentra a 20 °C (293 K), ¿cuál es el valor de la presión que se debe ejercer con el émbolo para evitar el paso del disolvente a la disolución?</a:t>
            </a:r>
          </a:p>
          <a:p>
            <a:pPr algn="just" eaLnBrk="1" hangingPunct="1"/>
            <a:endParaRPr lang="es-CL" altLang="es-CL" sz="1050"/>
          </a:p>
          <a:p>
            <a:pPr algn="just" eaLnBrk="1" hangingPunct="1"/>
            <a:r>
              <a:rPr lang="es-CL" altLang="es-CL" sz="1050"/>
              <a:t>A)   1,0 atm</a:t>
            </a:r>
          </a:p>
          <a:p>
            <a:pPr algn="just" eaLnBrk="1" hangingPunct="1"/>
            <a:r>
              <a:rPr lang="es-CL" altLang="es-CL" sz="1050"/>
              <a:t>B)   3,0 atm</a:t>
            </a:r>
          </a:p>
          <a:p>
            <a:pPr algn="just" eaLnBrk="1" hangingPunct="1"/>
            <a:r>
              <a:rPr lang="es-CL" altLang="es-CL" sz="1050"/>
              <a:t>C) 20,2 atm</a:t>
            </a:r>
          </a:p>
          <a:p>
            <a:pPr algn="just" eaLnBrk="1" hangingPunct="1"/>
            <a:r>
              <a:rPr lang="es-CL" altLang="es-CL" sz="1050"/>
              <a:t>D) 24,0 atm</a:t>
            </a:r>
          </a:p>
          <a:p>
            <a:pPr algn="just" eaLnBrk="1" hangingPunct="1"/>
            <a:r>
              <a:rPr lang="es-CL" altLang="es-CL" sz="1050"/>
              <a:t>E) 72,1 atm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30" name="16 Grupo">
            <a:extLst>
              <a:ext uri="{FF2B5EF4-FFF2-40B4-BE49-F238E27FC236}">
                <a16:creationId xmlns:a16="http://schemas.microsoft.com/office/drawing/2014/main" id="{A4E18FA2-E192-43A2-975D-29C3DBE67AC6}"/>
              </a:ext>
            </a:extLst>
          </p:cNvPr>
          <p:cNvGrpSpPr>
            <a:grpSpLocks/>
          </p:cNvGrpSpPr>
          <p:nvPr/>
        </p:nvGrpSpPr>
        <p:grpSpPr bwMode="auto">
          <a:xfrm>
            <a:off x="1240794" y="-75033"/>
            <a:ext cx="4249461" cy="645519"/>
            <a:chOff x="131763" y="-100013"/>
            <a:chExt cx="5664232" cy="860426"/>
          </a:xfrm>
        </p:grpSpPr>
        <p:grpSp>
          <p:nvGrpSpPr>
            <p:cNvPr id="48158" name="Group 2">
              <a:extLst>
                <a:ext uri="{FF2B5EF4-FFF2-40B4-BE49-F238E27FC236}">
                  <a16:creationId xmlns:a16="http://schemas.microsoft.com/office/drawing/2014/main" id="{DE9C88B2-F16F-4F10-919E-B0C8EEC2EE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763" y="-100013"/>
              <a:ext cx="5440015" cy="719138"/>
              <a:chOff x="83" y="-63"/>
              <a:chExt cx="2705" cy="453"/>
            </a:xfrm>
          </p:grpSpPr>
          <p:sp>
            <p:nvSpPr>
              <p:cNvPr id="48160" name="37 Rectángulo redondeado">
                <a:extLst>
                  <a:ext uri="{FF2B5EF4-FFF2-40B4-BE49-F238E27FC236}">
                    <a16:creationId xmlns:a16="http://schemas.microsoft.com/office/drawing/2014/main" id="{058DDD8B-9DDC-49F9-BC96-D3032E7C5F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" y="-63"/>
                <a:ext cx="2705" cy="453"/>
              </a:xfrm>
              <a:prstGeom prst="roundRect">
                <a:avLst>
                  <a:gd name="adj" fmla="val 16667"/>
                </a:avLst>
              </a:pr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s-CL" altLang="es-CL" sz="1050"/>
              </a:p>
            </p:txBody>
          </p:sp>
          <p:sp>
            <p:nvSpPr>
              <p:cNvPr id="48161" name="38 CuadroTexto">
                <a:extLst>
                  <a:ext uri="{FF2B5EF4-FFF2-40B4-BE49-F238E27FC236}">
                    <a16:creationId xmlns:a16="http://schemas.microsoft.com/office/drawing/2014/main" id="{192D985B-8080-4F9D-962F-9AD1888707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" y="4"/>
                <a:ext cx="2364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s-ES_tradnl" altLang="es-CL" sz="2101" b="1" dirty="0">
                    <a:solidFill>
                      <a:srgbClr val="404040"/>
                    </a:solidFill>
                  </a:rPr>
                  <a:t>3. Propiedades coligativas</a:t>
                </a:r>
                <a:endParaRPr lang="es-CL" altLang="es-CL" sz="2101" b="1" dirty="0">
                  <a:solidFill>
                    <a:srgbClr val="404040"/>
                  </a:solidFill>
                </a:endParaRPr>
              </a:p>
            </p:txBody>
          </p:sp>
        </p:grpSp>
        <p:pic>
          <p:nvPicPr>
            <p:cNvPr id="48159" name="5 Imagen" descr="ico_conceptos.png">
              <a:extLst>
                <a:ext uri="{FF2B5EF4-FFF2-40B4-BE49-F238E27FC236}">
                  <a16:creationId xmlns:a16="http://schemas.microsoft.com/office/drawing/2014/main" id="{60EA5A9F-814A-47A4-AB41-DEF87A72A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2088" y="0"/>
              <a:ext cx="723907" cy="760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8131" name="Group 7">
            <a:extLst>
              <a:ext uri="{FF2B5EF4-FFF2-40B4-BE49-F238E27FC236}">
                <a16:creationId xmlns:a16="http://schemas.microsoft.com/office/drawing/2014/main" id="{91A5055A-BEA9-4922-9754-ACCD1011B674}"/>
              </a:ext>
            </a:extLst>
          </p:cNvPr>
          <p:cNvGrpSpPr>
            <a:grpSpLocks/>
          </p:cNvGrpSpPr>
          <p:nvPr/>
        </p:nvGrpSpPr>
        <p:grpSpPr bwMode="auto">
          <a:xfrm>
            <a:off x="1141942" y="574060"/>
            <a:ext cx="6184824" cy="322760"/>
            <a:chOff x="0" y="482"/>
            <a:chExt cx="5193" cy="271"/>
          </a:xfrm>
        </p:grpSpPr>
        <p:sp>
          <p:nvSpPr>
            <p:cNvPr id="48156" name="40 CuadroTexto">
              <a:extLst>
                <a:ext uri="{FF2B5EF4-FFF2-40B4-BE49-F238E27FC236}">
                  <a16:creationId xmlns:a16="http://schemas.microsoft.com/office/drawing/2014/main" id="{C7CFADAC-B944-4216-A171-F48DA899A6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482"/>
              <a:ext cx="517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_tradnl" altLang="es-CL" sz="1500" b="1" dirty="0">
                  <a:solidFill>
                    <a:srgbClr val="7F7F7F"/>
                  </a:solidFill>
                </a:rPr>
                <a:t>3.6 Propiedades coligativas de los electrolitos</a:t>
              </a:r>
              <a:endParaRPr lang="es-CL" altLang="es-CL" sz="1500" b="1" dirty="0">
                <a:solidFill>
                  <a:srgbClr val="7F7F7F"/>
                </a:solidFill>
              </a:endParaRPr>
            </a:p>
          </p:txBody>
        </p:sp>
        <p:cxnSp>
          <p:nvCxnSpPr>
            <p:cNvPr id="11" name="10 Conector recto">
              <a:extLst>
                <a:ext uri="{FF2B5EF4-FFF2-40B4-BE49-F238E27FC236}">
                  <a16:creationId xmlns:a16="http://schemas.microsoft.com/office/drawing/2014/main" id="{0822ADAC-EBFE-4F35-939D-20DABD9F7456}"/>
                </a:ext>
              </a:extLst>
            </p:cNvPr>
            <p:cNvCxnSpPr/>
            <p:nvPr/>
          </p:nvCxnSpPr>
          <p:spPr>
            <a:xfrm>
              <a:off x="0" y="720"/>
              <a:ext cx="3810" cy="1"/>
            </a:xfrm>
            <a:prstGeom prst="line">
              <a:avLst/>
            </a:prstGeom>
            <a:ln>
              <a:solidFill>
                <a:srgbClr val="067D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6">
            <a:extLst>
              <a:ext uri="{FF2B5EF4-FFF2-40B4-BE49-F238E27FC236}">
                <a16:creationId xmlns:a16="http://schemas.microsoft.com/office/drawing/2014/main" id="{C15D49CD-1907-41DF-8731-92E42882B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524" y="1154151"/>
            <a:ext cx="659214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MX" altLang="es-CL" sz="1050">
                <a:cs typeface="Times New Roman" panose="02020603050405020304" pitchFamily="18" charset="0"/>
              </a:rPr>
              <a:t>Para determinar el efecto de la disolución de un </a:t>
            </a:r>
            <a:r>
              <a:rPr lang="es-MX" altLang="es-CL" sz="1050" b="1">
                <a:solidFill>
                  <a:srgbClr val="067DD9"/>
                </a:solidFill>
                <a:cs typeface="Times New Roman" panose="02020603050405020304" pitchFamily="18" charset="0"/>
              </a:rPr>
              <a:t>soluto de tipo iónico </a:t>
            </a:r>
            <a:r>
              <a:rPr lang="es-MX" altLang="es-CL" sz="1050">
                <a:cs typeface="Times New Roman" panose="02020603050405020304" pitchFamily="18" charset="0"/>
              </a:rPr>
              <a:t>se debe ntroducir un factor de corrección, denominado </a:t>
            </a:r>
            <a:r>
              <a:rPr lang="es-MX" altLang="es-CL" sz="1050" b="1">
                <a:solidFill>
                  <a:srgbClr val="067DD9"/>
                </a:solidFill>
                <a:cs typeface="Times New Roman" panose="02020603050405020304" pitchFamily="18" charset="0"/>
              </a:rPr>
              <a:t>factor de Van´t Hoff (</a:t>
            </a:r>
            <a:r>
              <a:rPr lang="es-MX" altLang="es-CL" sz="1050" b="1" i="1">
                <a:solidFill>
                  <a:srgbClr val="067DD9"/>
                </a:solidFill>
                <a:cs typeface="Times New Roman" panose="02020603050405020304" pitchFamily="18" charset="0"/>
              </a:rPr>
              <a:t>i</a:t>
            </a:r>
            <a:r>
              <a:rPr lang="es-MX" altLang="es-CL" sz="1050" b="1">
                <a:solidFill>
                  <a:srgbClr val="067DD9"/>
                </a:solidFill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34823" name="24 Rectángulo">
            <a:extLst>
              <a:ext uri="{FF2B5EF4-FFF2-40B4-BE49-F238E27FC236}">
                <a16:creationId xmlns:a16="http://schemas.microsoft.com/office/drawing/2014/main" id="{2BD0755D-2F43-40CA-A94D-ED8865869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243" y="3544394"/>
            <a:ext cx="4325223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ES" altLang="es-CL" sz="1050"/>
              <a:t>Donde</a:t>
            </a:r>
            <a:r>
              <a:rPr lang="es-ES" altLang="es-CL" sz="1050" i="1"/>
              <a:t> </a:t>
            </a:r>
            <a:r>
              <a:rPr lang="es-ES" altLang="es-CL" sz="1050" b="1" i="1">
                <a:solidFill>
                  <a:srgbClr val="067DD9"/>
                </a:solidFill>
                <a:cs typeface="Times New Roman" panose="02020603050405020304" pitchFamily="18" charset="0"/>
              </a:rPr>
              <a:t>i</a:t>
            </a:r>
            <a:r>
              <a:rPr lang="es-ES" altLang="es-CL" sz="1050" i="1"/>
              <a:t> </a:t>
            </a:r>
            <a:r>
              <a:rPr lang="es-ES" altLang="es-CL" sz="1050"/>
              <a:t>es igual al </a:t>
            </a:r>
            <a:r>
              <a:rPr lang="es-ES" altLang="es-CL" sz="1050" b="1">
                <a:solidFill>
                  <a:srgbClr val="067DD9"/>
                </a:solidFill>
                <a:cs typeface="Times New Roman" panose="02020603050405020304" pitchFamily="18" charset="0"/>
              </a:rPr>
              <a:t>número de mol de iones por mol de electrolito</a:t>
            </a:r>
            <a:r>
              <a:rPr lang="es-ES" altLang="es-CL" sz="1050"/>
              <a:t>.</a:t>
            </a:r>
            <a:endParaRPr lang="es-CL" altLang="es-CL" sz="1050"/>
          </a:p>
        </p:txBody>
      </p:sp>
      <p:sp>
        <p:nvSpPr>
          <p:cNvPr id="2" name="1 CuadroTexto">
            <a:extLst>
              <a:ext uri="{FF2B5EF4-FFF2-40B4-BE49-F238E27FC236}">
                <a16:creationId xmlns:a16="http://schemas.microsoft.com/office/drawing/2014/main" id="{DAC9303C-E245-4B49-A34F-4D22B8DDE2A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905600" y="2248408"/>
            <a:ext cx="3337953" cy="300175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s-CL" sz="1050">
                <a:noFill/>
              </a:rPr>
              <a:t> </a:t>
            </a:r>
          </a:p>
        </p:txBody>
      </p:sp>
      <p:sp>
        <p:nvSpPr>
          <p:cNvPr id="16" name="15 CuadroTexto">
            <a:extLst>
              <a:ext uri="{FF2B5EF4-FFF2-40B4-BE49-F238E27FC236}">
                <a16:creationId xmlns:a16="http://schemas.microsoft.com/office/drawing/2014/main" id="{4ED180F9-18BF-4762-9CA3-7B226B344C9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97298" y="2657241"/>
            <a:ext cx="3355992" cy="30017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s-CL" sz="1050">
                <a:noFill/>
              </a:rPr>
              <a:t> </a:t>
            </a:r>
          </a:p>
        </p:txBody>
      </p:sp>
      <p:sp>
        <p:nvSpPr>
          <p:cNvPr id="17" name="16 CuadroTexto">
            <a:extLst>
              <a:ext uri="{FF2B5EF4-FFF2-40B4-BE49-F238E27FC236}">
                <a16:creationId xmlns:a16="http://schemas.microsoft.com/office/drawing/2014/main" id="{BAF5096E-CF8B-41C6-AA2F-BEA821C67F6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97298" y="3035400"/>
            <a:ext cx="3355992" cy="300175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s-CL" sz="1050">
                <a:noFill/>
              </a:rPr>
              <a:t> </a:t>
            </a:r>
          </a:p>
        </p:txBody>
      </p:sp>
      <p:sp>
        <p:nvSpPr>
          <p:cNvPr id="3" name="2 Elipse">
            <a:extLst>
              <a:ext uri="{FF2B5EF4-FFF2-40B4-BE49-F238E27FC236}">
                <a16:creationId xmlns:a16="http://schemas.microsoft.com/office/drawing/2014/main" id="{E84D3A11-0708-4C65-B3EC-089AF5ABBF3E}"/>
              </a:ext>
            </a:extLst>
          </p:cNvPr>
          <p:cNvSpPr/>
          <p:nvPr/>
        </p:nvSpPr>
        <p:spPr>
          <a:xfrm>
            <a:off x="2117365" y="3848098"/>
            <a:ext cx="864661" cy="4442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CL" sz="1050" dirty="0" err="1">
                <a:solidFill>
                  <a:schemeClr val="tx1"/>
                </a:solidFill>
              </a:rPr>
              <a:t>NaCl</a:t>
            </a:r>
            <a:endParaRPr lang="es-CL" sz="1050" dirty="0">
              <a:solidFill>
                <a:schemeClr val="tx1"/>
              </a:solidFill>
            </a:endParaRPr>
          </a:p>
        </p:txBody>
      </p:sp>
      <p:sp>
        <p:nvSpPr>
          <p:cNvPr id="19" name="18 Elipse">
            <a:extLst>
              <a:ext uri="{FF2B5EF4-FFF2-40B4-BE49-F238E27FC236}">
                <a16:creationId xmlns:a16="http://schemas.microsoft.com/office/drawing/2014/main" id="{5268B8A2-6A2D-425B-8CFC-16E1E420B851}"/>
              </a:ext>
            </a:extLst>
          </p:cNvPr>
          <p:cNvSpPr/>
          <p:nvPr/>
        </p:nvSpPr>
        <p:spPr>
          <a:xfrm>
            <a:off x="3821675" y="3836188"/>
            <a:ext cx="1020681" cy="44543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CL" sz="1050" dirty="0">
                <a:solidFill>
                  <a:schemeClr val="tx1"/>
                </a:solidFill>
              </a:rPr>
              <a:t>MgSO</a:t>
            </a:r>
            <a:r>
              <a:rPr lang="es-CL" sz="1050" baseline="-25000" dirty="0">
                <a:solidFill>
                  <a:schemeClr val="tx1"/>
                </a:solidFill>
              </a:rPr>
              <a:t>4</a:t>
            </a:r>
            <a:endParaRPr lang="es-CL" sz="1050" dirty="0">
              <a:solidFill>
                <a:schemeClr val="tx1"/>
              </a:solidFill>
            </a:endParaRPr>
          </a:p>
        </p:txBody>
      </p:sp>
      <p:sp>
        <p:nvSpPr>
          <p:cNvPr id="20" name="19 Elipse">
            <a:extLst>
              <a:ext uri="{FF2B5EF4-FFF2-40B4-BE49-F238E27FC236}">
                <a16:creationId xmlns:a16="http://schemas.microsoft.com/office/drawing/2014/main" id="{8A54DF72-9598-45CF-9C4D-11B1DB0DEA07}"/>
              </a:ext>
            </a:extLst>
          </p:cNvPr>
          <p:cNvSpPr/>
          <p:nvPr/>
        </p:nvSpPr>
        <p:spPr>
          <a:xfrm>
            <a:off x="5877328" y="3829042"/>
            <a:ext cx="909918" cy="4442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CL" sz="1050" dirty="0">
                <a:solidFill>
                  <a:schemeClr val="tx1"/>
                </a:solidFill>
              </a:rPr>
              <a:t>CaCl</a:t>
            </a:r>
            <a:r>
              <a:rPr lang="es-CL" sz="1050" baseline="-25000" dirty="0">
                <a:solidFill>
                  <a:schemeClr val="tx1"/>
                </a:solidFill>
              </a:rPr>
              <a:t>2</a:t>
            </a:r>
            <a:endParaRPr lang="es-CL" sz="1050" dirty="0">
              <a:solidFill>
                <a:schemeClr val="tx1"/>
              </a:solidFill>
            </a:endParaRPr>
          </a:p>
        </p:txBody>
      </p:sp>
      <p:sp>
        <p:nvSpPr>
          <p:cNvPr id="4" name="3 Elipse">
            <a:extLst>
              <a:ext uri="{FF2B5EF4-FFF2-40B4-BE49-F238E27FC236}">
                <a16:creationId xmlns:a16="http://schemas.microsoft.com/office/drawing/2014/main" id="{6F9DAF0E-8897-49EB-97EE-F0C696DFE577}"/>
              </a:ext>
            </a:extLst>
          </p:cNvPr>
          <p:cNvSpPr/>
          <p:nvPr/>
        </p:nvSpPr>
        <p:spPr>
          <a:xfrm>
            <a:off x="1870829" y="4300675"/>
            <a:ext cx="594306" cy="487116"/>
          </a:xfrm>
          <a:prstGeom prst="ellipse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8" rIns="27008" anchor="ctr"/>
          <a:lstStyle/>
          <a:p>
            <a:pPr algn="ctr">
              <a:defRPr/>
            </a:pPr>
            <a:r>
              <a:rPr lang="es-CL" sz="1050" dirty="0" err="1">
                <a:solidFill>
                  <a:schemeClr val="tx1"/>
                </a:solidFill>
              </a:rPr>
              <a:t>Na</a:t>
            </a:r>
            <a:r>
              <a:rPr lang="es-CL" sz="1050" baseline="30000" dirty="0">
                <a:solidFill>
                  <a:schemeClr val="tx1"/>
                </a:solidFill>
              </a:rPr>
              <a:t>+</a:t>
            </a:r>
            <a:endParaRPr lang="es-CL" sz="1050" dirty="0">
              <a:solidFill>
                <a:schemeClr val="tx1"/>
              </a:solidFill>
            </a:endParaRPr>
          </a:p>
        </p:txBody>
      </p:sp>
      <p:sp>
        <p:nvSpPr>
          <p:cNvPr id="22" name="21 Elipse">
            <a:extLst>
              <a:ext uri="{FF2B5EF4-FFF2-40B4-BE49-F238E27FC236}">
                <a16:creationId xmlns:a16="http://schemas.microsoft.com/office/drawing/2014/main" id="{CD56F393-9648-4F45-B948-4DE881F95015}"/>
              </a:ext>
            </a:extLst>
          </p:cNvPr>
          <p:cNvSpPr/>
          <p:nvPr/>
        </p:nvSpPr>
        <p:spPr>
          <a:xfrm>
            <a:off x="2627110" y="4300675"/>
            <a:ext cx="594305" cy="487116"/>
          </a:xfrm>
          <a:prstGeom prst="ellipse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8" rIns="27008" anchor="ctr"/>
          <a:lstStyle/>
          <a:p>
            <a:pPr algn="ctr">
              <a:defRPr/>
            </a:pPr>
            <a:r>
              <a:rPr lang="es-CL" sz="1050" dirty="0">
                <a:solidFill>
                  <a:schemeClr val="tx1"/>
                </a:solidFill>
              </a:rPr>
              <a:t>Cl</a:t>
            </a:r>
            <a:r>
              <a:rPr lang="es-CL" sz="1050" baseline="30000" dirty="0">
                <a:solidFill>
                  <a:schemeClr val="tx1"/>
                </a:solidFill>
              </a:rPr>
              <a:t>-</a:t>
            </a:r>
            <a:endParaRPr lang="es-CL" sz="1050" dirty="0">
              <a:solidFill>
                <a:schemeClr val="tx1"/>
              </a:solidFill>
            </a:endParaRPr>
          </a:p>
        </p:txBody>
      </p:sp>
      <p:sp>
        <p:nvSpPr>
          <p:cNvPr id="5" name="4 Rectángulo">
            <a:extLst>
              <a:ext uri="{FF2B5EF4-FFF2-40B4-BE49-F238E27FC236}">
                <a16:creationId xmlns:a16="http://schemas.microsoft.com/office/drawing/2014/main" id="{9588B9FB-9EB4-408E-95F0-7356D9C108BC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303048" y="4733451"/>
            <a:ext cx="495721" cy="277084"/>
          </a:xfrm>
          <a:prstGeom prst="rect">
            <a:avLst/>
          </a:prstGeom>
          <a:blipFill rotWithShape="1">
            <a:blip r:embed="rId6"/>
            <a:stretch>
              <a:fillRect t="-8197" r="-7407" b="-24590"/>
            </a:stretch>
          </a:blipFill>
        </p:spPr>
        <p:txBody>
          <a:bodyPr/>
          <a:lstStyle/>
          <a:p>
            <a:pPr>
              <a:defRPr/>
            </a:pPr>
            <a:r>
              <a:rPr lang="es-CL" sz="1050">
                <a:noFill/>
              </a:rPr>
              <a:t> </a:t>
            </a:r>
          </a:p>
        </p:txBody>
      </p:sp>
      <p:sp>
        <p:nvSpPr>
          <p:cNvPr id="25" name="24 Elipse">
            <a:extLst>
              <a:ext uri="{FF2B5EF4-FFF2-40B4-BE49-F238E27FC236}">
                <a16:creationId xmlns:a16="http://schemas.microsoft.com/office/drawing/2014/main" id="{FE5C156A-209F-4450-A510-02B279721A4F}"/>
              </a:ext>
            </a:extLst>
          </p:cNvPr>
          <p:cNvSpPr/>
          <p:nvPr/>
        </p:nvSpPr>
        <p:spPr>
          <a:xfrm>
            <a:off x="3653745" y="4300675"/>
            <a:ext cx="594305" cy="48711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s-CL" sz="1050" dirty="0">
                <a:solidFill>
                  <a:schemeClr val="tx1"/>
                </a:solidFill>
              </a:rPr>
              <a:t>Mg</a:t>
            </a:r>
            <a:r>
              <a:rPr lang="es-CL" sz="1050" baseline="30000" dirty="0">
                <a:solidFill>
                  <a:schemeClr val="tx1"/>
                </a:solidFill>
              </a:rPr>
              <a:t>2+</a:t>
            </a:r>
            <a:endParaRPr lang="es-CL" sz="1050" dirty="0">
              <a:solidFill>
                <a:schemeClr val="tx1"/>
              </a:solidFill>
            </a:endParaRPr>
          </a:p>
        </p:txBody>
      </p:sp>
      <p:sp>
        <p:nvSpPr>
          <p:cNvPr id="26" name="25 Elipse">
            <a:extLst>
              <a:ext uri="{FF2B5EF4-FFF2-40B4-BE49-F238E27FC236}">
                <a16:creationId xmlns:a16="http://schemas.microsoft.com/office/drawing/2014/main" id="{CAC2384A-1873-487B-8D56-DDDE799F3A0A}"/>
              </a:ext>
            </a:extLst>
          </p:cNvPr>
          <p:cNvSpPr/>
          <p:nvPr/>
        </p:nvSpPr>
        <p:spPr>
          <a:xfrm>
            <a:off x="4410025" y="4300675"/>
            <a:ext cx="594306" cy="48711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s-CL" sz="1050" dirty="0">
                <a:solidFill>
                  <a:schemeClr val="tx1"/>
                </a:solidFill>
              </a:rPr>
              <a:t>SO</a:t>
            </a:r>
            <a:r>
              <a:rPr lang="es-CL" sz="1050" baseline="-25000" dirty="0">
                <a:solidFill>
                  <a:schemeClr val="tx1"/>
                </a:solidFill>
              </a:rPr>
              <a:t>4</a:t>
            </a:r>
            <a:r>
              <a:rPr lang="es-CL" sz="1050" baseline="30000" dirty="0">
                <a:solidFill>
                  <a:schemeClr val="tx1"/>
                </a:solidFill>
              </a:rPr>
              <a:t>2-</a:t>
            </a:r>
            <a:endParaRPr lang="es-CL" sz="1050" dirty="0">
              <a:solidFill>
                <a:schemeClr val="tx1"/>
              </a:solidFill>
            </a:endParaRPr>
          </a:p>
        </p:txBody>
      </p:sp>
      <p:sp>
        <p:nvSpPr>
          <p:cNvPr id="27" name="26 Rectángulo">
            <a:extLst>
              <a:ext uri="{FF2B5EF4-FFF2-40B4-BE49-F238E27FC236}">
                <a16:creationId xmlns:a16="http://schemas.microsoft.com/office/drawing/2014/main" id="{6145AB76-90E9-40C7-81FA-8B0FAE0DC3CB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108049" y="4733451"/>
            <a:ext cx="495721" cy="277084"/>
          </a:xfrm>
          <a:prstGeom prst="rect">
            <a:avLst/>
          </a:prstGeom>
          <a:blipFill rotWithShape="1">
            <a:blip r:embed="rId7"/>
            <a:stretch>
              <a:fillRect t="-8197" r="-7407" b="-24590"/>
            </a:stretch>
          </a:blipFill>
        </p:spPr>
        <p:txBody>
          <a:bodyPr/>
          <a:lstStyle/>
          <a:p>
            <a:pPr>
              <a:defRPr/>
            </a:pPr>
            <a:r>
              <a:rPr lang="es-CL" sz="1050">
                <a:noFill/>
              </a:rPr>
              <a:t> </a:t>
            </a:r>
          </a:p>
        </p:txBody>
      </p:sp>
      <p:sp>
        <p:nvSpPr>
          <p:cNvPr id="30" name="29 Elipse">
            <a:extLst>
              <a:ext uri="{FF2B5EF4-FFF2-40B4-BE49-F238E27FC236}">
                <a16:creationId xmlns:a16="http://schemas.microsoft.com/office/drawing/2014/main" id="{48AF65A8-AA2D-4DF4-8110-E11F6296C3F0}"/>
              </a:ext>
            </a:extLst>
          </p:cNvPr>
          <p:cNvSpPr/>
          <p:nvPr/>
        </p:nvSpPr>
        <p:spPr>
          <a:xfrm>
            <a:off x="5381875" y="4300675"/>
            <a:ext cx="594306" cy="487116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s-CL" sz="1050" dirty="0">
                <a:solidFill>
                  <a:schemeClr val="tx1"/>
                </a:solidFill>
              </a:rPr>
              <a:t>Ca</a:t>
            </a:r>
            <a:r>
              <a:rPr lang="es-CL" sz="1050" baseline="30000" dirty="0">
                <a:solidFill>
                  <a:schemeClr val="tx1"/>
                </a:solidFill>
              </a:rPr>
              <a:t>2+</a:t>
            </a:r>
            <a:endParaRPr lang="es-CL" sz="1050" dirty="0">
              <a:solidFill>
                <a:schemeClr val="tx1"/>
              </a:solidFill>
            </a:endParaRPr>
          </a:p>
        </p:txBody>
      </p:sp>
      <p:sp>
        <p:nvSpPr>
          <p:cNvPr id="31" name="30 Elipse">
            <a:extLst>
              <a:ext uri="{FF2B5EF4-FFF2-40B4-BE49-F238E27FC236}">
                <a16:creationId xmlns:a16="http://schemas.microsoft.com/office/drawing/2014/main" id="{D4002D59-F2C7-4796-9525-8E1797816DEA}"/>
              </a:ext>
            </a:extLst>
          </p:cNvPr>
          <p:cNvSpPr/>
          <p:nvPr/>
        </p:nvSpPr>
        <p:spPr>
          <a:xfrm>
            <a:off x="6030966" y="4300675"/>
            <a:ext cx="594305" cy="487116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s-CL" sz="1050" dirty="0">
                <a:solidFill>
                  <a:schemeClr val="tx1"/>
                </a:solidFill>
              </a:rPr>
              <a:t>Cl</a:t>
            </a:r>
            <a:r>
              <a:rPr lang="es-CL" sz="1050" baseline="30000" dirty="0">
                <a:solidFill>
                  <a:schemeClr val="tx1"/>
                </a:solidFill>
              </a:rPr>
              <a:t>-</a:t>
            </a:r>
            <a:endParaRPr lang="es-CL" sz="1050" dirty="0">
              <a:solidFill>
                <a:schemeClr val="tx1"/>
              </a:solidFill>
            </a:endParaRPr>
          </a:p>
        </p:txBody>
      </p:sp>
      <p:sp>
        <p:nvSpPr>
          <p:cNvPr id="32" name="31 Rectángulo">
            <a:extLst>
              <a:ext uri="{FF2B5EF4-FFF2-40B4-BE49-F238E27FC236}">
                <a16:creationId xmlns:a16="http://schemas.microsoft.com/office/drawing/2014/main" id="{648FA043-5B6B-417A-A57A-3818A83AAE3D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06888" y="4733451"/>
            <a:ext cx="495721" cy="277084"/>
          </a:xfrm>
          <a:prstGeom prst="rect">
            <a:avLst/>
          </a:prstGeom>
          <a:blipFill rotWithShape="1">
            <a:blip r:embed="rId8"/>
            <a:stretch>
              <a:fillRect t="-8197" r="-7407" b="-24590"/>
            </a:stretch>
          </a:blipFill>
        </p:spPr>
        <p:txBody>
          <a:bodyPr/>
          <a:lstStyle/>
          <a:p>
            <a:pPr>
              <a:defRPr/>
            </a:pPr>
            <a:r>
              <a:rPr lang="es-CL" sz="1050">
                <a:noFill/>
              </a:rPr>
              <a:t> </a:t>
            </a:r>
          </a:p>
        </p:txBody>
      </p:sp>
      <p:sp>
        <p:nvSpPr>
          <p:cNvPr id="33" name="32 Elipse">
            <a:extLst>
              <a:ext uri="{FF2B5EF4-FFF2-40B4-BE49-F238E27FC236}">
                <a16:creationId xmlns:a16="http://schemas.microsoft.com/office/drawing/2014/main" id="{E9E55037-A56F-49FA-970E-28309C00E4CC}"/>
              </a:ext>
            </a:extLst>
          </p:cNvPr>
          <p:cNvSpPr/>
          <p:nvPr/>
        </p:nvSpPr>
        <p:spPr>
          <a:xfrm>
            <a:off x="6678866" y="4300675"/>
            <a:ext cx="594305" cy="487116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s-CL" sz="1050" dirty="0">
                <a:solidFill>
                  <a:schemeClr val="tx1"/>
                </a:solidFill>
              </a:rPr>
              <a:t>Cl</a:t>
            </a:r>
            <a:r>
              <a:rPr lang="es-CL" sz="1050" baseline="30000" dirty="0">
                <a:solidFill>
                  <a:schemeClr val="tx1"/>
                </a:solidFill>
              </a:rPr>
              <a:t>-</a:t>
            </a:r>
            <a:endParaRPr lang="es-CL" sz="1050" dirty="0">
              <a:solidFill>
                <a:schemeClr val="tx1"/>
              </a:solidFill>
            </a:endParaRPr>
          </a:p>
        </p:txBody>
      </p:sp>
      <p:cxnSp>
        <p:nvCxnSpPr>
          <p:cNvPr id="7" name="6 Conector angular">
            <a:extLst>
              <a:ext uri="{FF2B5EF4-FFF2-40B4-BE49-F238E27FC236}">
                <a16:creationId xmlns:a16="http://schemas.microsoft.com/office/drawing/2014/main" id="{36250A9D-30A3-4B0D-BDF6-24EAC3883DDB}"/>
              </a:ext>
            </a:extLst>
          </p:cNvPr>
          <p:cNvCxnSpPr>
            <a:stCxn id="3" idx="2"/>
            <a:endCxn id="4" idx="1"/>
          </p:cNvCxnSpPr>
          <p:nvPr/>
        </p:nvCxnSpPr>
        <p:spPr>
          <a:xfrm rot="10800000" flipV="1">
            <a:off x="1957772" y="4069622"/>
            <a:ext cx="159593" cy="302512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angular">
            <a:extLst>
              <a:ext uri="{FF2B5EF4-FFF2-40B4-BE49-F238E27FC236}">
                <a16:creationId xmlns:a16="http://schemas.microsoft.com/office/drawing/2014/main" id="{F5ACB91C-E9DD-4B36-8F8B-3304DF49BA35}"/>
              </a:ext>
            </a:extLst>
          </p:cNvPr>
          <p:cNvCxnSpPr>
            <a:stCxn id="3" idx="6"/>
            <a:endCxn id="22" idx="7"/>
          </p:cNvCxnSpPr>
          <p:nvPr/>
        </p:nvCxnSpPr>
        <p:spPr>
          <a:xfrm>
            <a:off x="2982025" y="4069622"/>
            <a:ext cx="152447" cy="302512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angular">
            <a:extLst>
              <a:ext uri="{FF2B5EF4-FFF2-40B4-BE49-F238E27FC236}">
                <a16:creationId xmlns:a16="http://schemas.microsoft.com/office/drawing/2014/main" id="{981FB2BC-ACA6-4678-A888-6AE31AB8F270}"/>
              </a:ext>
            </a:extLst>
          </p:cNvPr>
          <p:cNvCxnSpPr>
            <a:stCxn id="19" idx="2"/>
            <a:endCxn id="25" idx="1"/>
          </p:cNvCxnSpPr>
          <p:nvPr/>
        </p:nvCxnSpPr>
        <p:spPr>
          <a:xfrm rot="10800000" flipV="1">
            <a:off x="3740687" y="4058903"/>
            <a:ext cx="80987" cy="313231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angular">
            <a:extLst>
              <a:ext uri="{FF2B5EF4-FFF2-40B4-BE49-F238E27FC236}">
                <a16:creationId xmlns:a16="http://schemas.microsoft.com/office/drawing/2014/main" id="{24D35D95-27EB-42C2-9FA5-275B991C5A24}"/>
              </a:ext>
            </a:extLst>
          </p:cNvPr>
          <p:cNvCxnSpPr>
            <a:stCxn id="19" idx="6"/>
            <a:endCxn id="26" idx="7"/>
          </p:cNvCxnSpPr>
          <p:nvPr/>
        </p:nvCxnSpPr>
        <p:spPr>
          <a:xfrm>
            <a:off x="4842356" y="4058903"/>
            <a:ext cx="75032" cy="313231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angular">
            <a:extLst>
              <a:ext uri="{FF2B5EF4-FFF2-40B4-BE49-F238E27FC236}">
                <a16:creationId xmlns:a16="http://schemas.microsoft.com/office/drawing/2014/main" id="{CBBBE42E-7217-4AED-84B3-8F310388217B}"/>
              </a:ext>
            </a:extLst>
          </p:cNvPr>
          <p:cNvCxnSpPr>
            <a:stCxn id="20" idx="2"/>
            <a:endCxn id="30" idx="0"/>
          </p:cNvCxnSpPr>
          <p:nvPr/>
        </p:nvCxnSpPr>
        <p:spPr>
          <a:xfrm rot="10800000" flipV="1">
            <a:off x="5679623" y="4050567"/>
            <a:ext cx="197705" cy="250108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angular">
            <a:extLst>
              <a:ext uri="{FF2B5EF4-FFF2-40B4-BE49-F238E27FC236}">
                <a16:creationId xmlns:a16="http://schemas.microsoft.com/office/drawing/2014/main" id="{614B0E36-6BFA-4C3B-966F-C7E016069CCF}"/>
              </a:ext>
            </a:extLst>
          </p:cNvPr>
          <p:cNvCxnSpPr>
            <a:stCxn id="20" idx="6"/>
            <a:endCxn id="33" idx="0"/>
          </p:cNvCxnSpPr>
          <p:nvPr/>
        </p:nvCxnSpPr>
        <p:spPr>
          <a:xfrm>
            <a:off x="6787246" y="4050567"/>
            <a:ext cx="188177" cy="250108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7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4823" grpId="0"/>
      <p:bldP spid="3" grpId="0" animBg="1"/>
      <p:bldP spid="19" grpId="0" animBg="1"/>
      <p:bldP spid="20" grpId="0" animBg="1"/>
      <p:bldP spid="4" grpId="0" animBg="1"/>
      <p:bldP spid="22" grpId="0" animBg="1"/>
      <p:bldP spid="25" grpId="0" animBg="1"/>
      <p:bldP spid="26" grpId="0" animBg="1"/>
      <p:bldP spid="30" grpId="0" animBg="1"/>
      <p:bldP spid="31" grpId="0" animBg="1"/>
      <p:bldP spid="3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 y Síntesis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Resumen</a:t>
            </a:r>
            <a:r>
              <a:rPr dirty="0"/>
              <a:t>: </a:t>
            </a:r>
          </a:p>
          <a:p>
            <a:pPr marL="101600" indent="0">
              <a:buNone/>
            </a:pPr>
            <a:endParaRPr dirty="0"/>
          </a:p>
          <a:p>
            <a:pPr marL="558800" indent="-457200">
              <a:buFont typeface="+mj-lt"/>
              <a:buAutoNum type="arabicPeriod"/>
            </a:pPr>
            <a:r>
              <a:rPr dirty="0" err="1"/>
              <a:t>Dilución</a:t>
            </a:r>
            <a:r>
              <a:rPr dirty="0"/>
              <a:t> -&gt; </a:t>
            </a:r>
            <a:r>
              <a:rPr dirty="0" err="1"/>
              <a:t>Reducción</a:t>
            </a:r>
            <a:r>
              <a:rPr dirty="0"/>
              <a:t> de </a:t>
            </a:r>
            <a:r>
              <a:rPr dirty="0" err="1"/>
              <a:t>concentración</a:t>
            </a:r>
            <a:r>
              <a:rPr dirty="0"/>
              <a:t> (C₁V₁=C₂V₂).</a:t>
            </a:r>
          </a:p>
          <a:p>
            <a:pPr marL="558800" indent="-457200">
              <a:buFont typeface="+mj-lt"/>
              <a:buAutoNum type="arabicPeriod"/>
            </a:pPr>
            <a:r>
              <a:rPr dirty="0" err="1"/>
              <a:t>Propiedades</a:t>
            </a:r>
            <a:r>
              <a:rPr dirty="0"/>
              <a:t> Coligativas -&gt; </a:t>
            </a:r>
            <a:r>
              <a:rPr dirty="0" err="1"/>
              <a:t>Efectos</a:t>
            </a:r>
            <a:r>
              <a:rPr dirty="0"/>
              <a:t> </a:t>
            </a:r>
            <a:r>
              <a:rPr dirty="0" err="1"/>
              <a:t>físicos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presencia</a:t>
            </a:r>
            <a:r>
              <a:rPr dirty="0"/>
              <a:t> de </a:t>
            </a:r>
            <a:r>
              <a:rPr dirty="0" err="1"/>
              <a:t>soluto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Ticket de Salida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Ticket de Salida: Si diluyes una solución al doble de su volumen, ¿qué ocurre con su concentración? Justifica usando la fórmula C₁V₁ = C₂V₂.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4">
      <a:dk1>
        <a:srgbClr val="4D4D4D"/>
      </a:dk1>
      <a:lt1>
        <a:srgbClr val="FFFFFF"/>
      </a:lt1>
      <a:dk2>
        <a:srgbClr val="000000"/>
      </a:dk2>
      <a:lt2>
        <a:srgbClr val="9B6902"/>
      </a:lt2>
      <a:accent1>
        <a:srgbClr val="C75E00"/>
      </a:accent1>
      <a:accent2>
        <a:srgbClr val="FED416"/>
      </a:accent2>
      <a:accent3>
        <a:srgbClr val="FFFFFF"/>
      </a:accent3>
      <a:accent4>
        <a:srgbClr val="404040"/>
      </a:accent4>
      <a:accent5>
        <a:srgbClr val="E0B6AA"/>
      </a:accent5>
      <a:accent6>
        <a:srgbClr val="E6C013"/>
      </a:accent6>
      <a:hlink>
        <a:srgbClr val="EE6600"/>
      </a:hlink>
      <a:folHlink>
        <a:srgbClr val="EAEAE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2027</Words>
  <Application>Microsoft Office PowerPoint</Application>
  <PresentationFormat>Personalizado</PresentationFormat>
  <Paragraphs>248</Paragraphs>
  <Slides>28</Slides>
  <Notes>11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6" baseType="lpstr">
      <vt:lpstr>Georgia</vt:lpstr>
      <vt:lpstr>Cambria Math</vt:lpstr>
      <vt:lpstr>Arial</vt:lpstr>
      <vt:lpstr>Times New Roman</vt:lpstr>
      <vt:lpstr>Century Gothic</vt:lpstr>
      <vt:lpstr>template</vt:lpstr>
      <vt:lpstr>Custom Design</vt:lpstr>
      <vt:lpstr>Ecuación</vt:lpstr>
      <vt:lpstr>Presentación de PowerPoint</vt:lpstr>
      <vt:lpstr>        CURSO: 4° Medio                   ASIGNATURA: Química</vt:lpstr>
      <vt:lpstr>En esta sala…</vt:lpstr>
      <vt:lpstr>En esta sala…</vt:lpstr>
      <vt:lpstr>En esta sala…</vt:lpstr>
      <vt:lpstr>¡IMPORTANTE!</vt:lpstr>
      <vt:lpstr>Presentación de PowerPoint</vt:lpstr>
      <vt:lpstr>Presentación de PowerPoint</vt:lpstr>
      <vt:lpstr>CLASE N°: 32</vt:lpstr>
      <vt:lpstr>OBJETIVO  DE LA CLASE</vt:lpstr>
      <vt:lpstr>Inicio: Activación de Conocimientos</vt:lpstr>
      <vt:lpstr>Objetivo de la Clase</vt:lpstr>
      <vt:lpstr>Concepto 1: Dilución</vt:lpstr>
      <vt:lpstr>1. Dilución</vt:lpstr>
      <vt:lpstr>Presentación de PowerPoint</vt:lpstr>
      <vt:lpstr>Herramienta Matemática: C₁V₁ = C₂V₂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Cierre y Síntesis</vt:lpstr>
      <vt:lpstr>Ticket de Salida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Cleria</dc:creator>
  <cp:lastModifiedBy>Rolando E. Montero A.</cp:lastModifiedBy>
  <cp:revision>13</cp:revision>
  <dcterms:created xsi:type="dcterms:W3CDTF">2020-03-02T15:31:54Z</dcterms:created>
  <dcterms:modified xsi:type="dcterms:W3CDTF">2026-06-22T17:18:00Z</dcterms:modified>
</cp:coreProperties>
</file>